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300" y="-5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B4D3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B4D3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B4D3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rgbClr val="1B4D3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4F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8015" y="92138"/>
            <a:ext cx="10819447" cy="1027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rgbClr val="1B4D3D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90" y="1456689"/>
            <a:ext cx="11153140" cy="4662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B4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31837" y="1141475"/>
            <a:ext cx="2385060" cy="422275"/>
            <a:chOff x="731837" y="1141475"/>
            <a:chExt cx="2385060" cy="422275"/>
          </a:xfrm>
        </p:grpSpPr>
        <p:sp>
          <p:nvSpPr>
            <p:cNvPr id="4" name="object 4"/>
            <p:cNvSpPr/>
            <p:nvPr/>
          </p:nvSpPr>
          <p:spPr>
            <a:xfrm>
              <a:off x="738187" y="1147825"/>
              <a:ext cx="2372360" cy="409575"/>
            </a:xfrm>
            <a:custGeom>
              <a:avLst/>
              <a:gdLst/>
              <a:ahLst/>
              <a:cxnLst/>
              <a:rect l="l" t="t" r="r" b="b"/>
              <a:pathLst>
                <a:path w="2372360" h="409575">
                  <a:moveTo>
                    <a:pt x="2171509" y="0"/>
                  </a:moveTo>
                  <a:lnTo>
                    <a:pt x="200240" y="0"/>
                  </a:lnTo>
                  <a:lnTo>
                    <a:pt x="154326" y="5282"/>
                  </a:lnTo>
                  <a:lnTo>
                    <a:pt x="112179" y="20330"/>
                  </a:lnTo>
                  <a:lnTo>
                    <a:pt x="74999" y="43947"/>
                  </a:lnTo>
                  <a:lnTo>
                    <a:pt x="43990" y="74935"/>
                  </a:lnTo>
                  <a:lnTo>
                    <a:pt x="20352" y="112096"/>
                  </a:lnTo>
                  <a:lnTo>
                    <a:pt x="5288" y="154235"/>
                  </a:lnTo>
                  <a:lnTo>
                    <a:pt x="0" y="200151"/>
                  </a:lnTo>
                  <a:lnTo>
                    <a:pt x="0" y="209296"/>
                  </a:lnTo>
                  <a:lnTo>
                    <a:pt x="5288" y="255220"/>
                  </a:lnTo>
                  <a:lnTo>
                    <a:pt x="20352" y="297376"/>
                  </a:lnTo>
                  <a:lnTo>
                    <a:pt x="43990" y="334562"/>
                  </a:lnTo>
                  <a:lnTo>
                    <a:pt x="74999" y="365577"/>
                  </a:lnTo>
                  <a:lnTo>
                    <a:pt x="112179" y="389219"/>
                  </a:lnTo>
                  <a:lnTo>
                    <a:pt x="154326" y="404285"/>
                  </a:lnTo>
                  <a:lnTo>
                    <a:pt x="200240" y="409575"/>
                  </a:lnTo>
                  <a:lnTo>
                    <a:pt x="2171509" y="409575"/>
                  </a:lnTo>
                  <a:lnTo>
                    <a:pt x="2217433" y="404285"/>
                  </a:lnTo>
                  <a:lnTo>
                    <a:pt x="2259589" y="389219"/>
                  </a:lnTo>
                  <a:lnTo>
                    <a:pt x="2296776" y="365577"/>
                  </a:lnTo>
                  <a:lnTo>
                    <a:pt x="2327791" y="334562"/>
                  </a:lnTo>
                  <a:lnTo>
                    <a:pt x="2351432" y="297376"/>
                  </a:lnTo>
                  <a:lnTo>
                    <a:pt x="2366499" y="255220"/>
                  </a:lnTo>
                  <a:lnTo>
                    <a:pt x="2371788" y="209296"/>
                  </a:lnTo>
                  <a:lnTo>
                    <a:pt x="2371788" y="200151"/>
                  </a:lnTo>
                  <a:lnTo>
                    <a:pt x="2366499" y="154235"/>
                  </a:lnTo>
                  <a:lnTo>
                    <a:pt x="2351432" y="112096"/>
                  </a:lnTo>
                  <a:lnTo>
                    <a:pt x="2327791" y="74935"/>
                  </a:lnTo>
                  <a:lnTo>
                    <a:pt x="2296776" y="43947"/>
                  </a:lnTo>
                  <a:lnTo>
                    <a:pt x="2259589" y="20330"/>
                  </a:lnTo>
                  <a:lnTo>
                    <a:pt x="2217433" y="5282"/>
                  </a:lnTo>
                  <a:lnTo>
                    <a:pt x="2171509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38187" y="1147825"/>
              <a:ext cx="2372360" cy="409575"/>
            </a:xfrm>
            <a:custGeom>
              <a:avLst/>
              <a:gdLst/>
              <a:ahLst/>
              <a:cxnLst/>
              <a:rect l="l" t="t" r="r" b="b"/>
              <a:pathLst>
                <a:path w="2372360" h="409575">
                  <a:moveTo>
                    <a:pt x="0" y="200151"/>
                  </a:moveTo>
                  <a:lnTo>
                    <a:pt x="5288" y="154235"/>
                  </a:lnTo>
                  <a:lnTo>
                    <a:pt x="20352" y="112096"/>
                  </a:lnTo>
                  <a:lnTo>
                    <a:pt x="43990" y="74935"/>
                  </a:lnTo>
                  <a:lnTo>
                    <a:pt x="74999" y="43947"/>
                  </a:lnTo>
                  <a:lnTo>
                    <a:pt x="112179" y="20330"/>
                  </a:lnTo>
                  <a:lnTo>
                    <a:pt x="154326" y="5282"/>
                  </a:lnTo>
                  <a:lnTo>
                    <a:pt x="200240" y="0"/>
                  </a:lnTo>
                  <a:lnTo>
                    <a:pt x="2171509" y="0"/>
                  </a:lnTo>
                  <a:lnTo>
                    <a:pt x="2217433" y="5282"/>
                  </a:lnTo>
                  <a:lnTo>
                    <a:pt x="2259589" y="20330"/>
                  </a:lnTo>
                  <a:lnTo>
                    <a:pt x="2296776" y="43947"/>
                  </a:lnTo>
                  <a:lnTo>
                    <a:pt x="2327791" y="74935"/>
                  </a:lnTo>
                  <a:lnTo>
                    <a:pt x="2351432" y="112096"/>
                  </a:lnTo>
                  <a:lnTo>
                    <a:pt x="2366499" y="154235"/>
                  </a:lnTo>
                  <a:lnTo>
                    <a:pt x="2371788" y="200151"/>
                  </a:lnTo>
                  <a:lnTo>
                    <a:pt x="2371788" y="209296"/>
                  </a:lnTo>
                  <a:lnTo>
                    <a:pt x="2366499" y="255220"/>
                  </a:lnTo>
                  <a:lnTo>
                    <a:pt x="2351432" y="297376"/>
                  </a:lnTo>
                  <a:lnTo>
                    <a:pt x="2327791" y="334562"/>
                  </a:lnTo>
                  <a:lnTo>
                    <a:pt x="2296776" y="365577"/>
                  </a:lnTo>
                  <a:lnTo>
                    <a:pt x="2259589" y="389219"/>
                  </a:lnTo>
                  <a:lnTo>
                    <a:pt x="2217433" y="404285"/>
                  </a:lnTo>
                  <a:lnTo>
                    <a:pt x="2171509" y="409575"/>
                  </a:lnTo>
                  <a:lnTo>
                    <a:pt x="200240" y="409575"/>
                  </a:lnTo>
                  <a:lnTo>
                    <a:pt x="154326" y="404285"/>
                  </a:lnTo>
                  <a:lnTo>
                    <a:pt x="112179" y="389219"/>
                  </a:lnTo>
                  <a:lnTo>
                    <a:pt x="74999" y="365577"/>
                  </a:lnTo>
                  <a:lnTo>
                    <a:pt x="43990" y="334562"/>
                  </a:lnTo>
                  <a:lnTo>
                    <a:pt x="20352" y="297376"/>
                  </a:lnTo>
                  <a:lnTo>
                    <a:pt x="5288" y="255220"/>
                  </a:lnTo>
                  <a:lnTo>
                    <a:pt x="0" y="209296"/>
                  </a:lnTo>
                  <a:lnTo>
                    <a:pt x="0" y="200151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41387" y="1229042"/>
            <a:ext cx="1920239" cy="2203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H</a:t>
            </a:r>
            <a:r>
              <a:rPr sz="1250" b="1" spc="4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A</a:t>
            </a:r>
            <a:r>
              <a:rPr sz="1250" b="1" spc="8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C</a:t>
            </a:r>
            <a:r>
              <a:rPr sz="1250" b="1" spc="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K</a:t>
            </a:r>
            <a:r>
              <a:rPr sz="1250" b="1" spc="-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I</a:t>
            </a:r>
            <a:r>
              <a:rPr sz="1250" b="1" spc="6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N</a:t>
            </a:r>
            <a:r>
              <a:rPr sz="1250" b="1" spc="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S</a:t>
            </a:r>
            <a:r>
              <a:rPr sz="1250" b="1" spc="9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I</a:t>
            </a:r>
            <a:r>
              <a:rPr sz="1250" b="1" spc="-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G</a:t>
            </a:r>
            <a:r>
              <a:rPr sz="1250" b="1" spc="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H</a:t>
            </a:r>
            <a:r>
              <a:rPr sz="1250" b="1" spc="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T</a:t>
            </a:r>
            <a:r>
              <a:rPr sz="1250" b="1" spc="200" dirty="0">
                <a:solidFill>
                  <a:srgbClr val="B7E3C6"/>
                </a:solidFill>
                <a:latin typeface="Calibri"/>
                <a:cs typeface="Calibri"/>
              </a:rPr>
              <a:t> 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2</a:t>
            </a:r>
            <a:r>
              <a:rPr sz="1250" b="1" spc="5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0</a:t>
            </a:r>
            <a:r>
              <a:rPr sz="1250" b="1" spc="-2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B7E3C6"/>
                </a:solidFill>
                <a:latin typeface="Calibri"/>
                <a:cs typeface="Calibri"/>
              </a:rPr>
              <a:t>2</a:t>
            </a:r>
            <a:r>
              <a:rPr sz="1250" b="1" spc="5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50" b="1" spc="-50" dirty="0">
                <a:solidFill>
                  <a:srgbClr val="B7E3C6"/>
                </a:solidFill>
                <a:latin typeface="Calibri"/>
                <a:cs typeface="Calibri"/>
              </a:rPr>
              <a:t>6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872172" y="1809114"/>
            <a:ext cx="6482715" cy="12426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2545" marR="5080" indent="-29845">
              <a:lnSpc>
                <a:spcPct val="101400"/>
              </a:lnSpc>
              <a:spcBef>
                <a:spcPts val="60"/>
              </a:spcBef>
            </a:pPr>
            <a:r>
              <a:rPr sz="3950" spc="-10" dirty="0">
                <a:solidFill>
                  <a:srgbClr val="FFFFFF"/>
                </a:solidFill>
              </a:rPr>
              <a:t>Heatwave</a:t>
            </a:r>
            <a:r>
              <a:rPr sz="3950" spc="-30" dirty="0">
                <a:solidFill>
                  <a:srgbClr val="FFFFFF"/>
                </a:solidFill>
              </a:rPr>
              <a:t> </a:t>
            </a:r>
            <a:r>
              <a:rPr sz="3950" dirty="0">
                <a:solidFill>
                  <a:srgbClr val="FFFFFF"/>
                </a:solidFill>
              </a:rPr>
              <a:t>Risk</a:t>
            </a:r>
            <a:r>
              <a:rPr sz="3950" spc="-40" dirty="0">
                <a:solidFill>
                  <a:srgbClr val="FFFFFF"/>
                </a:solidFill>
              </a:rPr>
              <a:t> </a:t>
            </a:r>
            <a:r>
              <a:rPr sz="3950" dirty="0">
                <a:solidFill>
                  <a:srgbClr val="FFFFFF"/>
                </a:solidFill>
              </a:rPr>
              <a:t>Prediction</a:t>
            </a:r>
            <a:r>
              <a:rPr sz="3950" spc="-15" dirty="0">
                <a:solidFill>
                  <a:srgbClr val="FFFFFF"/>
                </a:solidFill>
              </a:rPr>
              <a:t> </a:t>
            </a:r>
            <a:r>
              <a:rPr sz="3950" spc="-50" dirty="0">
                <a:solidFill>
                  <a:srgbClr val="FFFFFF"/>
                </a:solidFill>
              </a:rPr>
              <a:t>&amp; </a:t>
            </a:r>
            <a:r>
              <a:rPr sz="3950" dirty="0">
                <a:solidFill>
                  <a:srgbClr val="FFFFFF"/>
                </a:solidFill>
              </a:rPr>
              <a:t>Climate</a:t>
            </a:r>
            <a:r>
              <a:rPr sz="3950" spc="20" dirty="0">
                <a:solidFill>
                  <a:srgbClr val="FFFFFF"/>
                </a:solidFill>
              </a:rPr>
              <a:t> </a:t>
            </a:r>
            <a:r>
              <a:rPr sz="3950" dirty="0">
                <a:solidFill>
                  <a:srgbClr val="FFFFFF"/>
                </a:solidFill>
              </a:rPr>
              <a:t>Intelligence</a:t>
            </a:r>
            <a:r>
              <a:rPr sz="3950" spc="30" dirty="0">
                <a:solidFill>
                  <a:srgbClr val="FFFFFF"/>
                </a:solidFill>
              </a:rPr>
              <a:t> </a:t>
            </a:r>
            <a:r>
              <a:rPr sz="3950" spc="-10" dirty="0">
                <a:solidFill>
                  <a:srgbClr val="FFFFFF"/>
                </a:solidFill>
              </a:rPr>
              <a:t>System</a:t>
            </a:r>
            <a:endParaRPr sz="3950"/>
          </a:p>
        </p:txBody>
      </p:sp>
      <p:sp>
        <p:nvSpPr>
          <p:cNvPr id="8" name="object 8"/>
          <p:cNvSpPr txBox="1"/>
          <p:nvPr/>
        </p:nvSpPr>
        <p:spPr>
          <a:xfrm>
            <a:off x="719455" y="4226242"/>
            <a:ext cx="4569460" cy="82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Aata</a:t>
            </a:r>
            <a:r>
              <a:rPr sz="2400" b="1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Jaata</a:t>
            </a:r>
            <a:r>
              <a:rPr sz="2400" b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koch</a:t>
            </a:r>
            <a:r>
              <a:rPr sz="2400" b="1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FFFFF"/>
                </a:solidFill>
                <a:latin typeface="Calibri"/>
                <a:cs typeface="Calibri"/>
              </a:rPr>
              <a:t>nhi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Data</a:t>
            </a:r>
            <a:r>
              <a:rPr sz="1550" spc="7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Science</a:t>
            </a:r>
            <a:r>
              <a:rPr sz="1550" spc="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&amp;</a:t>
            </a:r>
            <a:r>
              <a:rPr sz="1550" spc="6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AI</a:t>
            </a:r>
            <a:r>
              <a:rPr sz="1550" spc="6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Risk</a:t>
            </a:r>
            <a:r>
              <a:rPr sz="1550" spc="4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Intelligence</a:t>
            </a:r>
            <a:r>
              <a:rPr sz="1550" spc="114" dirty="0">
                <a:solidFill>
                  <a:srgbClr val="B7E3C6"/>
                </a:solidFill>
                <a:latin typeface="Calibri"/>
                <a:cs typeface="Calibri"/>
              </a:rPr>
              <a:t> 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|</a:t>
            </a:r>
            <a:r>
              <a:rPr sz="1550" spc="47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Hack</a:t>
            </a:r>
            <a:r>
              <a:rPr sz="1550" spc="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B7E3C6"/>
                </a:solidFill>
                <a:latin typeface="Calibri"/>
                <a:cs typeface="Calibri"/>
              </a:rPr>
              <a:t>Insight</a:t>
            </a:r>
            <a:r>
              <a:rPr sz="1550" spc="8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spc="-20" dirty="0">
                <a:solidFill>
                  <a:srgbClr val="B7E3C6"/>
                </a:solidFill>
                <a:latin typeface="Calibri"/>
                <a:cs typeface="Calibri"/>
              </a:rPr>
              <a:t>2026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951851" y="1189100"/>
            <a:ext cx="3851275" cy="3851275"/>
            <a:chOff x="7951851" y="1189100"/>
            <a:chExt cx="3851275" cy="38512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1851" y="1189100"/>
              <a:ext cx="3851275" cy="3851148"/>
            </a:xfrm>
            <a:prstGeom prst="rect">
              <a:avLst/>
            </a:prstGeom>
          </p:spPr>
        </p:pic>
        <p:pic>
          <p:nvPicPr>
            <p:cNvPr id="11" name="object 11" descr="Thermometer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24975" y="2562225"/>
              <a:ext cx="1095375" cy="10953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0941" rIns="0" bIns="0" rtlCol="0">
            <a:spAutoFit/>
          </a:bodyPr>
          <a:lstStyle/>
          <a:p>
            <a:pPr marL="3543935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60" dirty="0"/>
              <a:t> </a:t>
            </a:r>
            <a:r>
              <a:rPr spc="-10" dirty="0"/>
              <a:t>Statement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0862" y="1465325"/>
            <a:ext cx="5128260" cy="4670425"/>
            <a:chOff x="550862" y="1465325"/>
            <a:chExt cx="5128260" cy="4670425"/>
          </a:xfrm>
        </p:grpSpPr>
        <p:sp>
          <p:nvSpPr>
            <p:cNvPr id="5" name="object 5"/>
            <p:cNvSpPr/>
            <p:nvPr/>
          </p:nvSpPr>
          <p:spPr>
            <a:xfrm>
              <a:off x="557212" y="1471675"/>
              <a:ext cx="5115560" cy="4657725"/>
            </a:xfrm>
            <a:custGeom>
              <a:avLst/>
              <a:gdLst/>
              <a:ahLst/>
              <a:cxnLst/>
              <a:rect l="l" t="t" r="r" b="b"/>
              <a:pathLst>
                <a:path w="5115560" h="4657725">
                  <a:moveTo>
                    <a:pt x="5005387" y="0"/>
                  </a:moveTo>
                  <a:lnTo>
                    <a:pt x="109601" y="0"/>
                  </a:lnTo>
                  <a:lnTo>
                    <a:pt x="66940" y="8604"/>
                  </a:lnTo>
                  <a:lnTo>
                    <a:pt x="32102" y="32067"/>
                  </a:lnTo>
                  <a:lnTo>
                    <a:pt x="8613" y="66865"/>
                  </a:lnTo>
                  <a:lnTo>
                    <a:pt x="0" y="109474"/>
                  </a:lnTo>
                  <a:lnTo>
                    <a:pt x="0" y="4548060"/>
                  </a:lnTo>
                  <a:lnTo>
                    <a:pt x="8613" y="4590720"/>
                  </a:lnTo>
                  <a:lnTo>
                    <a:pt x="32102" y="4625559"/>
                  </a:lnTo>
                  <a:lnTo>
                    <a:pt x="66940" y="4649048"/>
                  </a:lnTo>
                  <a:lnTo>
                    <a:pt x="109601" y="4657661"/>
                  </a:lnTo>
                  <a:lnTo>
                    <a:pt x="5005387" y="4657661"/>
                  </a:lnTo>
                  <a:lnTo>
                    <a:pt x="5048015" y="4649048"/>
                  </a:lnTo>
                  <a:lnTo>
                    <a:pt x="5082857" y="4625559"/>
                  </a:lnTo>
                  <a:lnTo>
                    <a:pt x="5106364" y="4590720"/>
                  </a:lnTo>
                  <a:lnTo>
                    <a:pt x="5114988" y="4548060"/>
                  </a:lnTo>
                  <a:lnTo>
                    <a:pt x="5114988" y="109474"/>
                  </a:lnTo>
                  <a:lnTo>
                    <a:pt x="5106364" y="66865"/>
                  </a:lnTo>
                  <a:lnTo>
                    <a:pt x="5082857" y="32067"/>
                  </a:lnTo>
                  <a:lnTo>
                    <a:pt x="5048015" y="8604"/>
                  </a:lnTo>
                  <a:lnTo>
                    <a:pt x="5005387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1471675"/>
              <a:ext cx="5115560" cy="4657725"/>
            </a:xfrm>
            <a:custGeom>
              <a:avLst/>
              <a:gdLst/>
              <a:ahLst/>
              <a:cxnLst/>
              <a:rect l="l" t="t" r="r" b="b"/>
              <a:pathLst>
                <a:path w="5115560" h="4657725">
                  <a:moveTo>
                    <a:pt x="0" y="109474"/>
                  </a:moveTo>
                  <a:lnTo>
                    <a:pt x="8613" y="66865"/>
                  </a:lnTo>
                  <a:lnTo>
                    <a:pt x="32102" y="32067"/>
                  </a:lnTo>
                  <a:lnTo>
                    <a:pt x="66940" y="8604"/>
                  </a:lnTo>
                  <a:lnTo>
                    <a:pt x="109601" y="0"/>
                  </a:lnTo>
                  <a:lnTo>
                    <a:pt x="5005387" y="0"/>
                  </a:lnTo>
                  <a:lnTo>
                    <a:pt x="5048015" y="8604"/>
                  </a:lnTo>
                  <a:lnTo>
                    <a:pt x="5082857" y="32067"/>
                  </a:lnTo>
                  <a:lnTo>
                    <a:pt x="5106364" y="66865"/>
                  </a:lnTo>
                  <a:lnTo>
                    <a:pt x="5114988" y="109474"/>
                  </a:lnTo>
                  <a:lnTo>
                    <a:pt x="5114988" y="4548060"/>
                  </a:lnTo>
                  <a:lnTo>
                    <a:pt x="5106364" y="4590720"/>
                  </a:lnTo>
                  <a:lnTo>
                    <a:pt x="5082857" y="4625559"/>
                  </a:lnTo>
                  <a:lnTo>
                    <a:pt x="5048015" y="4649048"/>
                  </a:lnTo>
                  <a:lnTo>
                    <a:pt x="5005387" y="4657661"/>
                  </a:lnTo>
                  <a:lnTo>
                    <a:pt x="109601" y="4657661"/>
                  </a:lnTo>
                  <a:lnTo>
                    <a:pt x="66940" y="4649048"/>
                  </a:lnTo>
                  <a:lnTo>
                    <a:pt x="32102" y="4625559"/>
                  </a:lnTo>
                  <a:lnTo>
                    <a:pt x="8613" y="4590720"/>
                  </a:lnTo>
                  <a:lnTo>
                    <a:pt x="0" y="4548060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56614" y="1707832"/>
            <a:ext cx="14693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T</a:t>
            </a:r>
            <a:r>
              <a:rPr sz="1400" b="1" spc="-4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H</a:t>
            </a:r>
            <a:r>
              <a:rPr sz="1400" b="1" spc="-1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400" b="1" spc="130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P</a:t>
            </a:r>
            <a:r>
              <a:rPr sz="1400" b="1" spc="-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R</a:t>
            </a:r>
            <a:r>
              <a:rPr sz="1400" b="1" spc="1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O B</a:t>
            </a:r>
            <a:r>
              <a:rPr sz="1400" b="1" spc="-6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L</a:t>
            </a:r>
            <a:r>
              <a:rPr sz="1400" b="1" spc="-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400" b="1" spc="-3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40916C"/>
                </a:solidFill>
                <a:latin typeface="Calibri"/>
                <a:cs typeface="Calibri"/>
              </a:rPr>
              <a:t>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6614" y="2129472"/>
            <a:ext cx="4472940" cy="1238885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70"/>
              </a:spcBef>
            </a:pP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Extreme</a:t>
            </a:r>
            <a:r>
              <a:rPr sz="1550" spc="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heat</a:t>
            </a:r>
            <a:r>
              <a:rPr sz="1550" spc="9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events</a:t>
            </a:r>
            <a:r>
              <a:rPr sz="1550" spc="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pose</a:t>
            </a:r>
            <a:r>
              <a:rPr sz="1550" spc="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severe</a:t>
            </a:r>
            <a:r>
              <a:rPr sz="1550" spc="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threats</a:t>
            </a:r>
            <a:r>
              <a:rPr sz="1550" spc="1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1550" spc="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Calibri"/>
                <a:cs typeface="Calibri"/>
              </a:rPr>
              <a:t>public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health</a:t>
            </a:r>
            <a:r>
              <a:rPr sz="1550" spc="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sz="1550" spc="8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urban</a:t>
            </a:r>
            <a:r>
              <a:rPr sz="1550" spc="8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infrastructure</a:t>
            </a:r>
            <a:r>
              <a:rPr sz="1550" spc="1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sz="1550" spc="8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Pakistan.</a:t>
            </a:r>
            <a:r>
              <a:rPr sz="1550" spc="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Calibri"/>
                <a:cs typeface="Calibri"/>
              </a:rPr>
              <a:t>Standard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weather</a:t>
            </a:r>
            <a:r>
              <a:rPr sz="1550" spc="9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forecasts</a:t>
            </a:r>
            <a:r>
              <a:rPr sz="1550" spc="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only</a:t>
            </a:r>
            <a:r>
              <a:rPr sz="1550" spc="1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provide</a:t>
            </a:r>
            <a:r>
              <a:rPr sz="1550" spc="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point</a:t>
            </a:r>
            <a:r>
              <a:rPr sz="1550" spc="114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predictions</a:t>
            </a:r>
            <a:r>
              <a:rPr sz="1550" spc="9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Calibri"/>
                <a:cs typeface="Calibri"/>
              </a:rPr>
              <a:t>(e.g.,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“38°C”),</a:t>
            </a:r>
            <a:r>
              <a:rPr sz="1550" spc="114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failing</a:t>
            </a:r>
            <a:r>
              <a:rPr sz="1550" spc="1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1550" spc="1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quantify</a:t>
            </a:r>
            <a:r>
              <a:rPr sz="1550" spc="8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prediction</a:t>
            </a:r>
            <a:r>
              <a:rPr sz="1550" spc="1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1A1A1A"/>
                </a:solidFill>
                <a:latin typeface="Calibri"/>
                <a:cs typeface="Calibri"/>
              </a:rPr>
              <a:t>uncertainty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required</a:t>
            </a:r>
            <a:r>
              <a:rPr sz="1550" spc="1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for</a:t>
            </a:r>
            <a:r>
              <a:rPr sz="1550" spc="2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emergency</a:t>
            </a:r>
            <a:r>
              <a:rPr sz="1550" spc="1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health</a:t>
            </a:r>
            <a:r>
              <a:rPr sz="1550" spc="1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1A1A1A"/>
                </a:solidFill>
                <a:latin typeface="Calibri"/>
                <a:cs typeface="Calibri"/>
              </a:rPr>
              <a:t>decision-</a:t>
            </a:r>
            <a:r>
              <a:rPr sz="1550" spc="-10" dirty="0">
                <a:solidFill>
                  <a:srgbClr val="1A1A1A"/>
                </a:solidFill>
                <a:latin typeface="Calibri"/>
                <a:cs typeface="Calibri"/>
              </a:rPr>
              <a:t>making.</a:t>
            </a:r>
            <a:endParaRPr sz="15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42076" y="1465325"/>
            <a:ext cx="5680075" cy="1470025"/>
            <a:chOff x="5942076" y="1465325"/>
            <a:chExt cx="5680075" cy="1470025"/>
          </a:xfrm>
        </p:grpSpPr>
        <p:sp>
          <p:nvSpPr>
            <p:cNvPr id="27" name="object 27"/>
            <p:cNvSpPr/>
            <p:nvPr/>
          </p:nvSpPr>
          <p:spPr>
            <a:xfrm>
              <a:off x="5948426" y="1471675"/>
              <a:ext cx="5667375" cy="1457325"/>
            </a:xfrm>
            <a:custGeom>
              <a:avLst/>
              <a:gdLst/>
              <a:ahLst/>
              <a:cxnLst/>
              <a:rect l="l" t="t" r="r" b="b"/>
              <a:pathLst>
                <a:path w="5667375" h="1457325">
                  <a:moveTo>
                    <a:pt x="5558028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1347977"/>
                  </a:lnTo>
                  <a:lnTo>
                    <a:pt x="8582" y="1390513"/>
                  </a:lnTo>
                  <a:lnTo>
                    <a:pt x="31988" y="1425273"/>
                  </a:lnTo>
                  <a:lnTo>
                    <a:pt x="66704" y="1448722"/>
                  </a:lnTo>
                  <a:lnTo>
                    <a:pt x="109220" y="1457325"/>
                  </a:lnTo>
                  <a:lnTo>
                    <a:pt x="5558028" y="1457325"/>
                  </a:lnTo>
                  <a:lnTo>
                    <a:pt x="5600563" y="1448722"/>
                  </a:lnTo>
                  <a:lnTo>
                    <a:pt x="5635323" y="1425273"/>
                  </a:lnTo>
                  <a:lnTo>
                    <a:pt x="5658772" y="1390513"/>
                  </a:lnTo>
                  <a:lnTo>
                    <a:pt x="5667375" y="1347977"/>
                  </a:lnTo>
                  <a:lnTo>
                    <a:pt x="5667375" y="109220"/>
                  </a:lnTo>
                  <a:lnTo>
                    <a:pt x="5658772" y="66704"/>
                  </a:lnTo>
                  <a:lnTo>
                    <a:pt x="5635323" y="31988"/>
                  </a:lnTo>
                  <a:lnTo>
                    <a:pt x="5600563" y="8582"/>
                  </a:lnTo>
                  <a:lnTo>
                    <a:pt x="5558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948426" y="1471675"/>
              <a:ext cx="5667375" cy="1457325"/>
            </a:xfrm>
            <a:custGeom>
              <a:avLst/>
              <a:gdLst/>
              <a:ahLst/>
              <a:cxnLst/>
              <a:rect l="l" t="t" r="r" b="b"/>
              <a:pathLst>
                <a:path w="5667375" h="1457325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5558028" y="0"/>
                  </a:lnTo>
                  <a:lnTo>
                    <a:pt x="5600563" y="8582"/>
                  </a:lnTo>
                  <a:lnTo>
                    <a:pt x="5635323" y="31988"/>
                  </a:lnTo>
                  <a:lnTo>
                    <a:pt x="5658772" y="66704"/>
                  </a:lnTo>
                  <a:lnTo>
                    <a:pt x="5667375" y="109220"/>
                  </a:lnTo>
                  <a:lnTo>
                    <a:pt x="5667375" y="1347977"/>
                  </a:lnTo>
                  <a:lnTo>
                    <a:pt x="5658772" y="1390513"/>
                  </a:lnTo>
                  <a:lnTo>
                    <a:pt x="5635323" y="1425273"/>
                  </a:lnTo>
                  <a:lnTo>
                    <a:pt x="5600563" y="1448722"/>
                  </a:lnTo>
                  <a:lnTo>
                    <a:pt x="5558028" y="1457325"/>
                  </a:lnTo>
                  <a:lnTo>
                    <a:pt x="109220" y="1457325"/>
                  </a:lnTo>
                  <a:lnTo>
                    <a:pt x="66704" y="1448722"/>
                  </a:lnTo>
                  <a:lnTo>
                    <a:pt x="31988" y="1425273"/>
                  </a:lnTo>
                  <a:lnTo>
                    <a:pt x="8582" y="1390513"/>
                  </a:lnTo>
                  <a:lnTo>
                    <a:pt x="0" y="1347977"/>
                  </a:lnTo>
                  <a:lnTo>
                    <a:pt x="0" y="109220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77026" y="1881250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77026" y="1881250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Row icon 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4125" y="2038349"/>
              <a:ext cx="314325" cy="31432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987793" y="1482096"/>
            <a:ext cx="4218940" cy="10998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1.</a:t>
            </a:r>
            <a:r>
              <a:rPr sz="1550" b="1" spc="1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Who</a:t>
            </a:r>
            <a:r>
              <a:rPr sz="1550" b="1" spc="12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is</a:t>
            </a:r>
            <a:r>
              <a:rPr sz="1550" b="1" spc="3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B4D3D"/>
                </a:solidFill>
                <a:latin typeface="Calibri"/>
                <a:cs typeface="Calibri"/>
              </a:rPr>
              <a:t>affected?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00600"/>
              </a:lnSpc>
              <a:spcBef>
                <a:spcPts val="720"/>
              </a:spcBef>
            </a:pP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High-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risk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urban</a:t>
            </a:r>
            <a:r>
              <a:rPr sz="14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populations,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disaster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management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authorities,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healthcare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planners</a:t>
            </a:r>
            <a:r>
              <a:rPr sz="140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in</a:t>
            </a:r>
            <a:r>
              <a:rPr sz="140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climate-vulnerable Pakistani</a:t>
            </a:r>
            <a:r>
              <a:rPr sz="14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cities</a:t>
            </a:r>
            <a:r>
              <a:rPr sz="14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(Karachi,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Jacobabad,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Lahore,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Multan).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942076" y="3065526"/>
            <a:ext cx="5680075" cy="1470025"/>
            <a:chOff x="5942076" y="3065526"/>
            <a:chExt cx="5680075" cy="1470025"/>
          </a:xfrm>
        </p:grpSpPr>
        <p:sp>
          <p:nvSpPr>
            <p:cNvPr id="34" name="object 34"/>
            <p:cNvSpPr/>
            <p:nvPr/>
          </p:nvSpPr>
          <p:spPr>
            <a:xfrm>
              <a:off x="5948426" y="3071876"/>
              <a:ext cx="5667375" cy="1457325"/>
            </a:xfrm>
            <a:custGeom>
              <a:avLst/>
              <a:gdLst/>
              <a:ahLst/>
              <a:cxnLst/>
              <a:rect l="l" t="t" r="r" b="b"/>
              <a:pathLst>
                <a:path w="5667375" h="1457325">
                  <a:moveTo>
                    <a:pt x="5558028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1347978"/>
                  </a:lnTo>
                  <a:lnTo>
                    <a:pt x="8582" y="1390513"/>
                  </a:lnTo>
                  <a:lnTo>
                    <a:pt x="31988" y="1425273"/>
                  </a:lnTo>
                  <a:lnTo>
                    <a:pt x="66704" y="1448722"/>
                  </a:lnTo>
                  <a:lnTo>
                    <a:pt x="109220" y="1457325"/>
                  </a:lnTo>
                  <a:lnTo>
                    <a:pt x="5558028" y="1457325"/>
                  </a:lnTo>
                  <a:lnTo>
                    <a:pt x="5600563" y="1448722"/>
                  </a:lnTo>
                  <a:lnTo>
                    <a:pt x="5635323" y="1425273"/>
                  </a:lnTo>
                  <a:lnTo>
                    <a:pt x="5658772" y="1390513"/>
                  </a:lnTo>
                  <a:lnTo>
                    <a:pt x="5667375" y="1347978"/>
                  </a:lnTo>
                  <a:lnTo>
                    <a:pt x="5667375" y="109220"/>
                  </a:lnTo>
                  <a:lnTo>
                    <a:pt x="5658772" y="66704"/>
                  </a:lnTo>
                  <a:lnTo>
                    <a:pt x="5635323" y="31988"/>
                  </a:lnTo>
                  <a:lnTo>
                    <a:pt x="5600563" y="8582"/>
                  </a:lnTo>
                  <a:lnTo>
                    <a:pt x="5558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948426" y="3071876"/>
              <a:ext cx="5667375" cy="1457325"/>
            </a:xfrm>
            <a:custGeom>
              <a:avLst/>
              <a:gdLst/>
              <a:ahLst/>
              <a:cxnLst/>
              <a:rect l="l" t="t" r="r" b="b"/>
              <a:pathLst>
                <a:path w="5667375" h="1457325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5558028" y="0"/>
                  </a:lnTo>
                  <a:lnTo>
                    <a:pt x="5600563" y="8582"/>
                  </a:lnTo>
                  <a:lnTo>
                    <a:pt x="5635323" y="31988"/>
                  </a:lnTo>
                  <a:lnTo>
                    <a:pt x="5658772" y="66704"/>
                  </a:lnTo>
                  <a:lnTo>
                    <a:pt x="5667375" y="109220"/>
                  </a:lnTo>
                  <a:lnTo>
                    <a:pt x="5667375" y="1347978"/>
                  </a:lnTo>
                  <a:lnTo>
                    <a:pt x="5658772" y="1390513"/>
                  </a:lnTo>
                  <a:lnTo>
                    <a:pt x="5635323" y="1425273"/>
                  </a:lnTo>
                  <a:lnTo>
                    <a:pt x="5600563" y="1448722"/>
                  </a:lnTo>
                  <a:lnTo>
                    <a:pt x="5558028" y="1457325"/>
                  </a:lnTo>
                  <a:lnTo>
                    <a:pt x="109220" y="1457325"/>
                  </a:lnTo>
                  <a:lnTo>
                    <a:pt x="66704" y="1448722"/>
                  </a:lnTo>
                  <a:lnTo>
                    <a:pt x="31988" y="1425273"/>
                  </a:lnTo>
                  <a:lnTo>
                    <a:pt x="8582" y="1390513"/>
                  </a:lnTo>
                  <a:lnTo>
                    <a:pt x="0" y="1347978"/>
                  </a:lnTo>
                  <a:lnTo>
                    <a:pt x="0" y="109220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177026" y="34814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77026" y="34814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 descr="Row icon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34125" y="3638550"/>
              <a:ext cx="314325" cy="314325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6987793" y="3084314"/>
            <a:ext cx="4461510" cy="10998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2.</a:t>
            </a:r>
            <a:r>
              <a:rPr sz="1550" b="1" spc="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Why</a:t>
            </a:r>
            <a:r>
              <a:rPr sz="1550" b="1" spc="6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does</a:t>
            </a:r>
            <a:r>
              <a:rPr sz="1550" b="1" spc="11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it</a:t>
            </a:r>
            <a:r>
              <a:rPr sz="1550" b="1" spc="3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B4D3D"/>
                </a:solidFill>
                <a:latin typeface="Calibri"/>
                <a:cs typeface="Calibri"/>
              </a:rPr>
              <a:t>matter?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00600"/>
              </a:lnSpc>
              <a:spcBef>
                <a:spcPts val="720"/>
              </a:spcBef>
            </a:pP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Unpredictable</a:t>
            </a:r>
            <a:r>
              <a:rPr sz="14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heat</a:t>
            </a:r>
            <a:r>
              <a:rPr sz="14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spikes</a:t>
            </a:r>
            <a:r>
              <a:rPr sz="14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lead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heatstroke</a:t>
            </a:r>
            <a:r>
              <a:rPr sz="14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casualties,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power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grid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overload,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delayed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civic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response</a:t>
            </a:r>
            <a:r>
              <a:rPr sz="14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due</a:t>
            </a:r>
            <a:r>
              <a:rPr sz="14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sz="1400" spc="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lack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of</a:t>
            </a:r>
            <a:r>
              <a:rPr sz="140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calibrated</a:t>
            </a:r>
            <a:r>
              <a:rPr sz="1400" spc="-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risk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interval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bounds.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6614" y="4556505"/>
            <a:ext cx="2499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C</a:t>
            </a:r>
            <a:r>
              <a:rPr sz="1200" b="1" spc="-8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L</a:t>
            </a:r>
            <a:r>
              <a:rPr sz="1200" b="1" spc="-3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40916C"/>
                </a:solidFill>
                <a:latin typeface="Calibri"/>
                <a:cs typeface="Calibri"/>
              </a:rPr>
              <a:t>M</a:t>
            </a:r>
            <a:r>
              <a:rPr sz="1200" b="1" spc="-1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A</a:t>
            </a:r>
            <a:r>
              <a:rPr sz="1200" b="1" spc="-2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T</a:t>
            </a:r>
            <a:r>
              <a:rPr sz="1200" b="1" spc="-1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-4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-</a:t>
            </a:r>
            <a:r>
              <a:rPr sz="1200" b="1" spc="-8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V</a:t>
            </a:r>
            <a:r>
              <a:rPr sz="1200" b="1" spc="-8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U</a:t>
            </a:r>
            <a:r>
              <a:rPr sz="1200" b="1" spc="-8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L</a:t>
            </a:r>
            <a:r>
              <a:rPr sz="1200" b="1" spc="-3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-9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-3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70" dirty="0">
                <a:solidFill>
                  <a:srgbClr val="40916C"/>
                </a:solidFill>
                <a:latin typeface="Calibri"/>
                <a:cs typeface="Calibri"/>
              </a:rPr>
              <a:t>RA</a:t>
            </a:r>
            <a:r>
              <a:rPr sz="1200" b="1" spc="-2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B</a:t>
            </a:r>
            <a:r>
              <a:rPr sz="1200" b="1" spc="-1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L</a:t>
            </a:r>
            <a:r>
              <a:rPr sz="1200" b="1" spc="-3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42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C</a:t>
            </a:r>
            <a:r>
              <a:rPr sz="1200" b="1" spc="-8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T</a:t>
            </a:r>
            <a:r>
              <a:rPr sz="1200" b="1" spc="-12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40916C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-3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0916C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65187" y="4932426"/>
            <a:ext cx="2118360" cy="431800"/>
            <a:chOff x="865187" y="4932426"/>
            <a:chExt cx="2118360" cy="431800"/>
          </a:xfrm>
        </p:grpSpPr>
        <p:sp>
          <p:nvSpPr>
            <p:cNvPr id="11" name="object 11"/>
            <p:cNvSpPr/>
            <p:nvPr/>
          </p:nvSpPr>
          <p:spPr>
            <a:xfrm>
              <a:off x="871537" y="4938776"/>
              <a:ext cx="2105660" cy="419100"/>
            </a:xfrm>
            <a:custGeom>
              <a:avLst/>
              <a:gdLst/>
              <a:ahLst/>
              <a:cxnLst/>
              <a:rect l="l" t="t" r="r" b="b"/>
              <a:pathLst>
                <a:path w="2105660" h="419100">
                  <a:moveTo>
                    <a:pt x="1900110" y="0"/>
                  </a:moveTo>
                  <a:lnTo>
                    <a:pt x="204889" y="0"/>
                  </a:lnTo>
                  <a:lnTo>
                    <a:pt x="157909" y="5409"/>
                  </a:lnTo>
                  <a:lnTo>
                    <a:pt x="114784" y="20817"/>
                  </a:lnTo>
                  <a:lnTo>
                    <a:pt x="76741" y="44996"/>
                  </a:lnTo>
                  <a:lnTo>
                    <a:pt x="45011" y="76718"/>
                  </a:lnTo>
                  <a:lnTo>
                    <a:pt x="20825" y="114753"/>
                  </a:lnTo>
                  <a:lnTo>
                    <a:pt x="5411" y="157873"/>
                  </a:lnTo>
                  <a:lnTo>
                    <a:pt x="0" y="204850"/>
                  </a:lnTo>
                  <a:lnTo>
                    <a:pt x="0" y="214122"/>
                  </a:lnTo>
                  <a:lnTo>
                    <a:pt x="5411" y="261106"/>
                  </a:lnTo>
                  <a:lnTo>
                    <a:pt x="20825" y="304244"/>
                  </a:lnTo>
                  <a:lnTo>
                    <a:pt x="45011" y="342304"/>
                  </a:lnTo>
                  <a:lnTo>
                    <a:pt x="76741" y="374053"/>
                  </a:lnTo>
                  <a:lnTo>
                    <a:pt x="114784" y="398257"/>
                  </a:lnTo>
                  <a:lnTo>
                    <a:pt x="157909" y="413683"/>
                  </a:lnTo>
                  <a:lnTo>
                    <a:pt x="204889" y="419100"/>
                  </a:lnTo>
                  <a:lnTo>
                    <a:pt x="1900110" y="419100"/>
                  </a:lnTo>
                  <a:lnTo>
                    <a:pt x="1947094" y="413683"/>
                  </a:lnTo>
                  <a:lnTo>
                    <a:pt x="1990233" y="398257"/>
                  </a:lnTo>
                  <a:lnTo>
                    <a:pt x="2028293" y="374053"/>
                  </a:lnTo>
                  <a:lnTo>
                    <a:pt x="2060041" y="342304"/>
                  </a:lnTo>
                  <a:lnTo>
                    <a:pt x="2084245" y="304244"/>
                  </a:lnTo>
                  <a:lnTo>
                    <a:pt x="2099672" y="261106"/>
                  </a:lnTo>
                  <a:lnTo>
                    <a:pt x="2105088" y="214122"/>
                  </a:lnTo>
                  <a:lnTo>
                    <a:pt x="2105088" y="204850"/>
                  </a:lnTo>
                  <a:lnTo>
                    <a:pt x="2099672" y="157873"/>
                  </a:lnTo>
                  <a:lnTo>
                    <a:pt x="2084245" y="114753"/>
                  </a:lnTo>
                  <a:lnTo>
                    <a:pt x="2060041" y="76718"/>
                  </a:lnTo>
                  <a:lnTo>
                    <a:pt x="2028293" y="44996"/>
                  </a:lnTo>
                  <a:lnTo>
                    <a:pt x="1990233" y="20817"/>
                  </a:lnTo>
                  <a:lnTo>
                    <a:pt x="1947094" y="5409"/>
                  </a:lnTo>
                  <a:lnTo>
                    <a:pt x="190011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1537" y="4938776"/>
              <a:ext cx="2105660" cy="419100"/>
            </a:xfrm>
            <a:custGeom>
              <a:avLst/>
              <a:gdLst/>
              <a:ahLst/>
              <a:cxnLst/>
              <a:rect l="l" t="t" r="r" b="b"/>
              <a:pathLst>
                <a:path w="2105660" h="419100">
                  <a:moveTo>
                    <a:pt x="0" y="204850"/>
                  </a:moveTo>
                  <a:lnTo>
                    <a:pt x="5411" y="157873"/>
                  </a:lnTo>
                  <a:lnTo>
                    <a:pt x="20825" y="114753"/>
                  </a:lnTo>
                  <a:lnTo>
                    <a:pt x="45011" y="76718"/>
                  </a:lnTo>
                  <a:lnTo>
                    <a:pt x="76741" y="44996"/>
                  </a:lnTo>
                  <a:lnTo>
                    <a:pt x="114784" y="20817"/>
                  </a:lnTo>
                  <a:lnTo>
                    <a:pt x="157909" y="5409"/>
                  </a:lnTo>
                  <a:lnTo>
                    <a:pt x="204889" y="0"/>
                  </a:lnTo>
                  <a:lnTo>
                    <a:pt x="1900110" y="0"/>
                  </a:lnTo>
                  <a:lnTo>
                    <a:pt x="1947094" y="5409"/>
                  </a:lnTo>
                  <a:lnTo>
                    <a:pt x="1990233" y="20817"/>
                  </a:lnTo>
                  <a:lnTo>
                    <a:pt x="2028293" y="44996"/>
                  </a:lnTo>
                  <a:lnTo>
                    <a:pt x="2060041" y="76718"/>
                  </a:lnTo>
                  <a:lnTo>
                    <a:pt x="2084245" y="114753"/>
                  </a:lnTo>
                  <a:lnTo>
                    <a:pt x="2099672" y="157873"/>
                  </a:lnTo>
                  <a:lnTo>
                    <a:pt x="2105088" y="204850"/>
                  </a:lnTo>
                  <a:lnTo>
                    <a:pt x="2105088" y="214122"/>
                  </a:lnTo>
                  <a:lnTo>
                    <a:pt x="2099672" y="261106"/>
                  </a:lnTo>
                  <a:lnTo>
                    <a:pt x="2084245" y="304244"/>
                  </a:lnTo>
                  <a:lnTo>
                    <a:pt x="2060041" y="342304"/>
                  </a:lnTo>
                  <a:lnTo>
                    <a:pt x="2028293" y="374053"/>
                  </a:lnTo>
                  <a:lnTo>
                    <a:pt x="1990233" y="398257"/>
                  </a:lnTo>
                  <a:lnTo>
                    <a:pt x="1947094" y="413683"/>
                  </a:lnTo>
                  <a:lnTo>
                    <a:pt x="1900110" y="419100"/>
                  </a:lnTo>
                  <a:lnTo>
                    <a:pt x="204889" y="419100"/>
                  </a:lnTo>
                  <a:lnTo>
                    <a:pt x="157909" y="413683"/>
                  </a:lnTo>
                  <a:lnTo>
                    <a:pt x="114784" y="398257"/>
                  </a:lnTo>
                  <a:lnTo>
                    <a:pt x="76741" y="374053"/>
                  </a:lnTo>
                  <a:lnTo>
                    <a:pt x="45011" y="342304"/>
                  </a:lnTo>
                  <a:lnTo>
                    <a:pt x="20825" y="304244"/>
                  </a:lnTo>
                  <a:lnTo>
                    <a:pt x="5411" y="261106"/>
                  </a:lnTo>
                  <a:lnTo>
                    <a:pt x="0" y="214122"/>
                  </a:lnTo>
                  <a:lnTo>
                    <a:pt x="0" y="204850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37410" y="5012308"/>
            <a:ext cx="56515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Karachi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151251" y="4932426"/>
            <a:ext cx="2117725" cy="431800"/>
            <a:chOff x="3151251" y="4932426"/>
            <a:chExt cx="2117725" cy="431800"/>
          </a:xfrm>
        </p:grpSpPr>
        <p:sp>
          <p:nvSpPr>
            <p:cNvPr id="15" name="object 15"/>
            <p:cNvSpPr/>
            <p:nvPr/>
          </p:nvSpPr>
          <p:spPr>
            <a:xfrm>
              <a:off x="3157601" y="4938776"/>
              <a:ext cx="2105025" cy="419100"/>
            </a:xfrm>
            <a:custGeom>
              <a:avLst/>
              <a:gdLst/>
              <a:ahLst/>
              <a:cxnLst/>
              <a:rect l="l" t="t" r="r" b="b"/>
              <a:pathLst>
                <a:path w="2105025" h="419100">
                  <a:moveTo>
                    <a:pt x="1900047" y="0"/>
                  </a:moveTo>
                  <a:lnTo>
                    <a:pt x="204850" y="0"/>
                  </a:lnTo>
                  <a:lnTo>
                    <a:pt x="157873" y="5409"/>
                  </a:lnTo>
                  <a:lnTo>
                    <a:pt x="114753" y="20817"/>
                  </a:lnTo>
                  <a:lnTo>
                    <a:pt x="76718" y="44996"/>
                  </a:lnTo>
                  <a:lnTo>
                    <a:pt x="44996" y="76718"/>
                  </a:lnTo>
                  <a:lnTo>
                    <a:pt x="20817" y="114753"/>
                  </a:lnTo>
                  <a:lnTo>
                    <a:pt x="5409" y="157873"/>
                  </a:lnTo>
                  <a:lnTo>
                    <a:pt x="0" y="204850"/>
                  </a:lnTo>
                  <a:lnTo>
                    <a:pt x="0" y="214122"/>
                  </a:lnTo>
                  <a:lnTo>
                    <a:pt x="5409" y="261106"/>
                  </a:lnTo>
                  <a:lnTo>
                    <a:pt x="20817" y="304244"/>
                  </a:lnTo>
                  <a:lnTo>
                    <a:pt x="44996" y="342304"/>
                  </a:lnTo>
                  <a:lnTo>
                    <a:pt x="76718" y="374053"/>
                  </a:lnTo>
                  <a:lnTo>
                    <a:pt x="114753" y="398257"/>
                  </a:lnTo>
                  <a:lnTo>
                    <a:pt x="157873" y="413683"/>
                  </a:lnTo>
                  <a:lnTo>
                    <a:pt x="204850" y="419100"/>
                  </a:lnTo>
                  <a:lnTo>
                    <a:pt x="1900047" y="419100"/>
                  </a:lnTo>
                  <a:lnTo>
                    <a:pt x="1947031" y="413683"/>
                  </a:lnTo>
                  <a:lnTo>
                    <a:pt x="1990169" y="398257"/>
                  </a:lnTo>
                  <a:lnTo>
                    <a:pt x="2028229" y="374053"/>
                  </a:lnTo>
                  <a:lnTo>
                    <a:pt x="2059978" y="342304"/>
                  </a:lnTo>
                  <a:lnTo>
                    <a:pt x="2084182" y="304244"/>
                  </a:lnTo>
                  <a:lnTo>
                    <a:pt x="2099608" y="261106"/>
                  </a:lnTo>
                  <a:lnTo>
                    <a:pt x="2105025" y="214122"/>
                  </a:lnTo>
                  <a:lnTo>
                    <a:pt x="2105025" y="204850"/>
                  </a:lnTo>
                  <a:lnTo>
                    <a:pt x="2099608" y="157873"/>
                  </a:lnTo>
                  <a:lnTo>
                    <a:pt x="2084182" y="114753"/>
                  </a:lnTo>
                  <a:lnTo>
                    <a:pt x="2059978" y="76718"/>
                  </a:lnTo>
                  <a:lnTo>
                    <a:pt x="2028229" y="44996"/>
                  </a:lnTo>
                  <a:lnTo>
                    <a:pt x="1990169" y="20817"/>
                  </a:lnTo>
                  <a:lnTo>
                    <a:pt x="1947031" y="5409"/>
                  </a:lnTo>
                  <a:lnTo>
                    <a:pt x="1900047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57601" y="4938776"/>
              <a:ext cx="2105025" cy="419100"/>
            </a:xfrm>
            <a:custGeom>
              <a:avLst/>
              <a:gdLst/>
              <a:ahLst/>
              <a:cxnLst/>
              <a:rect l="l" t="t" r="r" b="b"/>
              <a:pathLst>
                <a:path w="2105025" h="419100">
                  <a:moveTo>
                    <a:pt x="0" y="204850"/>
                  </a:moveTo>
                  <a:lnTo>
                    <a:pt x="5409" y="157873"/>
                  </a:lnTo>
                  <a:lnTo>
                    <a:pt x="20817" y="114753"/>
                  </a:lnTo>
                  <a:lnTo>
                    <a:pt x="44996" y="76718"/>
                  </a:lnTo>
                  <a:lnTo>
                    <a:pt x="76718" y="44996"/>
                  </a:lnTo>
                  <a:lnTo>
                    <a:pt x="114753" y="20817"/>
                  </a:lnTo>
                  <a:lnTo>
                    <a:pt x="157873" y="5409"/>
                  </a:lnTo>
                  <a:lnTo>
                    <a:pt x="204850" y="0"/>
                  </a:lnTo>
                  <a:lnTo>
                    <a:pt x="1900047" y="0"/>
                  </a:lnTo>
                  <a:lnTo>
                    <a:pt x="1947031" y="5409"/>
                  </a:lnTo>
                  <a:lnTo>
                    <a:pt x="1990169" y="20817"/>
                  </a:lnTo>
                  <a:lnTo>
                    <a:pt x="2028229" y="44996"/>
                  </a:lnTo>
                  <a:lnTo>
                    <a:pt x="2059978" y="76718"/>
                  </a:lnTo>
                  <a:lnTo>
                    <a:pt x="2084182" y="114753"/>
                  </a:lnTo>
                  <a:lnTo>
                    <a:pt x="2099608" y="157873"/>
                  </a:lnTo>
                  <a:lnTo>
                    <a:pt x="2105025" y="204850"/>
                  </a:lnTo>
                  <a:lnTo>
                    <a:pt x="2105025" y="214122"/>
                  </a:lnTo>
                  <a:lnTo>
                    <a:pt x="2099608" y="261106"/>
                  </a:lnTo>
                  <a:lnTo>
                    <a:pt x="2084182" y="304244"/>
                  </a:lnTo>
                  <a:lnTo>
                    <a:pt x="2059978" y="342304"/>
                  </a:lnTo>
                  <a:lnTo>
                    <a:pt x="2028229" y="374053"/>
                  </a:lnTo>
                  <a:lnTo>
                    <a:pt x="1990169" y="398257"/>
                  </a:lnTo>
                  <a:lnTo>
                    <a:pt x="1947031" y="413683"/>
                  </a:lnTo>
                  <a:lnTo>
                    <a:pt x="1900047" y="419100"/>
                  </a:lnTo>
                  <a:lnTo>
                    <a:pt x="204850" y="419100"/>
                  </a:lnTo>
                  <a:lnTo>
                    <a:pt x="157873" y="413683"/>
                  </a:lnTo>
                  <a:lnTo>
                    <a:pt x="114753" y="398257"/>
                  </a:lnTo>
                  <a:lnTo>
                    <a:pt x="76718" y="374053"/>
                  </a:lnTo>
                  <a:lnTo>
                    <a:pt x="44996" y="342304"/>
                  </a:lnTo>
                  <a:lnTo>
                    <a:pt x="20817" y="304244"/>
                  </a:lnTo>
                  <a:lnTo>
                    <a:pt x="5409" y="261106"/>
                  </a:lnTo>
                  <a:lnTo>
                    <a:pt x="0" y="214122"/>
                  </a:lnTo>
                  <a:lnTo>
                    <a:pt x="0" y="204850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808729" y="5012308"/>
            <a:ext cx="79883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Jacobabad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65187" y="5484876"/>
            <a:ext cx="2118360" cy="422275"/>
            <a:chOff x="865187" y="5484876"/>
            <a:chExt cx="2118360" cy="422275"/>
          </a:xfrm>
        </p:grpSpPr>
        <p:sp>
          <p:nvSpPr>
            <p:cNvPr id="19" name="object 19"/>
            <p:cNvSpPr/>
            <p:nvPr/>
          </p:nvSpPr>
          <p:spPr>
            <a:xfrm>
              <a:off x="871537" y="5491226"/>
              <a:ext cx="2105660" cy="409575"/>
            </a:xfrm>
            <a:custGeom>
              <a:avLst/>
              <a:gdLst/>
              <a:ahLst/>
              <a:cxnLst/>
              <a:rect l="l" t="t" r="r" b="b"/>
              <a:pathLst>
                <a:path w="2105660" h="409575">
                  <a:moveTo>
                    <a:pt x="1904809" y="0"/>
                  </a:moveTo>
                  <a:lnTo>
                    <a:pt x="200240" y="0"/>
                  </a:lnTo>
                  <a:lnTo>
                    <a:pt x="154326" y="5282"/>
                  </a:lnTo>
                  <a:lnTo>
                    <a:pt x="112179" y="20330"/>
                  </a:lnTo>
                  <a:lnTo>
                    <a:pt x="74999" y="43949"/>
                  </a:lnTo>
                  <a:lnTo>
                    <a:pt x="43990" y="74939"/>
                  </a:lnTo>
                  <a:lnTo>
                    <a:pt x="20352" y="112106"/>
                  </a:lnTo>
                  <a:lnTo>
                    <a:pt x="5288" y="154251"/>
                  </a:lnTo>
                  <a:lnTo>
                    <a:pt x="0" y="200177"/>
                  </a:lnTo>
                  <a:lnTo>
                    <a:pt x="0" y="209270"/>
                  </a:lnTo>
                  <a:lnTo>
                    <a:pt x="5288" y="255184"/>
                  </a:lnTo>
                  <a:lnTo>
                    <a:pt x="20352" y="297332"/>
                  </a:lnTo>
                  <a:lnTo>
                    <a:pt x="43990" y="334511"/>
                  </a:lnTo>
                  <a:lnTo>
                    <a:pt x="74999" y="365521"/>
                  </a:lnTo>
                  <a:lnTo>
                    <a:pt x="112179" y="389159"/>
                  </a:lnTo>
                  <a:lnTo>
                    <a:pt x="154326" y="404223"/>
                  </a:lnTo>
                  <a:lnTo>
                    <a:pt x="200240" y="409511"/>
                  </a:lnTo>
                  <a:lnTo>
                    <a:pt x="1904809" y="409511"/>
                  </a:lnTo>
                  <a:lnTo>
                    <a:pt x="1950733" y="404223"/>
                  </a:lnTo>
                  <a:lnTo>
                    <a:pt x="1992889" y="389159"/>
                  </a:lnTo>
                  <a:lnTo>
                    <a:pt x="2030076" y="365521"/>
                  </a:lnTo>
                  <a:lnTo>
                    <a:pt x="2061091" y="334511"/>
                  </a:lnTo>
                  <a:lnTo>
                    <a:pt x="2084732" y="297332"/>
                  </a:lnTo>
                  <a:lnTo>
                    <a:pt x="2099799" y="255184"/>
                  </a:lnTo>
                  <a:lnTo>
                    <a:pt x="2105088" y="209270"/>
                  </a:lnTo>
                  <a:lnTo>
                    <a:pt x="2105088" y="200177"/>
                  </a:lnTo>
                  <a:lnTo>
                    <a:pt x="2099799" y="154251"/>
                  </a:lnTo>
                  <a:lnTo>
                    <a:pt x="2084732" y="112106"/>
                  </a:lnTo>
                  <a:lnTo>
                    <a:pt x="2061091" y="74939"/>
                  </a:lnTo>
                  <a:lnTo>
                    <a:pt x="2030076" y="43949"/>
                  </a:lnTo>
                  <a:lnTo>
                    <a:pt x="1992889" y="20330"/>
                  </a:lnTo>
                  <a:lnTo>
                    <a:pt x="1950733" y="5282"/>
                  </a:lnTo>
                  <a:lnTo>
                    <a:pt x="1904809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1537" y="5491226"/>
              <a:ext cx="2105660" cy="409575"/>
            </a:xfrm>
            <a:custGeom>
              <a:avLst/>
              <a:gdLst/>
              <a:ahLst/>
              <a:cxnLst/>
              <a:rect l="l" t="t" r="r" b="b"/>
              <a:pathLst>
                <a:path w="2105660" h="409575">
                  <a:moveTo>
                    <a:pt x="0" y="200177"/>
                  </a:moveTo>
                  <a:lnTo>
                    <a:pt x="5288" y="154251"/>
                  </a:lnTo>
                  <a:lnTo>
                    <a:pt x="20352" y="112106"/>
                  </a:lnTo>
                  <a:lnTo>
                    <a:pt x="43990" y="74939"/>
                  </a:lnTo>
                  <a:lnTo>
                    <a:pt x="74999" y="43949"/>
                  </a:lnTo>
                  <a:lnTo>
                    <a:pt x="112179" y="20330"/>
                  </a:lnTo>
                  <a:lnTo>
                    <a:pt x="154326" y="5282"/>
                  </a:lnTo>
                  <a:lnTo>
                    <a:pt x="200240" y="0"/>
                  </a:lnTo>
                  <a:lnTo>
                    <a:pt x="1904809" y="0"/>
                  </a:lnTo>
                  <a:lnTo>
                    <a:pt x="1950733" y="5282"/>
                  </a:lnTo>
                  <a:lnTo>
                    <a:pt x="1992889" y="20330"/>
                  </a:lnTo>
                  <a:lnTo>
                    <a:pt x="2030076" y="43949"/>
                  </a:lnTo>
                  <a:lnTo>
                    <a:pt x="2061091" y="74939"/>
                  </a:lnTo>
                  <a:lnTo>
                    <a:pt x="2084732" y="112106"/>
                  </a:lnTo>
                  <a:lnTo>
                    <a:pt x="2099799" y="154251"/>
                  </a:lnTo>
                  <a:lnTo>
                    <a:pt x="2105088" y="200177"/>
                  </a:lnTo>
                  <a:lnTo>
                    <a:pt x="2105088" y="209270"/>
                  </a:lnTo>
                  <a:lnTo>
                    <a:pt x="2099799" y="255184"/>
                  </a:lnTo>
                  <a:lnTo>
                    <a:pt x="2084732" y="297332"/>
                  </a:lnTo>
                  <a:lnTo>
                    <a:pt x="2061091" y="334511"/>
                  </a:lnTo>
                  <a:lnTo>
                    <a:pt x="2030076" y="365521"/>
                  </a:lnTo>
                  <a:lnTo>
                    <a:pt x="1992889" y="389159"/>
                  </a:lnTo>
                  <a:lnTo>
                    <a:pt x="1950733" y="404223"/>
                  </a:lnTo>
                  <a:lnTo>
                    <a:pt x="1904809" y="409511"/>
                  </a:lnTo>
                  <a:lnTo>
                    <a:pt x="200240" y="409511"/>
                  </a:lnTo>
                  <a:lnTo>
                    <a:pt x="154326" y="404223"/>
                  </a:lnTo>
                  <a:lnTo>
                    <a:pt x="112179" y="389159"/>
                  </a:lnTo>
                  <a:lnTo>
                    <a:pt x="74999" y="365521"/>
                  </a:lnTo>
                  <a:lnTo>
                    <a:pt x="43990" y="334511"/>
                  </a:lnTo>
                  <a:lnTo>
                    <a:pt x="20352" y="297332"/>
                  </a:lnTo>
                  <a:lnTo>
                    <a:pt x="5288" y="255184"/>
                  </a:lnTo>
                  <a:lnTo>
                    <a:pt x="0" y="209270"/>
                  </a:lnTo>
                  <a:lnTo>
                    <a:pt x="0" y="200177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657350" y="5561329"/>
            <a:ext cx="52641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Lahore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151251" y="5484876"/>
            <a:ext cx="2117725" cy="422275"/>
            <a:chOff x="3151251" y="5484876"/>
            <a:chExt cx="2117725" cy="422275"/>
          </a:xfrm>
        </p:grpSpPr>
        <p:sp>
          <p:nvSpPr>
            <p:cNvPr id="23" name="object 23"/>
            <p:cNvSpPr/>
            <p:nvPr/>
          </p:nvSpPr>
          <p:spPr>
            <a:xfrm>
              <a:off x="3157601" y="5491226"/>
              <a:ext cx="2105025" cy="409575"/>
            </a:xfrm>
            <a:custGeom>
              <a:avLst/>
              <a:gdLst/>
              <a:ahLst/>
              <a:cxnLst/>
              <a:rect l="l" t="t" r="r" b="b"/>
              <a:pathLst>
                <a:path w="2105025" h="409575">
                  <a:moveTo>
                    <a:pt x="1904746" y="0"/>
                  </a:moveTo>
                  <a:lnTo>
                    <a:pt x="200151" y="0"/>
                  </a:lnTo>
                  <a:lnTo>
                    <a:pt x="154235" y="5282"/>
                  </a:lnTo>
                  <a:lnTo>
                    <a:pt x="112096" y="20330"/>
                  </a:lnTo>
                  <a:lnTo>
                    <a:pt x="74935" y="43949"/>
                  </a:lnTo>
                  <a:lnTo>
                    <a:pt x="43947" y="74939"/>
                  </a:lnTo>
                  <a:lnTo>
                    <a:pt x="20330" y="112106"/>
                  </a:lnTo>
                  <a:lnTo>
                    <a:pt x="5282" y="154251"/>
                  </a:lnTo>
                  <a:lnTo>
                    <a:pt x="0" y="200177"/>
                  </a:lnTo>
                  <a:lnTo>
                    <a:pt x="0" y="209270"/>
                  </a:lnTo>
                  <a:lnTo>
                    <a:pt x="5282" y="255184"/>
                  </a:lnTo>
                  <a:lnTo>
                    <a:pt x="20330" y="297332"/>
                  </a:lnTo>
                  <a:lnTo>
                    <a:pt x="43947" y="334511"/>
                  </a:lnTo>
                  <a:lnTo>
                    <a:pt x="74935" y="365521"/>
                  </a:lnTo>
                  <a:lnTo>
                    <a:pt x="112096" y="389159"/>
                  </a:lnTo>
                  <a:lnTo>
                    <a:pt x="154235" y="404223"/>
                  </a:lnTo>
                  <a:lnTo>
                    <a:pt x="200151" y="409511"/>
                  </a:lnTo>
                  <a:lnTo>
                    <a:pt x="1904746" y="409511"/>
                  </a:lnTo>
                  <a:lnTo>
                    <a:pt x="1950670" y="404223"/>
                  </a:lnTo>
                  <a:lnTo>
                    <a:pt x="1992826" y="389159"/>
                  </a:lnTo>
                  <a:lnTo>
                    <a:pt x="2030012" y="365521"/>
                  </a:lnTo>
                  <a:lnTo>
                    <a:pt x="2061027" y="334511"/>
                  </a:lnTo>
                  <a:lnTo>
                    <a:pt x="2084669" y="297332"/>
                  </a:lnTo>
                  <a:lnTo>
                    <a:pt x="2099735" y="255184"/>
                  </a:lnTo>
                  <a:lnTo>
                    <a:pt x="2105025" y="209270"/>
                  </a:lnTo>
                  <a:lnTo>
                    <a:pt x="2105025" y="200177"/>
                  </a:lnTo>
                  <a:lnTo>
                    <a:pt x="2099735" y="154251"/>
                  </a:lnTo>
                  <a:lnTo>
                    <a:pt x="2084669" y="112106"/>
                  </a:lnTo>
                  <a:lnTo>
                    <a:pt x="2061027" y="74939"/>
                  </a:lnTo>
                  <a:lnTo>
                    <a:pt x="2030012" y="43949"/>
                  </a:lnTo>
                  <a:lnTo>
                    <a:pt x="1992826" y="20330"/>
                  </a:lnTo>
                  <a:lnTo>
                    <a:pt x="1950670" y="5282"/>
                  </a:lnTo>
                  <a:lnTo>
                    <a:pt x="1904746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157601" y="5491226"/>
              <a:ext cx="2105025" cy="409575"/>
            </a:xfrm>
            <a:custGeom>
              <a:avLst/>
              <a:gdLst/>
              <a:ahLst/>
              <a:cxnLst/>
              <a:rect l="l" t="t" r="r" b="b"/>
              <a:pathLst>
                <a:path w="2105025" h="409575">
                  <a:moveTo>
                    <a:pt x="0" y="200177"/>
                  </a:moveTo>
                  <a:lnTo>
                    <a:pt x="5282" y="154251"/>
                  </a:lnTo>
                  <a:lnTo>
                    <a:pt x="20330" y="112106"/>
                  </a:lnTo>
                  <a:lnTo>
                    <a:pt x="43947" y="74939"/>
                  </a:lnTo>
                  <a:lnTo>
                    <a:pt x="74935" y="43949"/>
                  </a:lnTo>
                  <a:lnTo>
                    <a:pt x="112096" y="20330"/>
                  </a:lnTo>
                  <a:lnTo>
                    <a:pt x="154235" y="5282"/>
                  </a:lnTo>
                  <a:lnTo>
                    <a:pt x="200151" y="0"/>
                  </a:lnTo>
                  <a:lnTo>
                    <a:pt x="1904746" y="0"/>
                  </a:lnTo>
                  <a:lnTo>
                    <a:pt x="1950670" y="5282"/>
                  </a:lnTo>
                  <a:lnTo>
                    <a:pt x="1992826" y="20330"/>
                  </a:lnTo>
                  <a:lnTo>
                    <a:pt x="2030012" y="43949"/>
                  </a:lnTo>
                  <a:lnTo>
                    <a:pt x="2061027" y="74939"/>
                  </a:lnTo>
                  <a:lnTo>
                    <a:pt x="2084669" y="112106"/>
                  </a:lnTo>
                  <a:lnTo>
                    <a:pt x="2099735" y="154251"/>
                  </a:lnTo>
                  <a:lnTo>
                    <a:pt x="2105025" y="200177"/>
                  </a:lnTo>
                  <a:lnTo>
                    <a:pt x="2105025" y="209270"/>
                  </a:lnTo>
                  <a:lnTo>
                    <a:pt x="2099735" y="255184"/>
                  </a:lnTo>
                  <a:lnTo>
                    <a:pt x="2084669" y="297332"/>
                  </a:lnTo>
                  <a:lnTo>
                    <a:pt x="2061027" y="334511"/>
                  </a:lnTo>
                  <a:lnTo>
                    <a:pt x="2030012" y="365521"/>
                  </a:lnTo>
                  <a:lnTo>
                    <a:pt x="1992826" y="389159"/>
                  </a:lnTo>
                  <a:lnTo>
                    <a:pt x="1950670" y="404223"/>
                  </a:lnTo>
                  <a:lnTo>
                    <a:pt x="1904746" y="409511"/>
                  </a:lnTo>
                  <a:lnTo>
                    <a:pt x="200151" y="409511"/>
                  </a:lnTo>
                  <a:lnTo>
                    <a:pt x="154235" y="404223"/>
                  </a:lnTo>
                  <a:lnTo>
                    <a:pt x="112096" y="389159"/>
                  </a:lnTo>
                  <a:lnTo>
                    <a:pt x="74935" y="365521"/>
                  </a:lnTo>
                  <a:lnTo>
                    <a:pt x="43947" y="334511"/>
                  </a:lnTo>
                  <a:lnTo>
                    <a:pt x="20330" y="297332"/>
                  </a:lnTo>
                  <a:lnTo>
                    <a:pt x="5282" y="255184"/>
                  </a:lnTo>
                  <a:lnTo>
                    <a:pt x="0" y="209270"/>
                  </a:lnTo>
                  <a:lnTo>
                    <a:pt x="0" y="200177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27475" y="5561329"/>
            <a:ext cx="56134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FFFFFF"/>
                </a:solidFill>
                <a:latin typeface="Calibri"/>
                <a:cs typeface="Calibri"/>
              </a:rPr>
              <a:t>Multan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5942076" y="4665726"/>
            <a:ext cx="5680075" cy="1470025"/>
            <a:chOff x="5942076" y="4665726"/>
            <a:chExt cx="5680075" cy="1470025"/>
          </a:xfrm>
        </p:grpSpPr>
        <p:sp>
          <p:nvSpPr>
            <p:cNvPr id="41" name="object 41"/>
            <p:cNvSpPr/>
            <p:nvPr/>
          </p:nvSpPr>
          <p:spPr>
            <a:xfrm>
              <a:off x="5948426" y="4672076"/>
              <a:ext cx="5667375" cy="1457325"/>
            </a:xfrm>
            <a:custGeom>
              <a:avLst/>
              <a:gdLst/>
              <a:ahLst/>
              <a:cxnLst/>
              <a:rect l="l" t="t" r="r" b="b"/>
              <a:pathLst>
                <a:path w="5667375" h="1457325">
                  <a:moveTo>
                    <a:pt x="5558028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19"/>
                  </a:lnTo>
                  <a:lnTo>
                    <a:pt x="0" y="1347965"/>
                  </a:lnTo>
                  <a:lnTo>
                    <a:pt x="8582" y="1390508"/>
                  </a:lnTo>
                  <a:lnTo>
                    <a:pt x="31988" y="1425249"/>
                  </a:lnTo>
                  <a:lnTo>
                    <a:pt x="66704" y="1448672"/>
                  </a:lnTo>
                  <a:lnTo>
                    <a:pt x="109220" y="1457261"/>
                  </a:lnTo>
                  <a:lnTo>
                    <a:pt x="5558028" y="1457261"/>
                  </a:lnTo>
                  <a:lnTo>
                    <a:pt x="5600563" y="1448672"/>
                  </a:lnTo>
                  <a:lnTo>
                    <a:pt x="5635323" y="1425249"/>
                  </a:lnTo>
                  <a:lnTo>
                    <a:pt x="5658772" y="1390508"/>
                  </a:lnTo>
                  <a:lnTo>
                    <a:pt x="5667375" y="1347965"/>
                  </a:lnTo>
                  <a:lnTo>
                    <a:pt x="5667375" y="109219"/>
                  </a:lnTo>
                  <a:lnTo>
                    <a:pt x="5658772" y="66704"/>
                  </a:lnTo>
                  <a:lnTo>
                    <a:pt x="5635323" y="31988"/>
                  </a:lnTo>
                  <a:lnTo>
                    <a:pt x="5600563" y="8582"/>
                  </a:lnTo>
                  <a:lnTo>
                    <a:pt x="55580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948426" y="4672076"/>
              <a:ext cx="5667375" cy="1457325"/>
            </a:xfrm>
            <a:custGeom>
              <a:avLst/>
              <a:gdLst/>
              <a:ahLst/>
              <a:cxnLst/>
              <a:rect l="l" t="t" r="r" b="b"/>
              <a:pathLst>
                <a:path w="5667375" h="1457325">
                  <a:moveTo>
                    <a:pt x="0" y="109219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5558028" y="0"/>
                  </a:lnTo>
                  <a:lnTo>
                    <a:pt x="5600563" y="8582"/>
                  </a:lnTo>
                  <a:lnTo>
                    <a:pt x="5635323" y="31988"/>
                  </a:lnTo>
                  <a:lnTo>
                    <a:pt x="5658772" y="66704"/>
                  </a:lnTo>
                  <a:lnTo>
                    <a:pt x="5667375" y="109219"/>
                  </a:lnTo>
                  <a:lnTo>
                    <a:pt x="5667375" y="1347965"/>
                  </a:lnTo>
                  <a:lnTo>
                    <a:pt x="5658772" y="1390508"/>
                  </a:lnTo>
                  <a:lnTo>
                    <a:pt x="5635323" y="1425249"/>
                  </a:lnTo>
                  <a:lnTo>
                    <a:pt x="5600563" y="1448672"/>
                  </a:lnTo>
                  <a:lnTo>
                    <a:pt x="5558028" y="1457261"/>
                  </a:lnTo>
                  <a:lnTo>
                    <a:pt x="109220" y="1457261"/>
                  </a:lnTo>
                  <a:lnTo>
                    <a:pt x="66704" y="1448672"/>
                  </a:lnTo>
                  <a:lnTo>
                    <a:pt x="31988" y="1425249"/>
                  </a:lnTo>
                  <a:lnTo>
                    <a:pt x="8582" y="1390508"/>
                  </a:lnTo>
                  <a:lnTo>
                    <a:pt x="0" y="1347965"/>
                  </a:lnTo>
                  <a:lnTo>
                    <a:pt x="0" y="109219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177026" y="50816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7"/>
                  </a:lnTo>
                  <a:lnTo>
                    <a:pt x="13500" y="411198"/>
                  </a:lnTo>
                  <a:lnTo>
                    <a:pt x="29637" y="453564"/>
                  </a:lnTo>
                  <a:lnTo>
                    <a:pt x="51375" y="492792"/>
                  </a:lnTo>
                  <a:lnTo>
                    <a:pt x="78222" y="528388"/>
                  </a:lnTo>
                  <a:lnTo>
                    <a:pt x="109686" y="559861"/>
                  </a:lnTo>
                  <a:lnTo>
                    <a:pt x="145275" y="586716"/>
                  </a:lnTo>
                  <a:lnTo>
                    <a:pt x="184495" y="608462"/>
                  </a:lnTo>
                  <a:lnTo>
                    <a:pt x="226855" y="624605"/>
                  </a:lnTo>
                  <a:lnTo>
                    <a:pt x="271862" y="634652"/>
                  </a:lnTo>
                  <a:lnTo>
                    <a:pt x="319024" y="638111"/>
                  </a:lnTo>
                  <a:lnTo>
                    <a:pt x="366188" y="634652"/>
                  </a:lnTo>
                  <a:lnTo>
                    <a:pt x="411204" y="624605"/>
                  </a:lnTo>
                  <a:lnTo>
                    <a:pt x="453575" y="608462"/>
                  </a:lnTo>
                  <a:lnTo>
                    <a:pt x="492811" y="586716"/>
                  </a:lnTo>
                  <a:lnTo>
                    <a:pt x="528416" y="559861"/>
                  </a:lnTo>
                  <a:lnTo>
                    <a:pt x="559897" y="528388"/>
                  </a:lnTo>
                  <a:lnTo>
                    <a:pt x="586761" y="492792"/>
                  </a:lnTo>
                  <a:lnTo>
                    <a:pt x="608514" y="453564"/>
                  </a:lnTo>
                  <a:lnTo>
                    <a:pt x="624663" y="411198"/>
                  </a:lnTo>
                  <a:lnTo>
                    <a:pt x="634714" y="366187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6177026" y="50816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7"/>
                  </a:lnTo>
                  <a:lnTo>
                    <a:pt x="624663" y="411198"/>
                  </a:lnTo>
                  <a:lnTo>
                    <a:pt x="608514" y="453564"/>
                  </a:lnTo>
                  <a:lnTo>
                    <a:pt x="586761" y="492792"/>
                  </a:lnTo>
                  <a:lnTo>
                    <a:pt x="559897" y="528388"/>
                  </a:lnTo>
                  <a:lnTo>
                    <a:pt x="528416" y="559861"/>
                  </a:lnTo>
                  <a:lnTo>
                    <a:pt x="492811" y="586716"/>
                  </a:lnTo>
                  <a:lnTo>
                    <a:pt x="453575" y="608462"/>
                  </a:lnTo>
                  <a:lnTo>
                    <a:pt x="411204" y="624605"/>
                  </a:lnTo>
                  <a:lnTo>
                    <a:pt x="366188" y="634652"/>
                  </a:lnTo>
                  <a:lnTo>
                    <a:pt x="319024" y="638111"/>
                  </a:lnTo>
                  <a:lnTo>
                    <a:pt x="271862" y="634652"/>
                  </a:lnTo>
                  <a:lnTo>
                    <a:pt x="226855" y="624605"/>
                  </a:lnTo>
                  <a:lnTo>
                    <a:pt x="184495" y="608462"/>
                  </a:lnTo>
                  <a:lnTo>
                    <a:pt x="145275" y="586716"/>
                  </a:lnTo>
                  <a:lnTo>
                    <a:pt x="109686" y="559861"/>
                  </a:lnTo>
                  <a:lnTo>
                    <a:pt x="78222" y="528388"/>
                  </a:lnTo>
                  <a:lnTo>
                    <a:pt x="51375" y="492792"/>
                  </a:lnTo>
                  <a:lnTo>
                    <a:pt x="29637" y="453564"/>
                  </a:lnTo>
                  <a:lnTo>
                    <a:pt x="13500" y="411198"/>
                  </a:lnTo>
                  <a:lnTo>
                    <a:pt x="3457" y="366187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 descr="Row icon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34125" y="5238750"/>
              <a:ext cx="314325" cy="314325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987793" y="4686941"/>
            <a:ext cx="4343400" cy="131889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3.</a:t>
            </a:r>
            <a:r>
              <a:rPr sz="1550" b="1" spc="1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Our</a:t>
            </a:r>
            <a:r>
              <a:rPr sz="1550" b="1" spc="11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20" dirty="0">
                <a:solidFill>
                  <a:srgbClr val="1B4D3D"/>
                </a:solidFill>
                <a:latin typeface="Calibri"/>
                <a:cs typeface="Calibri"/>
              </a:rPr>
              <a:t>goal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101299"/>
              </a:lnSpc>
              <a:spcBef>
                <a:spcPts val="710"/>
              </a:spcBef>
            </a:pP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To</a:t>
            </a:r>
            <a:r>
              <a:rPr sz="14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build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an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end-to-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end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Machine</a:t>
            </a:r>
            <a:r>
              <a:rPr sz="14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Learning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pipeline</a:t>
            </a:r>
            <a:r>
              <a:rPr sz="14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providing calibrated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80%</a:t>
            </a:r>
            <a:r>
              <a:rPr sz="14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prediction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intervals</a:t>
            </a:r>
            <a:r>
              <a:rPr sz="140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(via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Conformal Prediction)</a:t>
            </a:r>
            <a:r>
              <a:rPr sz="14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combined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with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RAG-powered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Climate Intelligence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Agent.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6257" y="6448742"/>
            <a:ext cx="35579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HackInsight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2026</a:t>
            </a:r>
            <a:r>
              <a:rPr sz="950" spc="409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|</a:t>
            </a:r>
            <a:r>
              <a:rPr sz="950" spc="36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Heatwave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Risk</a:t>
            </a:r>
            <a:r>
              <a:rPr sz="950" spc="8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Prediction</a:t>
            </a:r>
            <a:r>
              <a:rPr sz="950" spc="9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&amp;</a:t>
            </a:r>
            <a:r>
              <a:rPr sz="950" spc="9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Climate</a:t>
            </a:r>
            <a:r>
              <a:rPr sz="950" spc="1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C6A4F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242929" y="6433502"/>
            <a:ext cx="882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2C6A4F"/>
                </a:solidFill>
                <a:latin typeface="Calibri"/>
                <a:cs typeface="Calibri"/>
              </a:rPr>
              <a:t>2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0941" rIns="0" bIns="0" rtlCol="0">
            <a:spAutoFit/>
          </a:bodyPr>
          <a:lstStyle/>
          <a:p>
            <a:pPr marL="3489960">
              <a:lnSpc>
                <a:spcPct val="100000"/>
              </a:lnSpc>
              <a:spcBef>
                <a:spcPts val="130"/>
              </a:spcBef>
            </a:pPr>
            <a:r>
              <a:rPr dirty="0"/>
              <a:t>Dataset</a:t>
            </a:r>
            <a:r>
              <a:rPr spc="155" dirty="0"/>
              <a:t> </a:t>
            </a:r>
            <a:r>
              <a:rPr spc="-10" dirty="0"/>
              <a:t>Declaration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7857108" y="1122679"/>
            <a:ext cx="9918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K</a:t>
            </a:r>
            <a:r>
              <a:rPr sz="1200" b="1" spc="4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3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Y</a:t>
            </a:r>
            <a:r>
              <a:rPr sz="1200" b="1" spc="160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S</a:t>
            </a:r>
            <a:r>
              <a:rPr sz="1200" b="1" spc="-1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T</a:t>
            </a:r>
            <a:r>
              <a:rPr sz="1200" b="1" spc="3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A</a:t>
            </a:r>
            <a:r>
              <a:rPr sz="1200" b="1" spc="4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T</a:t>
            </a:r>
            <a:r>
              <a:rPr sz="1200" b="1" spc="2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40916C"/>
                </a:solidFill>
                <a:latin typeface="Calibri"/>
                <a:cs typeface="Calibri"/>
              </a:rPr>
              <a:t>S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692146"/>
              </p:ext>
            </p:extLst>
          </p:nvPr>
        </p:nvGraphicFramePr>
        <p:xfrm>
          <a:off x="542290" y="1456689"/>
          <a:ext cx="6949440" cy="42056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Dataset</a:t>
                      </a:r>
                      <a:r>
                        <a:rPr sz="1400" b="1" spc="-65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Open-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Meteo</a:t>
                      </a:r>
                      <a:r>
                        <a:rPr sz="1400" spc="-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NASA</a:t>
                      </a:r>
                      <a:r>
                        <a:rPr sz="1400" spc="-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sz="1400" spc="-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Historical Weather</a:t>
                      </a:r>
                      <a:r>
                        <a:rPr sz="1400" spc="-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Ingestion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41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Source /</a:t>
                      </a:r>
                      <a:r>
                        <a:rPr sz="1400" b="1" spc="-4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link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Open-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Meteo</a:t>
                      </a:r>
                      <a:r>
                        <a:rPr sz="1400" spc="-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spc="-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NASA</a:t>
                      </a:r>
                      <a:r>
                        <a:rPr sz="1400" spc="-3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r>
                        <a:rPr sz="1400" spc="-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Global</a:t>
                      </a:r>
                      <a:r>
                        <a:rPr sz="1400" spc="-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Surface</a:t>
                      </a:r>
                      <a:r>
                        <a:rPr sz="1400" spc="-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Meteorology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Size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Multi-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year</a:t>
                      </a:r>
                      <a:r>
                        <a:rPr sz="1400" spc="-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hourly</a:t>
                      </a:r>
                      <a:r>
                        <a:rPr sz="1400" spc="-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time-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series</a:t>
                      </a:r>
                      <a:r>
                        <a:rPr sz="1400" spc="-3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records</a:t>
                      </a:r>
                      <a:r>
                        <a:rPr sz="1400" spc="-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across</a:t>
                      </a:r>
                      <a:r>
                        <a:rPr sz="1400" spc="3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-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Pakistani</a:t>
                      </a:r>
                      <a:r>
                        <a:rPr sz="1400" spc="-3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cities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Time</a:t>
                      </a:r>
                      <a:r>
                        <a:rPr sz="1400" b="1" spc="5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period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202</a:t>
                      </a: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4</a:t>
                      </a:r>
                      <a:r>
                        <a:rPr sz="1400" spc="-4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2026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Format</a:t>
                      </a:r>
                      <a:r>
                        <a:rPr sz="1400" b="1" spc="-2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400" b="1" spc="-75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license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Parquet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spc="-7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Warehouse</a:t>
                      </a:r>
                      <a:r>
                        <a:rPr sz="1400" spc="-7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Tables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(Open</a:t>
                      </a:r>
                      <a:r>
                        <a:rPr sz="1400" spc="-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Data)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sz="1400" b="1" spc="-35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features </a:t>
                      </a:r>
                      <a:r>
                        <a:rPr sz="1400" b="1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5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B4D3D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1430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209550">
                        <a:lnSpc>
                          <a:spcPct val="102800"/>
                        </a:lnSpc>
                        <a:spcBef>
                          <a:spcPts val="780"/>
                        </a:spcBef>
                      </a:pPr>
                      <a:r>
                        <a:rPr sz="1400" spc="-2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Temperature,</a:t>
                      </a:r>
                      <a:r>
                        <a:rPr sz="1400" spc="-7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humidity,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wind,</a:t>
                      </a:r>
                      <a:r>
                        <a:rPr sz="1400" spc="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pressure,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lag</a:t>
                      </a:r>
                      <a:r>
                        <a:rPr sz="1400" spc="-1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features,</a:t>
                      </a:r>
                      <a:r>
                        <a:rPr sz="1400" spc="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rolling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metrics</a:t>
                      </a:r>
                      <a:r>
                        <a:rPr sz="1400" spc="-1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sz="1400" spc="-7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Target:</a:t>
                      </a:r>
                      <a:r>
                        <a:rPr sz="1400" spc="-4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Next-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day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maximum</a:t>
                      </a:r>
                      <a:r>
                        <a:rPr sz="1400" spc="-5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Heat</a:t>
                      </a:r>
                      <a:r>
                        <a:rPr sz="1400" spc="-7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Index</a:t>
                      </a:r>
                      <a:r>
                        <a:rPr sz="1400" spc="-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(HI_max).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7866126" y="1465325"/>
            <a:ext cx="3756025" cy="1470025"/>
            <a:chOff x="7866126" y="1465325"/>
            <a:chExt cx="3756025" cy="1470025"/>
          </a:xfrm>
        </p:grpSpPr>
        <p:sp>
          <p:nvSpPr>
            <p:cNvPr id="6" name="object 6"/>
            <p:cNvSpPr/>
            <p:nvPr/>
          </p:nvSpPr>
          <p:spPr>
            <a:xfrm>
              <a:off x="7872476" y="1471675"/>
              <a:ext cx="3743325" cy="1457325"/>
            </a:xfrm>
            <a:custGeom>
              <a:avLst/>
              <a:gdLst/>
              <a:ahLst/>
              <a:cxnLst/>
              <a:rect l="l" t="t" r="r" b="b"/>
              <a:pathLst>
                <a:path w="3743325" h="1457325">
                  <a:moveTo>
                    <a:pt x="3633978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1347977"/>
                  </a:lnTo>
                  <a:lnTo>
                    <a:pt x="8582" y="1390513"/>
                  </a:lnTo>
                  <a:lnTo>
                    <a:pt x="31988" y="1425273"/>
                  </a:lnTo>
                  <a:lnTo>
                    <a:pt x="66704" y="1448722"/>
                  </a:lnTo>
                  <a:lnTo>
                    <a:pt x="109220" y="1457325"/>
                  </a:lnTo>
                  <a:lnTo>
                    <a:pt x="3633978" y="1457325"/>
                  </a:lnTo>
                  <a:lnTo>
                    <a:pt x="3676513" y="1448722"/>
                  </a:lnTo>
                  <a:lnTo>
                    <a:pt x="3711273" y="1425273"/>
                  </a:lnTo>
                  <a:lnTo>
                    <a:pt x="3734722" y="1390513"/>
                  </a:lnTo>
                  <a:lnTo>
                    <a:pt x="3743325" y="1347977"/>
                  </a:lnTo>
                  <a:lnTo>
                    <a:pt x="3743325" y="109220"/>
                  </a:lnTo>
                  <a:lnTo>
                    <a:pt x="3734722" y="66704"/>
                  </a:lnTo>
                  <a:lnTo>
                    <a:pt x="3711273" y="31988"/>
                  </a:lnTo>
                  <a:lnTo>
                    <a:pt x="3676513" y="8582"/>
                  </a:lnTo>
                  <a:lnTo>
                    <a:pt x="3633978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72476" y="1471675"/>
              <a:ext cx="3743325" cy="1457325"/>
            </a:xfrm>
            <a:custGeom>
              <a:avLst/>
              <a:gdLst/>
              <a:ahLst/>
              <a:cxnLst/>
              <a:rect l="l" t="t" r="r" b="b"/>
              <a:pathLst>
                <a:path w="3743325" h="1457325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3633978" y="0"/>
                  </a:lnTo>
                  <a:lnTo>
                    <a:pt x="3676513" y="8582"/>
                  </a:lnTo>
                  <a:lnTo>
                    <a:pt x="3711273" y="31988"/>
                  </a:lnTo>
                  <a:lnTo>
                    <a:pt x="3734722" y="66704"/>
                  </a:lnTo>
                  <a:lnTo>
                    <a:pt x="3743325" y="109220"/>
                  </a:lnTo>
                  <a:lnTo>
                    <a:pt x="3743325" y="1347977"/>
                  </a:lnTo>
                  <a:lnTo>
                    <a:pt x="3734722" y="1390513"/>
                  </a:lnTo>
                  <a:lnTo>
                    <a:pt x="3711273" y="1425273"/>
                  </a:lnTo>
                  <a:lnTo>
                    <a:pt x="3676513" y="1448722"/>
                  </a:lnTo>
                  <a:lnTo>
                    <a:pt x="3633978" y="1457325"/>
                  </a:lnTo>
                  <a:lnTo>
                    <a:pt x="109220" y="1457325"/>
                  </a:lnTo>
                  <a:lnTo>
                    <a:pt x="66704" y="1448722"/>
                  </a:lnTo>
                  <a:lnTo>
                    <a:pt x="31988" y="1425273"/>
                  </a:lnTo>
                  <a:lnTo>
                    <a:pt x="8582" y="1390513"/>
                  </a:lnTo>
                  <a:lnTo>
                    <a:pt x="0" y="1347977"/>
                  </a:lnTo>
                  <a:lnTo>
                    <a:pt x="0" y="109220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01076" y="1881250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101076" y="1881250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 descr="Stat icon 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48650" y="2038349"/>
              <a:ext cx="323850" cy="31432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909684" y="1606930"/>
            <a:ext cx="2047875" cy="89344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10" dirty="0">
                <a:solidFill>
                  <a:srgbClr val="1B4D3D"/>
                </a:solidFill>
                <a:latin typeface="Cambria"/>
                <a:cs typeface="Cambria"/>
              </a:rPr>
              <a:t>~</a:t>
            </a:r>
            <a:r>
              <a:rPr lang="en-US" sz="3200" b="1" spc="-10" dirty="0">
                <a:solidFill>
                  <a:srgbClr val="1B4D3D"/>
                </a:solidFill>
                <a:latin typeface="Cambria"/>
                <a:cs typeface="Cambria"/>
              </a:rPr>
              <a:t>70,400</a:t>
            </a:r>
            <a:r>
              <a:rPr sz="3200" b="1" spc="-10" dirty="0">
                <a:solidFill>
                  <a:srgbClr val="1B4D3D"/>
                </a:solidFill>
                <a:latin typeface="Cambria"/>
                <a:cs typeface="Cambria"/>
              </a:rPr>
              <a:t>+</a:t>
            </a:r>
            <a:endParaRPr sz="3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Hourly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records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866126" y="3065527"/>
            <a:ext cx="3756025" cy="1249682"/>
            <a:chOff x="7866126" y="3065526"/>
            <a:chExt cx="3756025" cy="1470025"/>
          </a:xfrm>
        </p:grpSpPr>
        <p:sp>
          <p:nvSpPr>
            <p:cNvPr id="13" name="object 13"/>
            <p:cNvSpPr/>
            <p:nvPr/>
          </p:nvSpPr>
          <p:spPr>
            <a:xfrm>
              <a:off x="7872476" y="3071876"/>
              <a:ext cx="3743325" cy="1457325"/>
            </a:xfrm>
            <a:custGeom>
              <a:avLst/>
              <a:gdLst/>
              <a:ahLst/>
              <a:cxnLst/>
              <a:rect l="l" t="t" r="r" b="b"/>
              <a:pathLst>
                <a:path w="3743325" h="1457325">
                  <a:moveTo>
                    <a:pt x="3633978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1347978"/>
                  </a:lnTo>
                  <a:lnTo>
                    <a:pt x="8582" y="1390513"/>
                  </a:lnTo>
                  <a:lnTo>
                    <a:pt x="31988" y="1425273"/>
                  </a:lnTo>
                  <a:lnTo>
                    <a:pt x="66704" y="1448722"/>
                  </a:lnTo>
                  <a:lnTo>
                    <a:pt x="109220" y="1457325"/>
                  </a:lnTo>
                  <a:lnTo>
                    <a:pt x="3633978" y="1457325"/>
                  </a:lnTo>
                  <a:lnTo>
                    <a:pt x="3676513" y="1448722"/>
                  </a:lnTo>
                  <a:lnTo>
                    <a:pt x="3711273" y="1425273"/>
                  </a:lnTo>
                  <a:lnTo>
                    <a:pt x="3734722" y="1390513"/>
                  </a:lnTo>
                  <a:lnTo>
                    <a:pt x="3743325" y="1347978"/>
                  </a:lnTo>
                  <a:lnTo>
                    <a:pt x="3743325" y="109220"/>
                  </a:lnTo>
                  <a:lnTo>
                    <a:pt x="3734722" y="66704"/>
                  </a:lnTo>
                  <a:lnTo>
                    <a:pt x="3711273" y="31988"/>
                  </a:lnTo>
                  <a:lnTo>
                    <a:pt x="3676513" y="8582"/>
                  </a:lnTo>
                  <a:lnTo>
                    <a:pt x="3633978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72476" y="3071876"/>
              <a:ext cx="3743325" cy="1457325"/>
            </a:xfrm>
            <a:custGeom>
              <a:avLst/>
              <a:gdLst/>
              <a:ahLst/>
              <a:cxnLst/>
              <a:rect l="l" t="t" r="r" b="b"/>
              <a:pathLst>
                <a:path w="3743325" h="1457325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3633978" y="0"/>
                  </a:lnTo>
                  <a:lnTo>
                    <a:pt x="3676513" y="8582"/>
                  </a:lnTo>
                  <a:lnTo>
                    <a:pt x="3711273" y="31988"/>
                  </a:lnTo>
                  <a:lnTo>
                    <a:pt x="3734722" y="66704"/>
                  </a:lnTo>
                  <a:lnTo>
                    <a:pt x="3743325" y="109220"/>
                  </a:lnTo>
                  <a:lnTo>
                    <a:pt x="3743325" y="1347978"/>
                  </a:lnTo>
                  <a:lnTo>
                    <a:pt x="3734722" y="1390513"/>
                  </a:lnTo>
                  <a:lnTo>
                    <a:pt x="3711273" y="1425273"/>
                  </a:lnTo>
                  <a:lnTo>
                    <a:pt x="3676513" y="1448722"/>
                  </a:lnTo>
                  <a:lnTo>
                    <a:pt x="3633978" y="1457325"/>
                  </a:lnTo>
                  <a:lnTo>
                    <a:pt x="109220" y="1457325"/>
                  </a:lnTo>
                  <a:lnTo>
                    <a:pt x="66704" y="1448722"/>
                  </a:lnTo>
                  <a:lnTo>
                    <a:pt x="31988" y="1425273"/>
                  </a:lnTo>
                  <a:lnTo>
                    <a:pt x="8582" y="1390513"/>
                  </a:lnTo>
                  <a:lnTo>
                    <a:pt x="0" y="1347978"/>
                  </a:lnTo>
                  <a:lnTo>
                    <a:pt x="0" y="109220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101076" y="34814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101076" y="34814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Stat icon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48650" y="3638550"/>
              <a:ext cx="323850" cy="31432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909684" y="3218814"/>
            <a:ext cx="2601595" cy="8839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spc="-25" dirty="0">
                <a:solidFill>
                  <a:srgbClr val="1B4D3D"/>
                </a:solidFill>
                <a:latin typeface="Cambria"/>
                <a:cs typeface="Cambria"/>
              </a:rPr>
              <a:t>13+</a:t>
            </a:r>
            <a:endParaRPr sz="3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Engineered</a:t>
            </a:r>
            <a:r>
              <a:rPr sz="140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weather</a:t>
            </a:r>
            <a:r>
              <a:rPr sz="1400" spc="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features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&amp;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lags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66125" y="4476364"/>
            <a:ext cx="3756025" cy="1185929"/>
            <a:chOff x="7866126" y="4665726"/>
            <a:chExt cx="3756025" cy="1470025"/>
          </a:xfrm>
        </p:grpSpPr>
        <p:sp>
          <p:nvSpPr>
            <p:cNvPr id="20" name="object 20"/>
            <p:cNvSpPr/>
            <p:nvPr/>
          </p:nvSpPr>
          <p:spPr>
            <a:xfrm>
              <a:off x="7872476" y="4672076"/>
              <a:ext cx="3743325" cy="1457325"/>
            </a:xfrm>
            <a:custGeom>
              <a:avLst/>
              <a:gdLst/>
              <a:ahLst/>
              <a:cxnLst/>
              <a:rect l="l" t="t" r="r" b="b"/>
              <a:pathLst>
                <a:path w="3743325" h="1457325">
                  <a:moveTo>
                    <a:pt x="3633978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19"/>
                  </a:lnTo>
                  <a:lnTo>
                    <a:pt x="0" y="1347965"/>
                  </a:lnTo>
                  <a:lnTo>
                    <a:pt x="8582" y="1390508"/>
                  </a:lnTo>
                  <a:lnTo>
                    <a:pt x="31988" y="1425249"/>
                  </a:lnTo>
                  <a:lnTo>
                    <a:pt x="66704" y="1448672"/>
                  </a:lnTo>
                  <a:lnTo>
                    <a:pt x="109220" y="1457261"/>
                  </a:lnTo>
                  <a:lnTo>
                    <a:pt x="3633978" y="1457261"/>
                  </a:lnTo>
                  <a:lnTo>
                    <a:pt x="3676513" y="1448672"/>
                  </a:lnTo>
                  <a:lnTo>
                    <a:pt x="3711273" y="1425249"/>
                  </a:lnTo>
                  <a:lnTo>
                    <a:pt x="3734722" y="1390508"/>
                  </a:lnTo>
                  <a:lnTo>
                    <a:pt x="3743325" y="1347965"/>
                  </a:lnTo>
                  <a:lnTo>
                    <a:pt x="3743325" y="109219"/>
                  </a:lnTo>
                  <a:lnTo>
                    <a:pt x="3734722" y="66704"/>
                  </a:lnTo>
                  <a:lnTo>
                    <a:pt x="3711273" y="31988"/>
                  </a:lnTo>
                  <a:lnTo>
                    <a:pt x="3676513" y="8582"/>
                  </a:lnTo>
                  <a:lnTo>
                    <a:pt x="3633978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72476" y="4672076"/>
              <a:ext cx="3743325" cy="1457325"/>
            </a:xfrm>
            <a:custGeom>
              <a:avLst/>
              <a:gdLst/>
              <a:ahLst/>
              <a:cxnLst/>
              <a:rect l="l" t="t" r="r" b="b"/>
              <a:pathLst>
                <a:path w="3743325" h="1457325">
                  <a:moveTo>
                    <a:pt x="0" y="109219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3633978" y="0"/>
                  </a:lnTo>
                  <a:lnTo>
                    <a:pt x="3676513" y="8582"/>
                  </a:lnTo>
                  <a:lnTo>
                    <a:pt x="3711273" y="31988"/>
                  </a:lnTo>
                  <a:lnTo>
                    <a:pt x="3734722" y="66704"/>
                  </a:lnTo>
                  <a:lnTo>
                    <a:pt x="3743325" y="109219"/>
                  </a:lnTo>
                  <a:lnTo>
                    <a:pt x="3743325" y="1347965"/>
                  </a:lnTo>
                  <a:lnTo>
                    <a:pt x="3734722" y="1390508"/>
                  </a:lnTo>
                  <a:lnTo>
                    <a:pt x="3711273" y="1425249"/>
                  </a:lnTo>
                  <a:lnTo>
                    <a:pt x="3676513" y="1448672"/>
                  </a:lnTo>
                  <a:lnTo>
                    <a:pt x="3633978" y="1457261"/>
                  </a:lnTo>
                  <a:lnTo>
                    <a:pt x="109220" y="1457261"/>
                  </a:lnTo>
                  <a:lnTo>
                    <a:pt x="66704" y="1448672"/>
                  </a:lnTo>
                  <a:lnTo>
                    <a:pt x="31988" y="1425249"/>
                  </a:lnTo>
                  <a:lnTo>
                    <a:pt x="8582" y="1390508"/>
                  </a:lnTo>
                  <a:lnTo>
                    <a:pt x="0" y="1347965"/>
                  </a:lnTo>
                  <a:lnTo>
                    <a:pt x="0" y="109219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101076" y="50816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7"/>
                  </a:lnTo>
                  <a:lnTo>
                    <a:pt x="13500" y="411198"/>
                  </a:lnTo>
                  <a:lnTo>
                    <a:pt x="29637" y="453564"/>
                  </a:lnTo>
                  <a:lnTo>
                    <a:pt x="51375" y="492792"/>
                  </a:lnTo>
                  <a:lnTo>
                    <a:pt x="78222" y="528388"/>
                  </a:lnTo>
                  <a:lnTo>
                    <a:pt x="109686" y="559861"/>
                  </a:lnTo>
                  <a:lnTo>
                    <a:pt x="145275" y="586716"/>
                  </a:lnTo>
                  <a:lnTo>
                    <a:pt x="184495" y="608462"/>
                  </a:lnTo>
                  <a:lnTo>
                    <a:pt x="226855" y="624605"/>
                  </a:lnTo>
                  <a:lnTo>
                    <a:pt x="271862" y="634652"/>
                  </a:lnTo>
                  <a:lnTo>
                    <a:pt x="319024" y="638111"/>
                  </a:lnTo>
                  <a:lnTo>
                    <a:pt x="366188" y="634652"/>
                  </a:lnTo>
                  <a:lnTo>
                    <a:pt x="411204" y="624605"/>
                  </a:lnTo>
                  <a:lnTo>
                    <a:pt x="453575" y="608462"/>
                  </a:lnTo>
                  <a:lnTo>
                    <a:pt x="492811" y="586716"/>
                  </a:lnTo>
                  <a:lnTo>
                    <a:pt x="528416" y="559861"/>
                  </a:lnTo>
                  <a:lnTo>
                    <a:pt x="559897" y="528388"/>
                  </a:lnTo>
                  <a:lnTo>
                    <a:pt x="586761" y="492792"/>
                  </a:lnTo>
                  <a:lnTo>
                    <a:pt x="608514" y="453564"/>
                  </a:lnTo>
                  <a:lnTo>
                    <a:pt x="624663" y="411198"/>
                  </a:lnTo>
                  <a:lnTo>
                    <a:pt x="634714" y="366187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101076" y="5081651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7"/>
                  </a:lnTo>
                  <a:lnTo>
                    <a:pt x="624663" y="411198"/>
                  </a:lnTo>
                  <a:lnTo>
                    <a:pt x="608514" y="453564"/>
                  </a:lnTo>
                  <a:lnTo>
                    <a:pt x="586761" y="492792"/>
                  </a:lnTo>
                  <a:lnTo>
                    <a:pt x="559897" y="528388"/>
                  </a:lnTo>
                  <a:lnTo>
                    <a:pt x="528416" y="559861"/>
                  </a:lnTo>
                  <a:lnTo>
                    <a:pt x="492811" y="586716"/>
                  </a:lnTo>
                  <a:lnTo>
                    <a:pt x="453575" y="608462"/>
                  </a:lnTo>
                  <a:lnTo>
                    <a:pt x="411204" y="624605"/>
                  </a:lnTo>
                  <a:lnTo>
                    <a:pt x="366188" y="634652"/>
                  </a:lnTo>
                  <a:lnTo>
                    <a:pt x="319024" y="638111"/>
                  </a:lnTo>
                  <a:lnTo>
                    <a:pt x="271862" y="634652"/>
                  </a:lnTo>
                  <a:lnTo>
                    <a:pt x="226855" y="624605"/>
                  </a:lnTo>
                  <a:lnTo>
                    <a:pt x="184495" y="608462"/>
                  </a:lnTo>
                  <a:lnTo>
                    <a:pt x="145275" y="586716"/>
                  </a:lnTo>
                  <a:lnTo>
                    <a:pt x="109686" y="559861"/>
                  </a:lnTo>
                  <a:lnTo>
                    <a:pt x="78222" y="528388"/>
                  </a:lnTo>
                  <a:lnTo>
                    <a:pt x="51375" y="492792"/>
                  </a:lnTo>
                  <a:lnTo>
                    <a:pt x="29637" y="453564"/>
                  </a:lnTo>
                  <a:lnTo>
                    <a:pt x="13500" y="411198"/>
                  </a:lnTo>
                  <a:lnTo>
                    <a:pt x="3457" y="366187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 descr="Stat icon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8650" y="5238750"/>
              <a:ext cx="323850" cy="314325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909684" y="4560611"/>
            <a:ext cx="2136775" cy="894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1" dirty="0">
                <a:solidFill>
                  <a:srgbClr val="1B4D3D"/>
                </a:solidFill>
                <a:latin typeface="Cambria"/>
                <a:cs typeface="Cambria"/>
              </a:rPr>
              <a:t>~15</a:t>
            </a:r>
            <a:r>
              <a:rPr sz="3200" b="1" spc="-80" dirty="0">
                <a:solidFill>
                  <a:srgbClr val="1B4D3D"/>
                </a:solidFill>
                <a:latin typeface="Cambria"/>
                <a:cs typeface="Cambria"/>
              </a:rPr>
              <a:t> </a:t>
            </a:r>
            <a:r>
              <a:rPr sz="3200" b="1" spc="-25" dirty="0">
                <a:solidFill>
                  <a:srgbClr val="1B4D3D"/>
                </a:solidFill>
                <a:latin typeface="Cambria"/>
                <a:cs typeface="Cambria"/>
              </a:rPr>
              <a:t>MB</a:t>
            </a:r>
            <a:endParaRPr sz="32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Dataset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size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(Parquet</a:t>
            </a:r>
            <a:r>
              <a:rPr sz="14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format)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6257" y="6448742"/>
            <a:ext cx="35579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HackInsight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2026</a:t>
            </a:r>
            <a:r>
              <a:rPr sz="950" spc="409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|</a:t>
            </a:r>
            <a:r>
              <a:rPr sz="950" spc="36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Heatwave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Risk</a:t>
            </a:r>
            <a:r>
              <a:rPr sz="950" spc="8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Prediction</a:t>
            </a:r>
            <a:r>
              <a:rPr sz="950" spc="9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&amp;</a:t>
            </a:r>
            <a:r>
              <a:rPr sz="950" spc="9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Climate</a:t>
            </a:r>
            <a:r>
              <a:rPr sz="950" spc="1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C6A4F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242929" y="6433502"/>
            <a:ext cx="882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2C6A4F"/>
                </a:solidFill>
                <a:latin typeface="Calibri"/>
                <a:cs typeface="Calibri"/>
              </a:rPr>
              <a:t>3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0941" rIns="0" bIns="0" rtlCol="0">
            <a:spAutoFit/>
          </a:bodyPr>
          <a:lstStyle/>
          <a:p>
            <a:pPr marL="4097020">
              <a:lnSpc>
                <a:spcPct val="100000"/>
              </a:lnSpc>
              <a:spcBef>
                <a:spcPts val="130"/>
              </a:spcBef>
            </a:pPr>
            <a:r>
              <a:rPr dirty="0"/>
              <a:t>Pipeline</a:t>
            </a:r>
            <a:r>
              <a:rPr spc="125" dirty="0"/>
              <a:t> </a:t>
            </a:r>
            <a:r>
              <a:rPr spc="-20" dirty="0"/>
              <a:t>Used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0862" y="1465325"/>
            <a:ext cx="1927860" cy="3441700"/>
            <a:chOff x="550862" y="1465325"/>
            <a:chExt cx="1927860" cy="3441700"/>
          </a:xfrm>
        </p:grpSpPr>
        <p:sp>
          <p:nvSpPr>
            <p:cNvPr id="5" name="object 5"/>
            <p:cNvSpPr/>
            <p:nvPr/>
          </p:nvSpPr>
          <p:spPr>
            <a:xfrm>
              <a:off x="557212" y="1471675"/>
              <a:ext cx="1915160" cy="3429000"/>
            </a:xfrm>
            <a:custGeom>
              <a:avLst/>
              <a:gdLst/>
              <a:ahLst/>
              <a:cxnLst/>
              <a:rect l="l" t="t" r="r" b="b"/>
              <a:pathLst>
                <a:path w="1915160" h="3429000">
                  <a:moveTo>
                    <a:pt x="1805114" y="0"/>
                  </a:moveTo>
                  <a:lnTo>
                    <a:pt x="109397" y="0"/>
                  </a:lnTo>
                  <a:lnTo>
                    <a:pt x="66817" y="8584"/>
                  </a:lnTo>
                  <a:lnTo>
                    <a:pt x="32043" y="32004"/>
                  </a:lnTo>
                  <a:lnTo>
                    <a:pt x="8597" y="66758"/>
                  </a:lnTo>
                  <a:lnTo>
                    <a:pt x="0" y="109347"/>
                  </a:lnTo>
                  <a:lnTo>
                    <a:pt x="0" y="3319526"/>
                  </a:lnTo>
                  <a:lnTo>
                    <a:pt x="8597" y="3362114"/>
                  </a:lnTo>
                  <a:lnTo>
                    <a:pt x="32043" y="3396869"/>
                  </a:lnTo>
                  <a:lnTo>
                    <a:pt x="66817" y="3420288"/>
                  </a:lnTo>
                  <a:lnTo>
                    <a:pt x="109397" y="3428873"/>
                  </a:lnTo>
                  <a:lnTo>
                    <a:pt x="1805114" y="3428873"/>
                  </a:lnTo>
                  <a:lnTo>
                    <a:pt x="1847722" y="3420288"/>
                  </a:lnTo>
                  <a:lnTo>
                    <a:pt x="1882520" y="3396869"/>
                  </a:lnTo>
                  <a:lnTo>
                    <a:pt x="1905984" y="3362114"/>
                  </a:lnTo>
                  <a:lnTo>
                    <a:pt x="1914588" y="3319526"/>
                  </a:lnTo>
                  <a:lnTo>
                    <a:pt x="1914588" y="109347"/>
                  </a:lnTo>
                  <a:lnTo>
                    <a:pt x="1905984" y="66758"/>
                  </a:lnTo>
                  <a:lnTo>
                    <a:pt x="1882521" y="32004"/>
                  </a:lnTo>
                  <a:lnTo>
                    <a:pt x="1847723" y="8584"/>
                  </a:lnTo>
                  <a:lnTo>
                    <a:pt x="18051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1471675"/>
              <a:ext cx="1915160" cy="3429000"/>
            </a:xfrm>
            <a:custGeom>
              <a:avLst/>
              <a:gdLst/>
              <a:ahLst/>
              <a:cxnLst/>
              <a:rect l="l" t="t" r="r" b="b"/>
              <a:pathLst>
                <a:path w="1915160" h="3429000">
                  <a:moveTo>
                    <a:pt x="0" y="109347"/>
                  </a:moveTo>
                  <a:lnTo>
                    <a:pt x="8597" y="66758"/>
                  </a:lnTo>
                  <a:lnTo>
                    <a:pt x="32043" y="32004"/>
                  </a:lnTo>
                  <a:lnTo>
                    <a:pt x="66817" y="8584"/>
                  </a:lnTo>
                  <a:lnTo>
                    <a:pt x="109397" y="0"/>
                  </a:lnTo>
                  <a:lnTo>
                    <a:pt x="1805114" y="0"/>
                  </a:lnTo>
                  <a:lnTo>
                    <a:pt x="1847723" y="8584"/>
                  </a:lnTo>
                  <a:lnTo>
                    <a:pt x="1882521" y="32004"/>
                  </a:lnTo>
                  <a:lnTo>
                    <a:pt x="1905984" y="66758"/>
                  </a:lnTo>
                  <a:lnTo>
                    <a:pt x="1914588" y="109347"/>
                  </a:lnTo>
                  <a:lnTo>
                    <a:pt x="1914588" y="3319526"/>
                  </a:lnTo>
                  <a:lnTo>
                    <a:pt x="1905984" y="3362114"/>
                  </a:lnTo>
                  <a:lnTo>
                    <a:pt x="1882520" y="3396869"/>
                  </a:lnTo>
                  <a:lnTo>
                    <a:pt x="1847722" y="3420288"/>
                  </a:lnTo>
                  <a:lnTo>
                    <a:pt x="1805114" y="3428873"/>
                  </a:lnTo>
                  <a:lnTo>
                    <a:pt x="109397" y="3428873"/>
                  </a:lnTo>
                  <a:lnTo>
                    <a:pt x="66817" y="3420288"/>
                  </a:lnTo>
                  <a:lnTo>
                    <a:pt x="32043" y="3396869"/>
                  </a:lnTo>
                  <a:lnTo>
                    <a:pt x="8597" y="3362114"/>
                  </a:lnTo>
                  <a:lnTo>
                    <a:pt x="0" y="3319526"/>
                  </a:lnTo>
                  <a:lnTo>
                    <a:pt x="0" y="109347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95387" y="1700275"/>
              <a:ext cx="638810" cy="638175"/>
            </a:xfrm>
            <a:custGeom>
              <a:avLst/>
              <a:gdLst/>
              <a:ahLst/>
              <a:cxnLst/>
              <a:rect l="l" t="t" r="r" b="b"/>
              <a:pathLst>
                <a:path w="638810" h="638175">
                  <a:moveTo>
                    <a:pt x="319087" y="0"/>
                  </a:moveTo>
                  <a:lnTo>
                    <a:pt x="271924" y="3457"/>
                  </a:lnTo>
                  <a:lnTo>
                    <a:pt x="226912" y="13500"/>
                  </a:lnTo>
                  <a:lnTo>
                    <a:pt x="184547" y="29637"/>
                  </a:lnTo>
                  <a:lnTo>
                    <a:pt x="145319" y="51375"/>
                  </a:lnTo>
                  <a:lnTo>
                    <a:pt x="109722" y="78222"/>
                  </a:lnTo>
                  <a:lnTo>
                    <a:pt x="78250" y="109686"/>
                  </a:lnTo>
                  <a:lnTo>
                    <a:pt x="51394" y="145275"/>
                  </a:lnTo>
                  <a:lnTo>
                    <a:pt x="29648" y="184495"/>
                  </a:lnTo>
                  <a:lnTo>
                    <a:pt x="13505" y="226855"/>
                  </a:lnTo>
                  <a:lnTo>
                    <a:pt x="3458" y="271862"/>
                  </a:lnTo>
                  <a:lnTo>
                    <a:pt x="0" y="319024"/>
                  </a:lnTo>
                  <a:lnTo>
                    <a:pt x="3458" y="366188"/>
                  </a:lnTo>
                  <a:lnTo>
                    <a:pt x="13505" y="411204"/>
                  </a:lnTo>
                  <a:lnTo>
                    <a:pt x="29648" y="453575"/>
                  </a:lnTo>
                  <a:lnTo>
                    <a:pt x="51394" y="492811"/>
                  </a:lnTo>
                  <a:lnTo>
                    <a:pt x="78250" y="528416"/>
                  </a:lnTo>
                  <a:lnTo>
                    <a:pt x="109722" y="559897"/>
                  </a:lnTo>
                  <a:lnTo>
                    <a:pt x="145319" y="586761"/>
                  </a:lnTo>
                  <a:lnTo>
                    <a:pt x="184547" y="608514"/>
                  </a:lnTo>
                  <a:lnTo>
                    <a:pt x="226912" y="624663"/>
                  </a:lnTo>
                  <a:lnTo>
                    <a:pt x="271924" y="634714"/>
                  </a:lnTo>
                  <a:lnTo>
                    <a:pt x="319087" y="638175"/>
                  </a:lnTo>
                  <a:lnTo>
                    <a:pt x="366252" y="634714"/>
                  </a:lnTo>
                  <a:lnTo>
                    <a:pt x="411267" y="624663"/>
                  </a:lnTo>
                  <a:lnTo>
                    <a:pt x="453639" y="608514"/>
                  </a:lnTo>
                  <a:lnTo>
                    <a:pt x="492874" y="586761"/>
                  </a:lnTo>
                  <a:lnTo>
                    <a:pt x="528479" y="559897"/>
                  </a:lnTo>
                  <a:lnTo>
                    <a:pt x="559960" y="528416"/>
                  </a:lnTo>
                  <a:lnTo>
                    <a:pt x="586824" y="492811"/>
                  </a:lnTo>
                  <a:lnTo>
                    <a:pt x="608578" y="453575"/>
                  </a:lnTo>
                  <a:lnTo>
                    <a:pt x="624727" y="411204"/>
                  </a:lnTo>
                  <a:lnTo>
                    <a:pt x="634778" y="366188"/>
                  </a:lnTo>
                  <a:lnTo>
                    <a:pt x="638238" y="319024"/>
                  </a:lnTo>
                  <a:lnTo>
                    <a:pt x="634778" y="271862"/>
                  </a:lnTo>
                  <a:lnTo>
                    <a:pt x="624727" y="226855"/>
                  </a:lnTo>
                  <a:lnTo>
                    <a:pt x="608578" y="184495"/>
                  </a:lnTo>
                  <a:lnTo>
                    <a:pt x="586824" y="145275"/>
                  </a:lnTo>
                  <a:lnTo>
                    <a:pt x="559960" y="109686"/>
                  </a:lnTo>
                  <a:lnTo>
                    <a:pt x="528479" y="78222"/>
                  </a:lnTo>
                  <a:lnTo>
                    <a:pt x="492874" y="51375"/>
                  </a:lnTo>
                  <a:lnTo>
                    <a:pt x="453639" y="29637"/>
                  </a:lnTo>
                  <a:lnTo>
                    <a:pt x="411267" y="13500"/>
                  </a:lnTo>
                  <a:lnTo>
                    <a:pt x="366252" y="3457"/>
                  </a:lnTo>
                  <a:lnTo>
                    <a:pt x="319087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95387" y="1700275"/>
              <a:ext cx="638810" cy="638175"/>
            </a:xfrm>
            <a:custGeom>
              <a:avLst/>
              <a:gdLst/>
              <a:ahLst/>
              <a:cxnLst/>
              <a:rect l="l" t="t" r="r" b="b"/>
              <a:pathLst>
                <a:path w="638810" h="638175">
                  <a:moveTo>
                    <a:pt x="0" y="319024"/>
                  </a:moveTo>
                  <a:lnTo>
                    <a:pt x="3458" y="271862"/>
                  </a:lnTo>
                  <a:lnTo>
                    <a:pt x="13505" y="226855"/>
                  </a:lnTo>
                  <a:lnTo>
                    <a:pt x="29648" y="184495"/>
                  </a:lnTo>
                  <a:lnTo>
                    <a:pt x="51394" y="145275"/>
                  </a:lnTo>
                  <a:lnTo>
                    <a:pt x="78250" y="109686"/>
                  </a:lnTo>
                  <a:lnTo>
                    <a:pt x="109722" y="78222"/>
                  </a:lnTo>
                  <a:lnTo>
                    <a:pt x="145319" y="51375"/>
                  </a:lnTo>
                  <a:lnTo>
                    <a:pt x="184547" y="29637"/>
                  </a:lnTo>
                  <a:lnTo>
                    <a:pt x="226912" y="13500"/>
                  </a:lnTo>
                  <a:lnTo>
                    <a:pt x="271924" y="3457"/>
                  </a:lnTo>
                  <a:lnTo>
                    <a:pt x="319087" y="0"/>
                  </a:lnTo>
                  <a:lnTo>
                    <a:pt x="366252" y="3457"/>
                  </a:lnTo>
                  <a:lnTo>
                    <a:pt x="411267" y="13500"/>
                  </a:lnTo>
                  <a:lnTo>
                    <a:pt x="453639" y="29637"/>
                  </a:lnTo>
                  <a:lnTo>
                    <a:pt x="492874" y="51375"/>
                  </a:lnTo>
                  <a:lnTo>
                    <a:pt x="528479" y="78222"/>
                  </a:lnTo>
                  <a:lnTo>
                    <a:pt x="559960" y="109686"/>
                  </a:lnTo>
                  <a:lnTo>
                    <a:pt x="586824" y="145275"/>
                  </a:lnTo>
                  <a:lnTo>
                    <a:pt x="608578" y="184495"/>
                  </a:lnTo>
                  <a:lnTo>
                    <a:pt x="624727" y="226855"/>
                  </a:lnTo>
                  <a:lnTo>
                    <a:pt x="634778" y="271862"/>
                  </a:lnTo>
                  <a:lnTo>
                    <a:pt x="638238" y="319024"/>
                  </a:lnTo>
                  <a:lnTo>
                    <a:pt x="634778" y="366188"/>
                  </a:lnTo>
                  <a:lnTo>
                    <a:pt x="624727" y="411204"/>
                  </a:lnTo>
                  <a:lnTo>
                    <a:pt x="608578" y="453575"/>
                  </a:lnTo>
                  <a:lnTo>
                    <a:pt x="586824" y="492811"/>
                  </a:lnTo>
                  <a:lnTo>
                    <a:pt x="559960" y="528416"/>
                  </a:lnTo>
                  <a:lnTo>
                    <a:pt x="528479" y="559897"/>
                  </a:lnTo>
                  <a:lnTo>
                    <a:pt x="492874" y="586761"/>
                  </a:lnTo>
                  <a:lnTo>
                    <a:pt x="453639" y="608514"/>
                  </a:lnTo>
                  <a:lnTo>
                    <a:pt x="411267" y="624663"/>
                  </a:lnTo>
                  <a:lnTo>
                    <a:pt x="366252" y="634714"/>
                  </a:lnTo>
                  <a:lnTo>
                    <a:pt x="319087" y="638175"/>
                  </a:lnTo>
                  <a:lnTo>
                    <a:pt x="271924" y="634714"/>
                  </a:lnTo>
                  <a:lnTo>
                    <a:pt x="226912" y="624663"/>
                  </a:lnTo>
                  <a:lnTo>
                    <a:pt x="184547" y="608514"/>
                  </a:lnTo>
                  <a:lnTo>
                    <a:pt x="145319" y="586761"/>
                  </a:lnTo>
                  <a:lnTo>
                    <a:pt x="109722" y="559897"/>
                  </a:lnTo>
                  <a:lnTo>
                    <a:pt x="78250" y="528416"/>
                  </a:lnTo>
                  <a:lnTo>
                    <a:pt x="51394" y="492811"/>
                  </a:lnTo>
                  <a:lnTo>
                    <a:pt x="29648" y="453575"/>
                  </a:lnTo>
                  <a:lnTo>
                    <a:pt x="13505" y="411204"/>
                  </a:lnTo>
                  <a:lnTo>
                    <a:pt x="3458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Step icon 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550" y="1847849"/>
              <a:ext cx="314325" cy="3238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46112" y="1552511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40916C"/>
                </a:solidFill>
                <a:latin typeface="Cambria"/>
                <a:cs typeface="Cambria"/>
              </a:rPr>
              <a:t>1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5662" y="2495867"/>
            <a:ext cx="13042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Data</a:t>
            </a:r>
            <a:r>
              <a:rPr sz="1550" b="1" spc="3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B4D3D"/>
                </a:solidFill>
                <a:latin typeface="Calibri"/>
                <a:cs typeface="Calibri"/>
              </a:rPr>
              <a:t>Collection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3734" y="2989897"/>
            <a:ext cx="1557020" cy="89154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442595">
              <a:lnSpc>
                <a:spcPct val="102899"/>
              </a:lnSpc>
              <a:spcBef>
                <a:spcPts val="75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Automated</a:t>
            </a:r>
            <a:r>
              <a:rPr sz="14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API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ingestion</a:t>
            </a:r>
            <a:r>
              <a:rPr sz="14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from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650"/>
              </a:lnSpc>
            </a:pP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Open-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Meteo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NASA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POWER.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513076" y="1465325"/>
            <a:ext cx="2251075" cy="3441700"/>
            <a:chOff x="2513076" y="1465325"/>
            <a:chExt cx="2251075" cy="3441700"/>
          </a:xfrm>
        </p:grpSpPr>
        <p:sp>
          <p:nvSpPr>
            <p:cNvPr id="14" name="object 14"/>
            <p:cNvSpPr/>
            <p:nvPr/>
          </p:nvSpPr>
          <p:spPr>
            <a:xfrm>
              <a:off x="2519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049" y="0"/>
                  </a:moveTo>
                  <a:lnTo>
                    <a:pt x="138049" y="68961"/>
                  </a:lnTo>
                  <a:lnTo>
                    <a:pt x="0" y="68961"/>
                  </a:lnTo>
                  <a:lnTo>
                    <a:pt x="0" y="207137"/>
                  </a:lnTo>
                  <a:lnTo>
                    <a:pt x="138049" y="207137"/>
                  </a:lnTo>
                  <a:lnTo>
                    <a:pt x="138049" y="276225"/>
                  </a:lnTo>
                  <a:lnTo>
                    <a:pt x="276225" y="138049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519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68961"/>
                  </a:moveTo>
                  <a:lnTo>
                    <a:pt x="138049" y="68961"/>
                  </a:lnTo>
                  <a:lnTo>
                    <a:pt x="138049" y="0"/>
                  </a:lnTo>
                  <a:lnTo>
                    <a:pt x="276225" y="138049"/>
                  </a:lnTo>
                  <a:lnTo>
                    <a:pt x="138049" y="276225"/>
                  </a:lnTo>
                  <a:lnTo>
                    <a:pt x="138049" y="207137"/>
                  </a:lnTo>
                  <a:lnTo>
                    <a:pt x="0" y="207137"/>
                  </a:lnTo>
                  <a:lnTo>
                    <a:pt x="0" y="68961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843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1805051" y="0"/>
                  </a:moveTo>
                  <a:lnTo>
                    <a:pt x="109347" y="0"/>
                  </a:lnTo>
                  <a:lnTo>
                    <a:pt x="66758" y="8584"/>
                  </a:lnTo>
                  <a:lnTo>
                    <a:pt x="32004" y="32004"/>
                  </a:lnTo>
                  <a:lnTo>
                    <a:pt x="8584" y="66758"/>
                  </a:lnTo>
                  <a:lnTo>
                    <a:pt x="0" y="109347"/>
                  </a:lnTo>
                  <a:lnTo>
                    <a:pt x="0" y="3319526"/>
                  </a:lnTo>
                  <a:lnTo>
                    <a:pt x="8584" y="3362114"/>
                  </a:lnTo>
                  <a:lnTo>
                    <a:pt x="32004" y="3396869"/>
                  </a:lnTo>
                  <a:lnTo>
                    <a:pt x="66758" y="3420288"/>
                  </a:lnTo>
                  <a:lnTo>
                    <a:pt x="109347" y="3428873"/>
                  </a:lnTo>
                  <a:lnTo>
                    <a:pt x="1805051" y="3428873"/>
                  </a:lnTo>
                  <a:lnTo>
                    <a:pt x="1847659" y="3420288"/>
                  </a:lnTo>
                  <a:lnTo>
                    <a:pt x="1882457" y="3396869"/>
                  </a:lnTo>
                  <a:lnTo>
                    <a:pt x="1905920" y="3362114"/>
                  </a:lnTo>
                  <a:lnTo>
                    <a:pt x="1914525" y="3319526"/>
                  </a:lnTo>
                  <a:lnTo>
                    <a:pt x="1914525" y="109347"/>
                  </a:lnTo>
                  <a:lnTo>
                    <a:pt x="1905920" y="66758"/>
                  </a:lnTo>
                  <a:lnTo>
                    <a:pt x="1882457" y="32004"/>
                  </a:lnTo>
                  <a:lnTo>
                    <a:pt x="1847659" y="8584"/>
                  </a:lnTo>
                  <a:lnTo>
                    <a:pt x="1805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843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0" y="109347"/>
                  </a:moveTo>
                  <a:lnTo>
                    <a:pt x="8584" y="66758"/>
                  </a:lnTo>
                  <a:lnTo>
                    <a:pt x="32004" y="32004"/>
                  </a:lnTo>
                  <a:lnTo>
                    <a:pt x="66758" y="8584"/>
                  </a:lnTo>
                  <a:lnTo>
                    <a:pt x="109347" y="0"/>
                  </a:lnTo>
                  <a:lnTo>
                    <a:pt x="1805051" y="0"/>
                  </a:lnTo>
                  <a:lnTo>
                    <a:pt x="1847659" y="8584"/>
                  </a:lnTo>
                  <a:lnTo>
                    <a:pt x="1882457" y="32004"/>
                  </a:lnTo>
                  <a:lnTo>
                    <a:pt x="1905920" y="66758"/>
                  </a:lnTo>
                  <a:lnTo>
                    <a:pt x="1914525" y="109347"/>
                  </a:lnTo>
                  <a:lnTo>
                    <a:pt x="1914525" y="3319526"/>
                  </a:lnTo>
                  <a:lnTo>
                    <a:pt x="1905920" y="3362114"/>
                  </a:lnTo>
                  <a:lnTo>
                    <a:pt x="1882457" y="3396869"/>
                  </a:lnTo>
                  <a:lnTo>
                    <a:pt x="1847659" y="3420288"/>
                  </a:lnTo>
                  <a:lnTo>
                    <a:pt x="1805051" y="3428873"/>
                  </a:lnTo>
                  <a:lnTo>
                    <a:pt x="109347" y="3428873"/>
                  </a:lnTo>
                  <a:lnTo>
                    <a:pt x="66758" y="3420288"/>
                  </a:lnTo>
                  <a:lnTo>
                    <a:pt x="32004" y="3396869"/>
                  </a:lnTo>
                  <a:lnTo>
                    <a:pt x="8584" y="3362114"/>
                  </a:lnTo>
                  <a:lnTo>
                    <a:pt x="0" y="3319526"/>
                  </a:lnTo>
                  <a:lnTo>
                    <a:pt x="0" y="109347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81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81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 descr="Step icon 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8550" y="1847849"/>
              <a:ext cx="314325" cy="3238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933954" y="1552511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40916C"/>
                </a:solidFill>
                <a:latin typeface="Cambria"/>
                <a:cs typeface="Cambria"/>
              </a:rPr>
              <a:t>2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02304" y="2495867"/>
            <a:ext cx="118681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Data</a:t>
            </a:r>
            <a:r>
              <a:rPr sz="1550" b="1" spc="3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1B4D3D"/>
                </a:solidFill>
                <a:latin typeface="Calibri"/>
                <a:cs typeface="Calibri"/>
              </a:rPr>
              <a:t>Cleaning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961258" y="2989897"/>
            <a:ext cx="1469390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105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Automated</a:t>
            </a:r>
            <a:r>
              <a:rPr sz="14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pipeline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handling</a:t>
            </a:r>
            <a:r>
              <a:rPr sz="14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missing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values</a:t>
            </a:r>
            <a:r>
              <a:rPr sz="14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&amp;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quality logging.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99076" y="1465325"/>
            <a:ext cx="2251075" cy="3441700"/>
            <a:chOff x="4799076" y="1465325"/>
            <a:chExt cx="2251075" cy="3441700"/>
          </a:xfrm>
        </p:grpSpPr>
        <p:sp>
          <p:nvSpPr>
            <p:cNvPr id="25" name="object 25"/>
            <p:cNvSpPr/>
            <p:nvPr/>
          </p:nvSpPr>
          <p:spPr>
            <a:xfrm>
              <a:off x="4805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049" y="0"/>
                  </a:moveTo>
                  <a:lnTo>
                    <a:pt x="138049" y="68961"/>
                  </a:lnTo>
                  <a:lnTo>
                    <a:pt x="0" y="68961"/>
                  </a:lnTo>
                  <a:lnTo>
                    <a:pt x="0" y="207137"/>
                  </a:lnTo>
                  <a:lnTo>
                    <a:pt x="138049" y="207137"/>
                  </a:lnTo>
                  <a:lnTo>
                    <a:pt x="138049" y="276225"/>
                  </a:lnTo>
                  <a:lnTo>
                    <a:pt x="276225" y="138049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805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68961"/>
                  </a:moveTo>
                  <a:lnTo>
                    <a:pt x="138049" y="68961"/>
                  </a:lnTo>
                  <a:lnTo>
                    <a:pt x="138049" y="0"/>
                  </a:lnTo>
                  <a:lnTo>
                    <a:pt x="276225" y="138049"/>
                  </a:lnTo>
                  <a:lnTo>
                    <a:pt x="138049" y="276225"/>
                  </a:lnTo>
                  <a:lnTo>
                    <a:pt x="138049" y="207137"/>
                  </a:lnTo>
                  <a:lnTo>
                    <a:pt x="0" y="207137"/>
                  </a:lnTo>
                  <a:lnTo>
                    <a:pt x="0" y="68961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29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1805051" y="0"/>
                  </a:moveTo>
                  <a:lnTo>
                    <a:pt x="109347" y="0"/>
                  </a:lnTo>
                  <a:lnTo>
                    <a:pt x="66758" y="8584"/>
                  </a:lnTo>
                  <a:lnTo>
                    <a:pt x="32004" y="32004"/>
                  </a:lnTo>
                  <a:lnTo>
                    <a:pt x="8584" y="66758"/>
                  </a:lnTo>
                  <a:lnTo>
                    <a:pt x="0" y="109347"/>
                  </a:lnTo>
                  <a:lnTo>
                    <a:pt x="0" y="3319526"/>
                  </a:lnTo>
                  <a:lnTo>
                    <a:pt x="8584" y="3362114"/>
                  </a:lnTo>
                  <a:lnTo>
                    <a:pt x="32004" y="3396869"/>
                  </a:lnTo>
                  <a:lnTo>
                    <a:pt x="66758" y="3420288"/>
                  </a:lnTo>
                  <a:lnTo>
                    <a:pt x="109347" y="3428873"/>
                  </a:lnTo>
                  <a:lnTo>
                    <a:pt x="1805051" y="3428873"/>
                  </a:lnTo>
                  <a:lnTo>
                    <a:pt x="1847659" y="3420288"/>
                  </a:lnTo>
                  <a:lnTo>
                    <a:pt x="1882457" y="3396869"/>
                  </a:lnTo>
                  <a:lnTo>
                    <a:pt x="1905920" y="3362114"/>
                  </a:lnTo>
                  <a:lnTo>
                    <a:pt x="1914525" y="3319526"/>
                  </a:lnTo>
                  <a:lnTo>
                    <a:pt x="1914525" y="109347"/>
                  </a:lnTo>
                  <a:lnTo>
                    <a:pt x="1905920" y="66758"/>
                  </a:lnTo>
                  <a:lnTo>
                    <a:pt x="1882457" y="32004"/>
                  </a:lnTo>
                  <a:lnTo>
                    <a:pt x="1847659" y="8584"/>
                  </a:lnTo>
                  <a:lnTo>
                    <a:pt x="1805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129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0" y="109347"/>
                  </a:moveTo>
                  <a:lnTo>
                    <a:pt x="8584" y="66758"/>
                  </a:lnTo>
                  <a:lnTo>
                    <a:pt x="32004" y="32004"/>
                  </a:lnTo>
                  <a:lnTo>
                    <a:pt x="66758" y="8584"/>
                  </a:lnTo>
                  <a:lnTo>
                    <a:pt x="109347" y="0"/>
                  </a:lnTo>
                  <a:lnTo>
                    <a:pt x="1805051" y="0"/>
                  </a:lnTo>
                  <a:lnTo>
                    <a:pt x="1847659" y="8584"/>
                  </a:lnTo>
                  <a:lnTo>
                    <a:pt x="1882457" y="32004"/>
                  </a:lnTo>
                  <a:lnTo>
                    <a:pt x="1905920" y="66758"/>
                  </a:lnTo>
                  <a:lnTo>
                    <a:pt x="1914525" y="109347"/>
                  </a:lnTo>
                  <a:lnTo>
                    <a:pt x="1914525" y="3319526"/>
                  </a:lnTo>
                  <a:lnTo>
                    <a:pt x="1905920" y="3362114"/>
                  </a:lnTo>
                  <a:lnTo>
                    <a:pt x="1882457" y="3396869"/>
                  </a:lnTo>
                  <a:lnTo>
                    <a:pt x="1847659" y="3420288"/>
                  </a:lnTo>
                  <a:lnTo>
                    <a:pt x="1805051" y="3428873"/>
                  </a:lnTo>
                  <a:lnTo>
                    <a:pt x="109347" y="3428873"/>
                  </a:lnTo>
                  <a:lnTo>
                    <a:pt x="66758" y="3420288"/>
                  </a:lnTo>
                  <a:lnTo>
                    <a:pt x="32004" y="3396869"/>
                  </a:lnTo>
                  <a:lnTo>
                    <a:pt x="8584" y="3362114"/>
                  </a:lnTo>
                  <a:lnTo>
                    <a:pt x="0" y="3319526"/>
                  </a:lnTo>
                  <a:lnTo>
                    <a:pt x="0" y="109347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767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767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 descr="Step icon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4550" y="1847849"/>
              <a:ext cx="314325" cy="3238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221604" y="1552511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40916C"/>
                </a:solidFill>
                <a:latin typeface="Cambria"/>
                <a:cs typeface="Cambria"/>
              </a:rPr>
              <a:t>3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464809" y="2495867"/>
            <a:ext cx="124333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Analysis</a:t>
            </a:r>
            <a:r>
              <a:rPr sz="1550" b="1" spc="6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/</a:t>
            </a:r>
            <a:r>
              <a:rPr sz="1550" b="1" spc="100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25" dirty="0">
                <a:solidFill>
                  <a:srgbClr val="1B4D3D"/>
                </a:solidFill>
                <a:latin typeface="Calibri"/>
                <a:cs typeface="Calibri"/>
              </a:rPr>
              <a:t>EDA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249164" y="2989897"/>
            <a:ext cx="1605280" cy="1101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13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engineered features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capturing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temporal</a:t>
            </a:r>
            <a:r>
              <a:rPr sz="14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lags,</a:t>
            </a:r>
            <a:r>
              <a:rPr sz="14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rolling statistics,</a:t>
            </a:r>
            <a:r>
              <a:rPr sz="1400" spc="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and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atmospheric</a:t>
            </a:r>
            <a:r>
              <a:rPr sz="14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changes.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085076" y="1465325"/>
            <a:ext cx="2251075" cy="3441700"/>
            <a:chOff x="7085076" y="1465325"/>
            <a:chExt cx="2251075" cy="3441700"/>
          </a:xfrm>
        </p:grpSpPr>
        <p:sp>
          <p:nvSpPr>
            <p:cNvPr id="36" name="object 36"/>
            <p:cNvSpPr/>
            <p:nvPr/>
          </p:nvSpPr>
          <p:spPr>
            <a:xfrm>
              <a:off x="7091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049" y="0"/>
                  </a:moveTo>
                  <a:lnTo>
                    <a:pt x="138049" y="68961"/>
                  </a:lnTo>
                  <a:lnTo>
                    <a:pt x="0" y="68961"/>
                  </a:lnTo>
                  <a:lnTo>
                    <a:pt x="0" y="207137"/>
                  </a:lnTo>
                  <a:lnTo>
                    <a:pt x="138049" y="207137"/>
                  </a:lnTo>
                  <a:lnTo>
                    <a:pt x="138049" y="276225"/>
                  </a:lnTo>
                  <a:lnTo>
                    <a:pt x="276225" y="138049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91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68961"/>
                  </a:moveTo>
                  <a:lnTo>
                    <a:pt x="138049" y="68961"/>
                  </a:lnTo>
                  <a:lnTo>
                    <a:pt x="138049" y="0"/>
                  </a:lnTo>
                  <a:lnTo>
                    <a:pt x="276225" y="138049"/>
                  </a:lnTo>
                  <a:lnTo>
                    <a:pt x="138049" y="276225"/>
                  </a:lnTo>
                  <a:lnTo>
                    <a:pt x="138049" y="207137"/>
                  </a:lnTo>
                  <a:lnTo>
                    <a:pt x="0" y="207137"/>
                  </a:lnTo>
                  <a:lnTo>
                    <a:pt x="0" y="68961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415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1805051" y="0"/>
                  </a:moveTo>
                  <a:lnTo>
                    <a:pt x="109347" y="0"/>
                  </a:lnTo>
                  <a:lnTo>
                    <a:pt x="66758" y="8584"/>
                  </a:lnTo>
                  <a:lnTo>
                    <a:pt x="32004" y="32004"/>
                  </a:lnTo>
                  <a:lnTo>
                    <a:pt x="8584" y="66758"/>
                  </a:lnTo>
                  <a:lnTo>
                    <a:pt x="0" y="109347"/>
                  </a:lnTo>
                  <a:lnTo>
                    <a:pt x="0" y="3319526"/>
                  </a:lnTo>
                  <a:lnTo>
                    <a:pt x="8584" y="3362114"/>
                  </a:lnTo>
                  <a:lnTo>
                    <a:pt x="32003" y="3396869"/>
                  </a:lnTo>
                  <a:lnTo>
                    <a:pt x="66758" y="3420288"/>
                  </a:lnTo>
                  <a:lnTo>
                    <a:pt x="109347" y="3428873"/>
                  </a:lnTo>
                  <a:lnTo>
                    <a:pt x="1805051" y="3428873"/>
                  </a:lnTo>
                  <a:lnTo>
                    <a:pt x="1847659" y="3420288"/>
                  </a:lnTo>
                  <a:lnTo>
                    <a:pt x="1882457" y="3396869"/>
                  </a:lnTo>
                  <a:lnTo>
                    <a:pt x="1905920" y="3362114"/>
                  </a:lnTo>
                  <a:lnTo>
                    <a:pt x="1914525" y="3319526"/>
                  </a:lnTo>
                  <a:lnTo>
                    <a:pt x="1914525" y="109347"/>
                  </a:lnTo>
                  <a:lnTo>
                    <a:pt x="1905920" y="66758"/>
                  </a:lnTo>
                  <a:lnTo>
                    <a:pt x="1882457" y="32004"/>
                  </a:lnTo>
                  <a:lnTo>
                    <a:pt x="1847659" y="8584"/>
                  </a:lnTo>
                  <a:lnTo>
                    <a:pt x="1805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415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0" y="109347"/>
                  </a:moveTo>
                  <a:lnTo>
                    <a:pt x="8584" y="66758"/>
                  </a:lnTo>
                  <a:lnTo>
                    <a:pt x="32004" y="32004"/>
                  </a:lnTo>
                  <a:lnTo>
                    <a:pt x="66758" y="8584"/>
                  </a:lnTo>
                  <a:lnTo>
                    <a:pt x="109347" y="0"/>
                  </a:lnTo>
                  <a:lnTo>
                    <a:pt x="1805051" y="0"/>
                  </a:lnTo>
                  <a:lnTo>
                    <a:pt x="1847659" y="8584"/>
                  </a:lnTo>
                  <a:lnTo>
                    <a:pt x="1882457" y="32004"/>
                  </a:lnTo>
                  <a:lnTo>
                    <a:pt x="1905920" y="66758"/>
                  </a:lnTo>
                  <a:lnTo>
                    <a:pt x="1914525" y="109347"/>
                  </a:lnTo>
                  <a:lnTo>
                    <a:pt x="1914525" y="3319526"/>
                  </a:lnTo>
                  <a:lnTo>
                    <a:pt x="1905920" y="3362114"/>
                  </a:lnTo>
                  <a:lnTo>
                    <a:pt x="1882457" y="3396869"/>
                  </a:lnTo>
                  <a:lnTo>
                    <a:pt x="1847659" y="3420288"/>
                  </a:lnTo>
                  <a:lnTo>
                    <a:pt x="1805051" y="3428873"/>
                  </a:lnTo>
                  <a:lnTo>
                    <a:pt x="109347" y="3428873"/>
                  </a:lnTo>
                  <a:lnTo>
                    <a:pt x="66758" y="3420288"/>
                  </a:lnTo>
                  <a:lnTo>
                    <a:pt x="32003" y="3396869"/>
                  </a:lnTo>
                  <a:lnTo>
                    <a:pt x="8584" y="3362114"/>
                  </a:lnTo>
                  <a:lnTo>
                    <a:pt x="0" y="3319526"/>
                  </a:lnTo>
                  <a:lnTo>
                    <a:pt x="0" y="109347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053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053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 descr="Step icon 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10550" y="1847849"/>
              <a:ext cx="314325" cy="32385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7509509" y="1552511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40916C"/>
                </a:solidFill>
                <a:latin typeface="Cambria"/>
                <a:cs typeface="Cambria"/>
              </a:rPr>
              <a:t>4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958455" y="2495867"/>
            <a:ext cx="826769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1B4D3D"/>
                </a:solidFill>
                <a:latin typeface="Calibri"/>
                <a:cs typeface="Calibri"/>
              </a:rPr>
              <a:t>Modeling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536815" y="2989897"/>
            <a:ext cx="1561465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105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Quantile</a:t>
            </a:r>
            <a:r>
              <a:rPr sz="1400" spc="-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LightGBM Regressors</a:t>
            </a:r>
            <a:r>
              <a:rPr sz="14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with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Split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Conformal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Prediction calibration.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9371076" y="1465325"/>
            <a:ext cx="2251075" cy="3441700"/>
            <a:chOff x="9371076" y="1465325"/>
            <a:chExt cx="2251075" cy="3441700"/>
          </a:xfrm>
        </p:grpSpPr>
        <p:sp>
          <p:nvSpPr>
            <p:cNvPr id="47" name="object 47"/>
            <p:cNvSpPr/>
            <p:nvPr/>
          </p:nvSpPr>
          <p:spPr>
            <a:xfrm>
              <a:off x="9377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138049" y="0"/>
                  </a:moveTo>
                  <a:lnTo>
                    <a:pt x="138049" y="68961"/>
                  </a:lnTo>
                  <a:lnTo>
                    <a:pt x="0" y="68961"/>
                  </a:lnTo>
                  <a:lnTo>
                    <a:pt x="0" y="207137"/>
                  </a:lnTo>
                  <a:lnTo>
                    <a:pt x="138049" y="207137"/>
                  </a:lnTo>
                  <a:lnTo>
                    <a:pt x="138049" y="276225"/>
                  </a:lnTo>
                  <a:lnTo>
                    <a:pt x="276225" y="138049"/>
                  </a:lnTo>
                  <a:lnTo>
                    <a:pt x="138049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377426" y="3024250"/>
              <a:ext cx="276225" cy="276225"/>
            </a:xfrm>
            <a:custGeom>
              <a:avLst/>
              <a:gdLst/>
              <a:ahLst/>
              <a:cxnLst/>
              <a:rect l="l" t="t" r="r" b="b"/>
              <a:pathLst>
                <a:path w="276225" h="276225">
                  <a:moveTo>
                    <a:pt x="0" y="68961"/>
                  </a:moveTo>
                  <a:lnTo>
                    <a:pt x="138049" y="68961"/>
                  </a:lnTo>
                  <a:lnTo>
                    <a:pt x="138049" y="0"/>
                  </a:lnTo>
                  <a:lnTo>
                    <a:pt x="276225" y="138049"/>
                  </a:lnTo>
                  <a:lnTo>
                    <a:pt x="138049" y="276225"/>
                  </a:lnTo>
                  <a:lnTo>
                    <a:pt x="138049" y="207137"/>
                  </a:lnTo>
                  <a:lnTo>
                    <a:pt x="0" y="207137"/>
                  </a:lnTo>
                  <a:lnTo>
                    <a:pt x="0" y="68961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701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1805051" y="0"/>
                  </a:moveTo>
                  <a:lnTo>
                    <a:pt x="109347" y="0"/>
                  </a:lnTo>
                  <a:lnTo>
                    <a:pt x="66758" y="8584"/>
                  </a:lnTo>
                  <a:lnTo>
                    <a:pt x="32004" y="32004"/>
                  </a:lnTo>
                  <a:lnTo>
                    <a:pt x="8584" y="66758"/>
                  </a:lnTo>
                  <a:lnTo>
                    <a:pt x="0" y="109347"/>
                  </a:lnTo>
                  <a:lnTo>
                    <a:pt x="0" y="3319526"/>
                  </a:lnTo>
                  <a:lnTo>
                    <a:pt x="8584" y="3362114"/>
                  </a:lnTo>
                  <a:lnTo>
                    <a:pt x="32003" y="3396869"/>
                  </a:lnTo>
                  <a:lnTo>
                    <a:pt x="66758" y="3420288"/>
                  </a:lnTo>
                  <a:lnTo>
                    <a:pt x="109347" y="3428873"/>
                  </a:lnTo>
                  <a:lnTo>
                    <a:pt x="1805051" y="3428873"/>
                  </a:lnTo>
                  <a:lnTo>
                    <a:pt x="1847659" y="3420288"/>
                  </a:lnTo>
                  <a:lnTo>
                    <a:pt x="1882457" y="3396869"/>
                  </a:lnTo>
                  <a:lnTo>
                    <a:pt x="1905920" y="3362114"/>
                  </a:lnTo>
                  <a:lnTo>
                    <a:pt x="1914525" y="3319526"/>
                  </a:lnTo>
                  <a:lnTo>
                    <a:pt x="1914525" y="109347"/>
                  </a:lnTo>
                  <a:lnTo>
                    <a:pt x="1905920" y="66758"/>
                  </a:lnTo>
                  <a:lnTo>
                    <a:pt x="1882457" y="32004"/>
                  </a:lnTo>
                  <a:lnTo>
                    <a:pt x="1847659" y="8584"/>
                  </a:lnTo>
                  <a:lnTo>
                    <a:pt x="18050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701276" y="1471675"/>
              <a:ext cx="1914525" cy="3429000"/>
            </a:xfrm>
            <a:custGeom>
              <a:avLst/>
              <a:gdLst/>
              <a:ahLst/>
              <a:cxnLst/>
              <a:rect l="l" t="t" r="r" b="b"/>
              <a:pathLst>
                <a:path w="1914525" h="3429000">
                  <a:moveTo>
                    <a:pt x="0" y="109347"/>
                  </a:moveTo>
                  <a:lnTo>
                    <a:pt x="8584" y="66758"/>
                  </a:lnTo>
                  <a:lnTo>
                    <a:pt x="32004" y="32004"/>
                  </a:lnTo>
                  <a:lnTo>
                    <a:pt x="66758" y="8584"/>
                  </a:lnTo>
                  <a:lnTo>
                    <a:pt x="109347" y="0"/>
                  </a:lnTo>
                  <a:lnTo>
                    <a:pt x="1805051" y="0"/>
                  </a:lnTo>
                  <a:lnTo>
                    <a:pt x="1847659" y="8584"/>
                  </a:lnTo>
                  <a:lnTo>
                    <a:pt x="1882457" y="32004"/>
                  </a:lnTo>
                  <a:lnTo>
                    <a:pt x="1905920" y="66758"/>
                  </a:lnTo>
                  <a:lnTo>
                    <a:pt x="1914525" y="109347"/>
                  </a:lnTo>
                  <a:lnTo>
                    <a:pt x="1914525" y="3319526"/>
                  </a:lnTo>
                  <a:lnTo>
                    <a:pt x="1905920" y="3362114"/>
                  </a:lnTo>
                  <a:lnTo>
                    <a:pt x="1882457" y="3396869"/>
                  </a:lnTo>
                  <a:lnTo>
                    <a:pt x="1847659" y="3420288"/>
                  </a:lnTo>
                  <a:lnTo>
                    <a:pt x="1805051" y="3428873"/>
                  </a:lnTo>
                  <a:lnTo>
                    <a:pt x="109347" y="3428873"/>
                  </a:lnTo>
                  <a:lnTo>
                    <a:pt x="66758" y="3420288"/>
                  </a:lnTo>
                  <a:lnTo>
                    <a:pt x="32003" y="3396869"/>
                  </a:lnTo>
                  <a:lnTo>
                    <a:pt x="8584" y="3362114"/>
                  </a:lnTo>
                  <a:lnTo>
                    <a:pt x="0" y="3319526"/>
                  </a:lnTo>
                  <a:lnTo>
                    <a:pt x="0" y="109347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339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319024" y="0"/>
                  </a:moveTo>
                  <a:lnTo>
                    <a:pt x="271862" y="3457"/>
                  </a:lnTo>
                  <a:lnTo>
                    <a:pt x="226855" y="13500"/>
                  </a:lnTo>
                  <a:lnTo>
                    <a:pt x="184495" y="29637"/>
                  </a:lnTo>
                  <a:lnTo>
                    <a:pt x="145275" y="51375"/>
                  </a:lnTo>
                  <a:lnTo>
                    <a:pt x="109686" y="78222"/>
                  </a:lnTo>
                  <a:lnTo>
                    <a:pt x="78222" y="109686"/>
                  </a:lnTo>
                  <a:lnTo>
                    <a:pt x="51375" y="145275"/>
                  </a:lnTo>
                  <a:lnTo>
                    <a:pt x="29637" y="184495"/>
                  </a:lnTo>
                  <a:lnTo>
                    <a:pt x="13500" y="226855"/>
                  </a:lnTo>
                  <a:lnTo>
                    <a:pt x="3457" y="271862"/>
                  </a:lnTo>
                  <a:lnTo>
                    <a:pt x="0" y="319024"/>
                  </a:lnTo>
                  <a:lnTo>
                    <a:pt x="3457" y="366188"/>
                  </a:lnTo>
                  <a:lnTo>
                    <a:pt x="13500" y="411204"/>
                  </a:lnTo>
                  <a:lnTo>
                    <a:pt x="29637" y="453575"/>
                  </a:lnTo>
                  <a:lnTo>
                    <a:pt x="51375" y="492811"/>
                  </a:lnTo>
                  <a:lnTo>
                    <a:pt x="78222" y="528416"/>
                  </a:lnTo>
                  <a:lnTo>
                    <a:pt x="109686" y="559897"/>
                  </a:lnTo>
                  <a:lnTo>
                    <a:pt x="145275" y="586761"/>
                  </a:lnTo>
                  <a:lnTo>
                    <a:pt x="184495" y="608514"/>
                  </a:lnTo>
                  <a:lnTo>
                    <a:pt x="226855" y="624663"/>
                  </a:lnTo>
                  <a:lnTo>
                    <a:pt x="271862" y="634714"/>
                  </a:lnTo>
                  <a:lnTo>
                    <a:pt x="319024" y="638175"/>
                  </a:lnTo>
                  <a:lnTo>
                    <a:pt x="366188" y="634714"/>
                  </a:lnTo>
                  <a:lnTo>
                    <a:pt x="411204" y="624663"/>
                  </a:lnTo>
                  <a:lnTo>
                    <a:pt x="453575" y="608514"/>
                  </a:lnTo>
                  <a:lnTo>
                    <a:pt x="492811" y="586761"/>
                  </a:lnTo>
                  <a:lnTo>
                    <a:pt x="528416" y="559897"/>
                  </a:lnTo>
                  <a:lnTo>
                    <a:pt x="559897" y="528416"/>
                  </a:lnTo>
                  <a:lnTo>
                    <a:pt x="586761" y="492811"/>
                  </a:lnTo>
                  <a:lnTo>
                    <a:pt x="608514" y="453575"/>
                  </a:lnTo>
                  <a:lnTo>
                    <a:pt x="624663" y="411204"/>
                  </a:lnTo>
                  <a:lnTo>
                    <a:pt x="634714" y="366188"/>
                  </a:lnTo>
                  <a:lnTo>
                    <a:pt x="638175" y="319024"/>
                  </a:lnTo>
                  <a:lnTo>
                    <a:pt x="634714" y="271862"/>
                  </a:lnTo>
                  <a:lnTo>
                    <a:pt x="624663" y="226855"/>
                  </a:lnTo>
                  <a:lnTo>
                    <a:pt x="608514" y="184495"/>
                  </a:lnTo>
                  <a:lnTo>
                    <a:pt x="586761" y="145275"/>
                  </a:lnTo>
                  <a:lnTo>
                    <a:pt x="559897" y="109686"/>
                  </a:lnTo>
                  <a:lnTo>
                    <a:pt x="528416" y="78222"/>
                  </a:lnTo>
                  <a:lnTo>
                    <a:pt x="492811" y="51375"/>
                  </a:lnTo>
                  <a:lnTo>
                    <a:pt x="453575" y="29637"/>
                  </a:lnTo>
                  <a:lnTo>
                    <a:pt x="411204" y="13500"/>
                  </a:lnTo>
                  <a:lnTo>
                    <a:pt x="366188" y="3457"/>
                  </a:lnTo>
                  <a:lnTo>
                    <a:pt x="319024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0339451" y="1700275"/>
              <a:ext cx="638175" cy="638175"/>
            </a:xfrm>
            <a:custGeom>
              <a:avLst/>
              <a:gdLst/>
              <a:ahLst/>
              <a:cxnLst/>
              <a:rect l="l" t="t" r="r" b="b"/>
              <a:pathLst>
                <a:path w="638175" h="638175">
                  <a:moveTo>
                    <a:pt x="0" y="319024"/>
                  </a:moveTo>
                  <a:lnTo>
                    <a:pt x="3457" y="271862"/>
                  </a:lnTo>
                  <a:lnTo>
                    <a:pt x="13500" y="226855"/>
                  </a:lnTo>
                  <a:lnTo>
                    <a:pt x="29637" y="184495"/>
                  </a:lnTo>
                  <a:lnTo>
                    <a:pt x="51375" y="145275"/>
                  </a:lnTo>
                  <a:lnTo>
                    <a:pt x="78222" y="109686"/>
                  </a:lnTo>
                  <a:lnTo>
                    <a:pt x="109686" y="78222"/>
                  </a:lnTo>
                  <a:lnTo>
                    <a:pt x="145275" y="51375"/>
                  </a:lnTo>
                  <a:lnTo>
                    <a:pt x="184495" y="29637"/>
                  </a:lnTo>
                  <a:lnTo>
                    <a:pt x="226855" y="13500"/>
                  </a:lnTo>
                  <a:lnTo>
                    <a:pt x="271862" y="3457"/>
                  </a:lnTo>
                  <a:lnTo>
                    <a:pt x="319024" y="0"/>
                  </a:lnTo>
                  <a:lnTo>
                    <a:pt x="366188" y="3457"/>
                  </a:lnTo>
                  <a:lnTo>
                    <a:pt x="411204" y="13500"/>
                  </a:lnTo>
                  <a:lnTo>
                    <a:pt x="453575" y="29637"/>
                  </a:lnTo>
                  <a:lnTo>
                    <a:pt x="492811" y="51375"/>
                  </a:lnTo>
                  <a:lnTo>
                    <a:pt x="528416" y="78222"/>
                  </a:lnTo>
                  <a:lnTo>
                    <a:pt x="559897" y="109686"/>
                  </a:lnTo>
                  <a:lnTo>
                    <a:pt x="586761" y="145275"/>
                  </a:lnTo>
                  <a:lnTo>
                    <a:pt x="608514" y="184495"/>
                  </a:lnTo>
                  <a:lnTo>
                    <a:pt x="624663" y="226855"/>
                  </a:lnTo>
                  <a:lnTo>
                    <a:pt x="634714" y="271862"/>
                  </a:lnTo>
                  <a:lnTo>
                    <a:pt x="638175" y="319024"/>
                  </a:lnTo>
                  <a:lnTo>
                    <a:pt x="634714" y="366188"/>
                  </a:lnTo>
                  <a:lnTo>
                    <a:pt x="624663" y="411204"/>
                  </a:lnTo>
                  <a:lnTo>
                    <a:pt x="608514" y="453575"/>
                  </a:lnTo>
                  <a:lnTo>
                    <a:pt x="586761" y="492811"/>
                  </a:lnTo>
                  <a:lnTo>
                    <a:pt x="559897" y="528416"/>
                  </a:lnTo>
                  <a:lnTo>
                    <a:pt x="528416" y="559897"/>
                  </a:lnTo>
                  <a:lnTo>
                    <a:pt x="492811" y="586761"/>
                  </a:lnTo>
                  <a:lnTo>
                    <a:pt x="453575" y="608514"/>
                  </a:lnTo>
                  <a:lnTo>
                    <a:pt x="411204" y="624663"/>
                  </a:lnTo>
                  <a:lnTo>
                    <a:pt x="366188" y="634714"/>
                  </a:lnTo>
                  <a:lnTo>
                    <a:pt x="319024" y="638175"/>
                  </a:lnTo>
                  <a:lnTo>
                    <a:pt x="271862" y="634714"/>
                  </a:lnTo>
                  <a:lnTo>
                    <a:pt x="226855" y="624663"/>
                  </a:lnTo>
                  <a:lnTo>
                    <a:pt x="184495" y="608514"/>
                  </a:lnTo>
                  <a:lnTo>
                    <a:pt x="145275" y="586761"/>
                  </a:lnTo>
                  <a:lnTo>
                    <a:pt x="109686" y="559897"/>
                  </a:lnTo>
                  <a:lnTo>
                    <a:pt x="78222" y="528416"/>
                  </a:lnTo>
                  <a:lnTo>
                    <a:pt x="51375" y="492811"/>
                  </a:lnTo>
                  <a:lnTo>
                    <a:pt x="29637" y="453575"/>
                  </a:lnTo>
                  <a:lnTo>
                    <a:pt x="13500" y="411204"/>
                  </a:lnTo>
                  <a:lnTo>
                    <a:pt x="3457" y="366188"/>
                  </a:lnTo>
                  <a:lnTo>
                    <a:pt x="0" y="319024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 descr="Step icon 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96550" y="1847849"/>
              <a:ext cx="314325" cy="32385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9797033" y="1552511"/>
            <a:ext cx="1441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50" dirty="0">
                <a:solidFill>
                  <a:srgbClr val="40916C"/>
                </a:solidFill>
                <a:latin typeface="Cambria"/>
                <a:cs typeface="Cambria"/>
              </a:rPr>
              <a:t>5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927208" y="2495867"/>
            <a:ext cx="146939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Dashboard</a:t>
            </a:r>
            <a:r>
              <a:rPr sz="1550" b="1" spc="9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1B4D3D"/>
                </a:solidFill>
                <a:latin typeface="Calibri"/>
                <a:cs typeface="Calibri"/>
              </a:rPr>
              <a:t>/</a:t>
            </a:r>
            <a:r>
              <a:rPr sz="1550" b="1" spc="12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1550" b="1" spc="-25" dirty="0">
                <a:solidFill>
                  <a:srgbClr val="1B4D3D"/>
                </a:solidFill>
                <a:latin typeface="Calibri"/>
                <a:cs typeface="Calibri"/>
              </a:rPr>
              <a:t>App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9824719" y="2989897"/>
            <a:ext cx="1623060" cy="891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105"/>
              </a:spcBef>
            </a:pP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Interactive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Streamlit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app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featuring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RAG-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based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advice</a:t>
            </a:r>
            <a:r>
              <a:rPr sz="14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and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operational</a:t>
            </a:r>
            <a:r>
              <a:rPr sz="1400" spc="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risk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cards.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550862" y="5161026"/>
            <a:ext cx="11071860" cy="1069975"/>
            <a:chOff x="550862" y="5161026"/>
            <a:chExt cx="11071860" cy="1069975"/>
          </a:xfrm>
        </p:grpSpPr>
        <p:sp>
          <p:nvSpPr>
            <p:cNvPr id="58" name="object 58"/>
            <p:cNvSpPr/>
            <p:nvPr/>
          </p:nvSpPr>
          <p:spPr>
            <a:xfrm>
              <a:off x="557212" y="5167376"/>
              <a:ext cx="11059160" cy="1057275"/>
            </a:xfrm>
            <a:custGeom>
              <a:avLst/>
              <a:gdLst/>
              <a:ahLst/>
              <a:cxnLst/>
              <a:rect l="l" t="t" r="r" b="b"/>
              <a:pathLst>
                <a:path w="11059160" h="1057275">
                  <a:moveTo>
                    <a:pt x="10948225" y="0"/>
                  </a:moveTo>
                  <a:lnTo>
                    <a:pt x="110337" y="0"/>
                  </a:lnTo>
                  <a:lnTo>
                    <a:pt x="67390" y="8651"/>
                  </a:lnTo>
                  <a:lnTo>
                    <a:pt x="32318" y="32257"/>
                  </a:lnTo>
                  <a:lnTo>
                    <a:pt x="8671" y="67294"/>
                  </a:lnTo>
                  <a:lnTo>
                    <a:pt x="0" y="110236"/>
                  </a:lnTo>
                  <a:lnTo>
                    <a:pt x="0" y="946886"/>
                  </a:lnTo>
                  <a:lnTo>
                    <a:pt x="8671" y="989826"/>
                  </a:lnTo>
                  <a:lnTo>
                    <a:pt x="32318" y="1024894"/>
                  </a:lnTo>
                  <a:lnTo>
                    <a:pt x="67390" y="1048540"/>
                  </a:lnTo>
                  <a:lnTo>
                    <a:pt x="110337" y="1057211"/>
                  </a:lnTo>
                  <a:lnTo>
                    <a:pt x="10948225" y="1057211"/>
                  </a:lnTo>
                  <a:lnTo>
                    <a:pt x="10991187" y="1048540"/>
                  </a:lnTo>
                  <a:lnTo>
                    <a:pt x="11026267" y="1024894"/>
                  </a:lnTo>
                  <a:lnTo>
                    <a:pt x="11049916" y="989826"/>
                  </a:lnTo>
                  <a:lnTo>
                    <a:pt x="11058588" y="946886"/>
                  </a:lnTo>
                  <a:lnTo>
                    <a:pt x="11058588" y="110236"/>
                  </a:lnTo>
                  <a:lnTo>
                    <a:pt x="11049916" y="67294"/>
                  </a:lnTo>
                  <a:lnTo>
                    <a:pt x="11026267" y="32257"/>
                  </a:lnTo>
                  <a:lnTo>
                    <a:pt x="10991187" y="8651"/>
                  </a:lnTo>
                  <a:lnTo>
                    <a:pt x="10948225" y="0"/>
                  </a:lnTo>
                  <a:close/>
                </a:path>
              </a:pathLst>
            </a:custGeom>
            <a:solidFill>
              <a:srgbClr val="1B4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557212" y="5167376"/>
              <a:ext cx="11059160" cy="1057275"/>
            </a:xfrm>
            <a:custGeom>
              <a:avLst/>
              <a:gdLst/>
              <a:ahLst/>
              <a:cxnLst/>
              <a:rect l="l" t="t" r="r" b="b"/>
              <a:pathLst>
                <a:path w="11059160" h="1057275">
                  <a:moveTo>
                    <a:pt x="0" y="110236"/>
                  </a:moveTo>
                  <a:lnTo>
                    <a:pt x="8671" y="67294"/>
                  </a:lnTo>
                  <a:lnTo>
                    <a:pt x="32318" y="32257"/>
                  </a:lnTo>
                  <a:lnTo>
                    <a:pt x="67390" y="8651"/>
                  </a:lnTo>
                  <a:lnTo>
                    <a:pt x="110337" y="0"/>
                  </a:lnTo>
                  <a:lnTo>
                    <a:pt x="10948225" y="0"/>
                  </a:lnTo>
                  <a:lnTo>
                    <a:pt x="10991187" y="8651"/>
                  </a:lnTo>
                  <a:lnTo>
                    <a:pt x="11026267" y="32257"/>
                  </a:lnTo>
                  <a:lnTo>
                    <a:pt x="11049916" y="67294"/>
                  </a:lnTo>
                  <a:lnTo>
                    <a:pt x="11058588" y="110236"/>
                  </a:lnTo>
                  <a:lnTo>
                    <a:pt x="11058588" y="946886"/>
                  </a:lnTo>
                  <a:lnTo>
                    <a:pt x="11049916" y="989826"/>
                  </a:lnTo>
                  <a:lnTo>
                    <a:pt x="11026267" y="1024894"/>
                  </a:lnTo>
                  <a:lnTo>
                    <a:pt x="10991187" y="1048540"/>
                  </a:lnTo>
                  <a:lnTo>
                    <a:pt x="10948225" y="1057211"/>
                  </a:lnTo>
                  <a:lnTo>
                    <a:pt x="110337" y="1057211"/>
                  </a:lnTo>
                  <a:lnTo>
                    <a:pt x="67390" y="1048540"/>
                  </a:lnTo>
                  <a:lnTo>
                    <a:pt x="32318" y="1024894"/>
                  </a:lnTo>
                  <a:lnTo>
                    <a:pt x="8671" y="989826"/>
                  </a:lnTo>
                  <a:lnTo>
                    <a:pt x="0" y="946886"/>
                  </a:lnTo>
                  <a:lnTo>
                    <a:pt x="0" y="110236"/>
                  </a:lnTo>
                  <a:close/>
                </a:path>
              </a:pathLst>
            </a:custGeom>
            <a:ln w="12699">
              <a:solidFill>
                <a:srgbClr val="1B4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856614" y="5203942"/>
            <a:ext cx="9592310" cy="6959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O</a:t>
            </a:r>
            <a:r>
              <a:rPr sz="1200" b="1" spc="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N</a:t>
            </a:r>
            <a:r>
              <a:rPr sz="1200" b="1" spc="-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E</a:t>
            </a:r>
            <a:r>
              <a:rPr sz="1200" b="1" spc="180" dirty="0">
                <a:solidFill>
                  <a:srgbClr val="B7E3C6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L</a:t>
            </a:r>
            <a:r>
              <a:rPr sz="1200" b="1" spc="4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I</a:t>
            </a:r>
            <a:r>
              <a:rPr sz="1200" b="1" spc="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N</a:t>
            </a:r>
            <a:r>
              <a:rPr sz="1200" b="1" spc="6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E</a:t>
            </a:r>
            <a:r>
              <a:rPr sz="1200" b="1" spc="140" dirty="0">
                <a:solidFill>
                  <a:srgbClr val="B7E3C6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S</a:t>
            </a:r>
            <a:r>
              <a:rPr sz="1200" b="1" spc="6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U</a:t>
            </a:r>
            <a:r>
              <a:rPr sz="1200" b="1" spc="-1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M</a:t>
            </a:r>
            <a:r>
              <a:rPr sz="1200" b="1" spc="3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M</a:t>
            </a:r>
            <a:r>
              <a:rPr sz="1200" b="1" spc="2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A</a:t>
            </a:r>
            <a:r>
              <a:rPr sz="1200" b="1" spc="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R</a:t>
            </a:r>
            <a:r>
              <a:rPr sz="1200" b="1" spc="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B7E3C6"/>
                </a:solidFill>
                <a:latin typeface="Calibri"/>
                <a:cs typeface="Calibri"/>
              </a:rPr>
              <a:t>Y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Raw API</a:t>
            </a:r>
            <a:r>
              <a:rPr sz="1800" i="1" spc="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weather</a:t>
            </a:r>
            <a:r>
              <a:rPr sz="1800" i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800" i="1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→</a:t>
            </a:r>
            <a:r>
              <a:rPr sz="18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Calibrated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 uncertainty</a:t>
            </a:r>
            <a:r>
              <a:rPr sz="1800" i="1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bounds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 evidence-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cited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 emergency</a:t>
            </a:r>
            <a:r>
              <a:rPr sz="1800" i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guidance</a:t>
            </a:r>
            <a:r>
              <a:rPr sz="1800" i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out.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6257" y="6448742"/>
            <a:ext cx="35579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HackInsight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2026</a:t>
            </a:r>
            <a:r>
              <a:rPr sz="950" spc="409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|</a:t>
            </a:r>
            <a:r>
              <a:rPr sz="950" spc="36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Heatwave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Risk</a:t>
            </a:r>
            <a:r>
              <a:rPr sz="950" spc="8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Prediction</a:t>
            </a:r>
            <a:r>
              <a:rPr sz="950" spc="9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&amp;</a:t>
            </a:r>
            <a:r>
              <a:rPr sz="950" spc="9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Climate</a:t>
            </a:r>
            <a:r>
              <a:rPr sz="950" spc="1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C6A4F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242929" y="6433502"/>
            <a:ext cx="882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2C6A4F"/>
                </a:solidFill>
                <a:latin typeface="Calibri"/>
                <a:cs typeface="Calibri"/>
              </a:rPr>
              <a:t>4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0941" rIns="0" bIns="0" rtlCol="0">
            <a:spAutoFit/>
          </a:bodyPr>
          <a:lstStyle/>
          <a:p>
            <a:pPr marL="3103245">
              <a:lnSpc>
                <a:spcPct val="100000"/>
              </a:lnSpc>
              <a:spcBef>
                <a:spcPts val="130"/>
              </a:spcBef>
            </a:pPr>
            <a:r>
              <a:rPr dirty="0"/>
              <a:t>Pipeline</a:t>
            </a:r>
            <a:r>
              <a:rPr spc="90" dirty="0"/>
              <a:t> </a:t>
            </a:r>
            <a:r>
              <a:rPr dirty="0"/>
              <a:t>Details</a:t>
            </a:r>
            <a:r>
              <a:rPr spc="90" dirty="0"/>
              <a:t> </a:t>
            </a:r>
            <a:r>
              <a:rPr dirty="0"/>
              <a:t>&amp;</a:t>
            </a:r>
            <a:r>
              <a:rPr spc="55" dirty="0"/>
              <a:t> </a:t>
            </a:r>
            <a:r>
              <a:rPr spc="-10" dirty="0"/>
              <a:t>Tools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435342"/>
              </p:ext>
            </p:extLst>
          </p:nvPr>
        </p:nvGraphicFramePr>
        <p:xfrm>
          <a:off x="542290" y="1456689"/>
          <a:ext cx="11064240" cy="468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2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005">
                <a:tc>
                  <a:txBody>
                    <a:bodyPr/>
                    <a:lstStyle/>
                    <a:p>
                      <a:pPr marL="137160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Stage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1B4D3D"/>
                    </a:solidFill>
                  </a:tcPr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Tools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5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Libraries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1B4D3D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121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What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we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did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5430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1B4D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Collection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212090">
                        <a:lnSpc>
                          <a:spcPct val="102800"/>
                        </a:lnSpc>
                        <a:spcBef>
                          <a:spcPts val="1410"/>
                        </a:spcBef>
                      </a:pP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Python,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1400" dirty="0"/>
                        <a:t>HTTPX,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Open-</a:t>
                      </a:r>
                      <a:r>
                        <a:rPr sz="1400" dirty="0" err="1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Meteo</a:t>
                      </a:r>
                      <a:r>
                        <a:rPr sz="1400" spc="-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API,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NASA</a:t>
                      </a:r>
                      <a:r>
                        <a:rPr sz="1400" spc="-3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POWER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779780">
                        <a:lnSpc>
                          <a:spcPct val="102800"/>
                        </a:lnSpc>
                        <a:spcBef>
                          <a:spcPts val="1410"/>
                        </a:spcBef>
                      </a:pPr>
                      <a:r>
                        <a:rPr lang="en-US" sz="1400" dirty="0"/>
                        <a:t>Ingested hourly historical and recent climate parameters for the four cities, with retries, raw JSON storage and a SHA-256 manifest.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Preprocessing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Pandas,</a:t>
                      </a:r>
                      <a:r>
                        <a:rPr sz="1400" spc="-6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2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PyArrow,</a:t>
                      </a:r>
                      <a:r>
                        <a:rPr sz="1400" spc="-55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Parquet</a:t>
                      </a:r>
                      <a:r>
                        <a:rPr lang="en-US" sz="1400" spc="-1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Pandera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358140">
                        <a:lnSpc>
                          <a:spcPct val="102800"/>
                        </a:lnSpc>
                        <a:spcBef>
                          <a:spcPts val="1420"/>
                        </a:spcBef>
                      </a:pPr>
                      <a:r>
                        <a:rPr lang="en-US" sz="1400" dirty="0"/>
                        <a:t>Validated and cleaned the data, converted timestamps to Pakistan time, and logged every Data Quality Agent decision.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8034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r>
                        <a:rPr sz="1400" b="1" spc="-15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50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EDA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lang="en-US" sz="1400" dirty="0"/>
                        <a:t>NumPy, Pandas, </a:t>
                      </a:r>
                      <a:r>
                        <a:rPr lang="en-US" sz="1400" dirty="0" err="1"/>
                        <a:t>DuckDB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500380">
                        <a:lnSpc>
                          <a:spcPct val="102899"/>
                        </a:lnSpc>
                        <a:spcBef>
                          <a:spcPts val="585"/>
                        </a:spcBef>
                      </a:pPr>
                      <a:r>
                        <a:rPr lang="en-US" sz="1400" dirty="0"/>
                        <a:t>Calculated the heat index and engineered features (temporal lags, atmospheric changes, city codes). Stored results in a </a:t>
                      </a:r>
                      <a:r>
                        <a:rPr lang="en-US" sz="1400" dirty="0" err="1"/>
                        <a:t>DuckDB</a:t>
                      </a:r>
                      <a:r>
                        <a:rPr lang="en-US" sz="1400" dirty="0"/>
                        <a:t> warehouse.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Modeling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139065" marR="829310">
                        <a:lnSpc>
                          <a:spcPct val="102899"/>
                        </a:lnSpc>
                        <a:spcBef>
                          <a:spcPts val="1435"/>
                        </a:spcBef>
                      </a:pPr>
                      <a:r>
                        <a:rPr lang="en-US" sz="1400" dirty="0" err="1"/>
                        <a:t>LightGBM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HistGradientBoosting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GradientBoosting</a:t>
                      </a:r>
                      <a:r>
                        <a:rPr lang="en-US" sz="1400" dirty="0"/>
                        <a:t> (scikit-learn), split conformal prediction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8224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</a:pPr>
                      <a:r>
                        <a:rPr lang="en-US" sz="1400" dirty="0"/>
                        <a:t>Compared three algorithms against a persistence baseline on a time-based validation split. </a:t>
                      </a:r>
                      <a:r>
                        <a:rPr lang="en-US" sz="1400" dirty="0" err="1"/>
                        <a:t>LightGBM</a:t>
                      </a:r>
                      <a:r>
                        <a:rPr lang="en-US" sz="1400" dirty="0"/>
                        <a:t> (quantile models) was selected, and its 80% prediction interval was calibrated with split conformal prediction.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7160">
                        <a:lnSpc>
                          <a:spcPct val="100000"/>
                        </a:lnSpc>
                      </a:pPr>
                      <a:r>
                        <a:rPr sz="1400" b="1" spc="-10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Dashboard</a:t>
                      </a:r>
                      <a:r>
                        <a:rPr sz="1400" b="1" spc="-15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400" b="1" spc="-10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2C6A4F"/>
                          </a:solidFill>
                          <a:latin typeface="Calibri"/>
                          <a:cs typeface="Calibri"/>
                        </a:rPr>
                        <a:t>App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endParaRPr sz="1400" dirty="0">
                        <a:latin typeface="Times New Roman"/>
                        <a:cs typeface="Times New Roman"/>
                      </a:endParaRPr>
                    </a:p>
                    <a:p>
                      <a:pPr marL="139065">
                        <a:lnSpc>
                          <a:spcPct val="100000"/>
                        </a:lnSpc>
                      </a:pPr>
                      <a:r>
                        <a:rPr lang="en-US" sz="1400" dirty="0" err="1"/>
                        <a:t>Streamlit</a:t>
                      </a:r>
                      <a:r>
                        <a:rPr lang="en-US" sz="1400" dirty="0"/>
                        <a:t>, Scikit-Learn (TF-IDF), </a:t>
                      </a:r>
                      <a:r>
                        <a:rPr lang="en-US" sz="1400" dirty="0" err="1"/>
                        <a:t>pypdf</a:t>
                      </a:r>
                      <a:r>
                        <a:rPr lang="en-US" sz="1400" dirty="0"/>
                        <a:t>, RAG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92075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41605" marR="473075">
                        <a:lnSpc>
                          <a:spcPct val="102800"/>
                        </a:lnSpc>
                        <a:spcBef>
                          <a:spcPts val="1450"/>
                        </a:spcBef>
                      </a:pPr>
                      <a:r>
                        <a:rPr lang="en-US" sz="1400" dirty="0"/>
                        <a:t>Built an interactive forecaster, performance slices, and a RAG advisory agent that cites its source documents.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184150" marB="0">
                    <a:lnL w="12700">
                      <a:solidFill>
                        <a:srgbClr val="B7E3C6"/>
                      </a:solidFill>
                      <a:prstDash val="solid"/>
                    </a:lnL>
                    <a:lnR w="12700">
                      <a:solidFill>
                        <a:srgbClr val="B7E3C6"/>
                      </a:solidFill>
                      <a:prstDash val="solid"/>
                    </a:lnR>
                    <a:lnT w="12700">
                      <a:solidFill>
                        <a:srgbClr val="B7E3C6"/>
                      </a:solidFill>
                      <a:prstDash val="solid"/>
                    </a:lnT>
                    <a:lnB w="12700">
                      <a:solidFill>
                        <a:srgbClr val="B7E3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object 2"/>
          <p:cNvSpPr txBox="1"/>
          <p:nvPr/>
        </p:nvSpPr>
        <p:spPr>
          <a:xfrm>
            <a:off x="536257" y="6448742"/>
            <a:ext cx="35579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HackInsight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2026</a:t>
            </a:r>
            <a:r>
              <a:rPr sz="950" spc="409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|</a:t>
            </a:r>
            <a:r>
              <a:rPr sz="950" spc="36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Heatwave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Risk</a:t>
            </a:r>
            <a:r>
              <a:rPr sz="950" spc="8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Prediction</a:t>
            </a:r>
            <a:r>
              <a:rPr sz="950" spc="9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&amp;</a:t>
            </a:r>
            <a:r>
              <a:rPr sz="950" spc="9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Climate</a:t>
            </a:r>
            <a:r>
              <a:rPr sz="950" spc="1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C6A4F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2929" y="6433502"/>
            <a:ext cx="882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2C6A4F"/>
                </a:solidFill>
                <a:latin typeface="Calibri"/>
                <a:cs typeface="Calibri"/>
              </a:rPr>
              <a:t>5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53185" y="156464"/>
            <a:ext cx="9798685" cy="884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600" dirty="0">
                <a:solidFill>
                  <a:srgbClr val="1A1A1A"/>
                </a:solidFill>
              </a:rPr>
              <a:t>Risk</a:t>
            </a:r>
            <a:r>
              <a:rPr sz="5600" spc="-110" dirty="0">
                <a:solidFill>
                  <a:srgbClr val="1A1A1A"/>
                </a:solidFill>
              </a:rPr>
              <a:t> </a:t>
            </a:r>
            <a:r>
              <a:rPr sz="5600" dirty="0">
                <a:solidFill>
                  <a:srgbClr val="1A1A1A"/>
                </a:solidFill>
              </a:rPr>
              <a:t>&amp;</a:t>
            </a:r>
            <a:r>
              <a:rPr sz="5600" spc="-110" dirty="0">
                <a:solidFill>
                  <a:srgbClr val="1A1A1A"/>
                </a:solidFill>
              </a:rPr>
              <a:t> </a:t>
            </a:r>
            <a:r>
              <a:rPr sz="5600" dirty="0">
                <a:solidFill>
                  <a:srgbClr val="1A1A1A"/>
                </a:solidFill>
              </a:rPr>
              <a:t>Uncertainty</a:t>
            </a:r>
            <a:r>
              <a:rPr sz="5600" spc="-120" dirty="0">
                <a:solidFill>
                  <a:srgbClr val="1A1A1A"/>
                </a:solidFill>
              </a:rPr>
              <a:t> </a:t>
            </a:r>
            <a:r>
              <a:rPr sz="5600" spc="-10" dirty="0">
                <a:solidFill>
                  <a:srgbClr val="1A1A1A"/>
                </a:solidFill>
              </a:rPr>
              <a:t>Forecaster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3789108" y="1699148"/>
            <a:ext cx="4614545" cy="98425"/>
            <a:chOff x="3789108" y="1699148"/>
            <a:chExt cx="4614545" cy="98425"/>
          </a:xfrm>
        </p:grpSpPr>
        <p:sp>
          <p:nvSpPr>
            <p:cNvPr id="4" name="object 4"/>
            <p:cNvSpPr/>
            <p:nvPr/>
          </p:nvSpPr>
          <p:spPr>
            <a:xfrm>
              <a:off x="3809492" y="1719208"/>
              <a:ext cx="4572635" cy="50165"/>
            </a:xfrm>
            <a:custGeom>
              <a:avLst/>
              <a:gdLst/>
              <a:ahLst/>
              <a:cxnLst/>
              <a:rect l="l" t="t" r="r" b="b"/>
              <a:pathLst>
                <a:path w="4572634" h="50164">
                  <a:moveTo>
                    <a:pt x="1921998" y="0"/>
                  </a:moveTo>
                  <a:lnTo>
                    <a:pt x="1873880" y="58"/>
                  </a:lnTo>
                  <a:lnTo>
                    <a:pt x="1826444" y="925"/>
                  </a:lnTo>
                  <a:lnTo>
                    <a:pt x="1779512" y="2692"/>
                  </a:lnTo>
                  <a:lnTo>
                    <a:pt x="1732905" y="5455"/>
                  </a:lnTo>
                  <a:lnTo>
                    <a:pt x="1686444" y="9307"/>
                  </a:lnTo>
                  <a:lnTo>
                    <a:pt x="1639951" y="14341"/>
                  </a:lnTo>
                  <a:lnTo>
                    <a:pt x="1586750" y="19436"/>
                  </a:lnTo>
                  <a:lnTo>
                    <a:pt x="1536688" y="21745"/>
                  </a:lnTo>
                  <a:lnTo>
                    <a:pt x="1488861" y="21857"/>
                  </a:lnTo>
                  <a:lnTo>
                    <a:pt x="1442365" y="20360"/>
                  </a:lnTo>
                  <a:lnTo>
                    <a:pt x="1396296" y="17845"/>
                  </a:lnTo>
                  <a:lnTo>
                    <a:pt x="1301824" y="12113"/>
                  </a:lnTo>
                  <a:lnTo>
                    <a:pt x="1251613" y="10075"/>
                  </a:lnTo>
                  <a:lnTo>
                    <a:pt x="1198212" y="9374"/>
                  </a:lnTo>
                  <a:lnTo>
                    <a:pt x="1140719" y="10600"/>
                  </a:lnTo>
                  <a:lnTo>
                    <a:pt x="1078230" y="14341"/>
                  </a:lnTo>
                  <a:lnTo>
                    <a:pt x="1011887" y="19292"/>
                  </a:lnTo>
                  <a:lnTo>
                    <a:pt x="955022" y="22802"/>
                  </a:lnTo>
                  <a:lnTo>
                    <a:pt x="905310" y="24998"/>
                  </a:lnTo>
                  <a:lnTo>
                    <a:pt x="860423" y="26009"/>
                  </a:lnTo>
                  <a:lnTo>
                    <a:pt x="818038" y="25961"/>
                  </a:lnTo>
                  <a:lnTo>
                    <a:pt x="775828" y="24984"/>
                  </a:lnTo>
                  <a:lnTo>
                    <a:pt x="731468" y="23206"/>
                  </a:lnTo>
                  <a:lnTo>
                    <a:pt x="562229" y="14341"/>
                  </a:lnTo>
                  <a:lnTo>
                    <a:pt x="499676" y="11427"/>
                  </a:lnTo>
                  <a:lnTo>
                    <a:pt x="439525" y="9178"/>
                  </a:lnTo>
                  <a:lnTo>
                    <a:pt x="381742" y="7567"/>
                  </a:lnTo>
                  <a:lnTo>
                    <a:pt x="326291" y="6566"/>
                  </a:lnTo>
                  <a:lnTo>
                    <a:pt x="273137" y="6148"/>
                  </a:lnTo>
                  <a:lnTo>
                    <a:pt x="222247" y="6286"/>
                  </a:lnTo>
                  <a:lnTo>
                    <a:pt x="173583" y="6951"/>
                  </a:lnTo>
                  <a:lnTo>
                    <a:pt x="127113" y="8117"/>
                  </a:lnTo>
                  <a:lnTo>
                    <a:pt x="82800" y="9755"/>
                  </a:lnTo>
                  <a:lnTo>
                    <a:pt x="40610" y="11839"/>
                  </a:lnTo>
                  <a:lnTo>
                    <a:pt x="508" y="14341"/>
                  </a:lnTo>
                  <a:lnTo>
                    <a:pt x="0" y="22850"/>
                  </a:lnTo>
                  <a:lnTo>
                    <a:pt x="1270" y="25644"/>
                  </a:lnTo>
                  <a:lnTo>
                    <a:pt x="508" y="33391"/>
                  </a:lnTo>
                  <a:lnTo>
                    <a:pt x="58145" y="28945"/>
                  </a:lnTo>
                  <a:lnTo>
                    <a:pt x="111072" y="26286"/>
                  </a:lnTo>
                  <a:lnTo>
                    <a:pt x="160418" y="25112"/>
                  </a:lnTo>
                  <a:lnTo>
                    <a:pt x="207318" y="25127"/>
                  </a:lnTo>
                  <a:lnTo>
                    <a:pt x="252904" y="26031"/>
                  </a:lnTo>
                  <a:lnTo>
                    <a:pt x="298308" y="27526"/>
                  </a:lnTo>
                  <a:lnTo>
                    <a:pt x="393098" y="31089"/>
                  </a:lnTo>
                  <a:lnTo>
                    <a:pt x="444750" y="32561"/>
                  </a:lnTo>
                  <a:lnTo>
                    <a:pt x="500749" y="33428"/>
                  </a:lnTo>
                  <a:lnTo>
                    <a:pt x="562229" y="33391"/>
                  </a:lnTo>
                  <a:lnTo>
                    <a:pt x="619171" y="32654"/>
                  </a:lnTo>
                  <a:lnTo>
                    <a:pt x="672135" y="31609"/>
                  </a:lnTo>
                  <a:lnTo>
                    <a:pt x="861187" y="27009"/>
                  </a:lnTo>
                  <a:lnTo>
                    <a:pt x="906990" y="26415"/>
                  </a:lnTo>
                  <a:lnTo>
                    <a:pt x="953906" y="26307"/>
                  </a:lnTo>
                  <a:lnTo>
                    <a:pt x="1002784" y="26819"/>
                  </a:lnTo>
                  <a:lnTo>
                    <a:pt x="1054471" y="28082"/>
                  </a:lnTo>
                  <a:lnTo>
                    <a:pt x="1109817" y="30228"/>
                  </a:lnTo>
                  <a:lnTo>
                    <a:pt x="1223815" y="36364"/>
                  </a:lnTo>
                  <a:lnTo>
                    <a:pt x="1279016" y="38909"/>
                  </a:lnTo>
                  <a:lnTo>
                    <a:pt x="1334845" y="41020"/>
                  </a:lnTo>
                  <a:lnTo>
                    <a:pt x="1390877" y="42688"/>
                  </a:lnTo>
                  <a:lnTo>
                    <a:pt x="1446685" y="43907"/>
                  </a:lnTo>
                  <a:lnTo>
                    <a:pt x="1501843" y="44668"/>
                  </a:lnTo>
                  <a:lnTo>
                    <a:pt x="1555924" y="44964"/>
                  </a:lnTo>
                  <a:lnTo>
                    <a:pt x="1608503" y="44788"/>
                  </a:lnTo>
                  <a:lnTo>
                    <a:pt x="1659153" y="44131"/>
                  </a:lnTo>
                  <a:lnTo>
                    <a:pt x="1707448" y="42988"/>
                  </a:lnTo>
                  <a:lnTo>
                    <a:pt x="1752961" y="41350"/>
                  </a:lnTo>
                  <a:lnTo>
                    <a:pt x="1795267" y="39209"/>
                  </a:lnTo>
                  <a:lnTo>
                    <a:pt x="1833939" y="36559"/>
                  </a:lnTo>
                  <a:lnTo>
                    <a:pt x="1868551" y="33391"/>
                  </a:lnTo>
                  <a:lnTo>
                    <a:pt x="1906726" y="30631"/>
                  </a:lnTo>
                  <a:lnTo>
                    <a:pt x="1940185" y="30598"/>
                  </a:lnTo>
                  <a:lnTo>
                    <a:pt x="1971080" y="32566"/>
                  </a:lnTo>
                  <a:lnTo>
                    <a:pt x="2001567" y="35811"/>
                  </a:lnTo>
                  <a:lnTo>
                    <a:pt x="2033797" y="39608"/>
                  </a:lnTo>
                  <a:lnTo>
                    <a:pt x="2069926" y="43232"/>
                  </a:lnTo>
                  <a:lnTo>
                    <a:pt x="2112107" y="45958"/>
                  </a:lnTo>
                  <a:lnTo>
                    <a:pt x="2162494" y="47062"/>
                  </a:lnTo>
                  <a:lnTo>
                    <a:pt x="2223239" y="45819"/>
                  </a:lnTo>
                  <a:lnTo>
                    <a:pt x="2296499" y="41503"/>
                  </a:lnTo>
                  <a:lnTo>
                    <a:pt x="2384425" y="33391"/>
                  </a:lnTo>
                  <a:lnTo>
                    <a:pt x="2450948" y="26860"/>
                  </a:lnTo>
                  <a:lnTo>
                    <a:pt x="2510459" y="22167"/>
                  </a:lnTo>
                  <a:lnTo>
                    <a:pt x="2564020" y="19102"/>
                  </a:lnTo>
                  <a:lnTo>
                    <a:pt x="2612691" y="17456"/>
                  </a:lnTo>
                  <a:lnTo>
                    <a:pt x="2657536" y="17022"/>
                  </a:lnTo>
                  <a:lnTo>
                    <a:pt x="2699614" y="17590"/>
                  </a:lnTo>
                  <a:lnTo>
                    <a:pt x="2739988" y="18952"/>
                  </a:lnTo>
                  <a:lnTo>
                    <a:pt x="2779720" y="20899"/>
                  </a:lnTo>
                  <a:lnTo>
                    <a:pt x="2905676" y="28165"/>
                  </a:lnTo>
                  <a:lnTo>
                    <a:pt x="2953454" y="30367"/>
                  </a:lnTo>
                  <a:lnTo>
                    <a:pt x="3005897" y="32111"/>
                  </a:lnTo>
                  <a:lnTo>
                    <a:pt x="3064067" y="33189"/>
                  </a:lnTo>
                  <a:lnTo>
                    <a:pt x="3129026" y="33391"/>
                  </a:lnTo>
                  <a:lnTo>
                    <a:pt x="3194321" y="32811"/>
                  </a:lnTo>
                  <a:lnTo>
                    <a:pt x="3253361" y="31765"/>
                  </a:lnTo>
                  <a:lnTo>
                    <a:pt x="3307072" y="30379"/>
                  </a:lnTo>
                  <a:lnTo>
                    <a:pt x="3356383" y="28781"/>
                  </a:lnTo>
                  <a:lnTo>
                    <a:pt x="3487188" y="23978"/>
                  </a:lnTo>
                  <a:lnTo>
                    <a:pt x="3528171" y="22796"/>
                  </a:lnTo>
                  <a:lnTo>
                    <a:pt x="3569391" y="22034"/>
                  </a:lnTo>
                  <a:lnTo>
                    <a:pt x="3611776" y="21820"/>
                  </a:lnTo>
                  <a:lnTo>
                    <a:pt x="3656252" y="22279"/>
                  </a:lnTo>
                  <a:lnTo>
                    <a:pt x="3703748" y="23540"/>
                  </a:lnTo>
                  <a:lnTo>
                    <a:pt x="3755191" y="25727"/>
                  </a:lnTo>
                  <a:lnTo>
                    <a:pt x="3811508" y="28969"/>
                  </a:lnTo>
                  <a:lnTo>
                    <a:pt x="3873627" y="33391"/>
                  </a:lnTo>
                  <a:lnTo>
                    <a:pt x="3939279" y="38329"/>
                  </a:lnTo>
                  <a:lnTo>
                    <a:pt x="3997142" y="42342"/>
                  </a:lnTo>
                  <a:lnTo>
                    <a:pt x="4048557" y="45469"/>
                  </a:lnTo>
                  <a:lnTo>
                    <a:pt x="4094867" y="47753"/>
                  </a:lnTo>
                  <a:lnTo>
                    <a:pt x="4137414" y="49236"/>
                  </a:lnTo>
                  <a:lnTo>
                    <a:pt x="4177541" y="49959"/>
                  </a:lnTo>
                  <a:lnTo>
                    <a:pt x="4216590" y="49964"/>
                  </a:lnTo>
                  <a:lnTo>
                    <a:pt x="4255903" y="49293"/>
                  </a:lnTo>
                  <a:lnTo>
                    <a:pt x="4296823" y="47987"/>
                  </a:lnTo>
                  <a:lnTo>
                    <a:pt x="4340692" y="46087"/>
                  </a:lnTo>
                  <a:lnTo>
                    <a:pt x="4388853" y="43636"/>
                  </a:lnTo>
                  <a:lnTo>
                    <a:pt x="4572508" y="33391"/>
                  </a:lnTo>
                  <a:lnTo>
                    <a:pt x="4572381" y="26660"/>
                  </a:lnTo>
                  <a:lnTo>
                    <a:pt x="4572000" y="20818"/>
                  </a:lnTo>
                  <a:lnTo>
                    <a:pt x="4572508" y="14341"/>
                  </a:lnTo>
                  <a:lnTo>
                    <a:pt x="4502018" y="20035"/>
                  </a:lnTo>
                  <a:lnTo>
                    <a:pt x="4435275" y="24619"/>
                  </a:lnTo>
                  <a:lnTo>
                    <a:pt x="4372062" y="28174"/>
                  </a:lnTo>
                  <a:lnTo>
                    <a:pt x="4312162" y="30778"/>
                  </a:lnTo>
                  <a:lnTo>
                    <a:pt x="4255359" y="32511"/>
                  </a:lnTo>
                  <a:lnTo>
                    <a:pt x="4201437" y="33452"/>
                  </a:lnTo>
                  <a:lnTo>
                    <a:pt x="4150178" y="33682"/>
                  </a:lnTo>
                  <a:lnTo>
                    <a:pt x="4101366" y="33280"/>
                  </a:lnTo>
                  <a:lnTo>
                    <a:pt x="4054786" y="32325"/>
                  </a:lnTo>
                  <a:lnTo>
                    <a:pt x="4010219" y="30898"/>
                  </a:lnTo>
                  <a:lnTo>
                    <a:pt x="3967451" y="29076"/>
                  </a:lnTo>
                  <a:lnTo>
                    <a:pt x="3926263" y="26941"/>
                  </a:lnTo>
                  <a:lnTo>
                    <a:pt x="3886441" y="24571"/>
                  </a:lnTo>
                  <a:lnTo>
                    <a:pt x="3736466" y="14341"/>
                  </a:lnTo>
                  <a:lnTo>
                    <a:pt x="3693343" y="12193"/>
                  </a:lnTo>
                  <a:lnTo>
                    <a:pt x="3646760" y="11162"/>
                  </a:lnTo>
                  <a:lnTo>
                    <a:pt x="3597300" y="11061"/>
                  </a:lnTo>
                  <a:lnTo>
                    <a:pt x="3545547" y="11703"/>
                  </a:lnTo>
                  <a:lnTo>
                    <a:pt x="3492086" y="12902"/>
                  </a:lnTo>
                  <a:lnTo>
                    <a:pt x="3272820" y="19516"/>
                  </a:lnTo>
                  <a:lnTo>
                    <a:pt x="3219567" y="20691"/>
                  </a:lnTo>
                  <a:lnTo>
                    <a:pt x="3168107" y="21300"/>
                  </a:lnTo>
                  <a:lnTo>
                    <a:pt x="3119023" y="21156"/>
                  </a:lnTo>
                  <a:lnTo>
                    <a:pt x="3072899" y="20073"/>
                  </a:lnTo>
                  <a:lnTo>
                    <a:pt x="3030319" y="17864"/>
                  </a:lnTo>
                  <a:lnTo>
                    <a:pt x="2951869" y="10608"/>
                  </a:lnTo>
                  <a:lnTo>
                    <a:pt x="2909571" y="8349"/>
                  </a:lnTo>
                  <a:lnTo>
                    <a:pt x="2865165" y="7340"/>
                  </a:lnTo>
                  <a:lnTo>
                    <a:pt x="2818844" y="7354"/>
                  </a:lnTo>
                  <a:lnTo>
                    <a:pt x="2770803" y="8168"/>
                  </a:lnTo>
                  <a:lnTo>
                    <a:pt x="2721234" y="9556"/>
                  </a:lnTo>
                  <a:lnTo>
                    <a:pt x="2565307" y="14916"/>
                  </a:lnTo>
                  <a:lnTo>
                    <a:pt x="2511570" y="16351"/>
                  </a:lnTo>
                  <a:lnTo>
                    <a:pt x="2457276" y="17237"/>
                  </a:lnTo>
                  <a:lnTo>
                    <a:pt x="2402617" y="17347"/>
                  </a:lnTo>
                  <a:lnTo>
                    <a:pt x="2347789" y="16456"/>
                  </a:lnTo>
                  <a:lnTo>
                    <a:pt x="2292985" y="14341"/>
                  </a:lnTo>
                  <a:lnTo>
                    <a:pt x="2124882" y="5970"/>
                  </a:lnTo>
                  <a:lnTo>
                    <a:pt x="2072242" y="3734"/>
                  </a:lnTo>
                  <a:lnTo>
                    <a:pt x="2021000" y="1931"/>
                  </a:lnTo>
                  <a:lnTo>
                    <a:pt x="1970979" y="655"/>
                  </a:lnTo>
                  <a:lnTo>
                    <a:pt x="1921998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746" y="1719786"/>
              <a:ext cx="4573270" cy="57150"/>
            </a:xfrm>
            <a:custGeom>
              <a:avLst/>
              <a:gdLst/>
              <a:ahLst/>
              <a:cxnLst/>
              <a:rect l="l" t="t" r="r" b="b"/>
              <a:pathLst>
                <a:path w="4573270" h="57150">
                  <a:moveTo>
                    <a:pt x="253" y="13763"/>
                  </a:moveTo>
                  <a:lnTo>
                    <a:pt x="35516" y="8479"/>
                  </a:lnTo>
                  <a:lnTo>
                    <a:pt x="77448" y="5460"/>
                  </a:lnTo>
                  <a:lnTo>
                    <a:pt x="124911" y="4298"/>
                  </a:lnTo>
                  <a:lnTo>
                    <a:pt x="176765" y="4583"/>
                  </a:lnTo>
                  <a:lnTo>
                    <a:pt x="231870" y="5905"/>
                  </a:lnTo>
                  <a:lnTo>
                    <a:pt x="289085" y="7856"/>
                  </a:lnTo>
                  <a:lnTo>
                    <a:pt x="347271" y="10027"/>
                  </a:lnTo>
                  <a:lnTo>
                    <a:pt x="405288" y="12007"/>
                  </a:lnTo>
                  <a:lnTo>
                    <a:pt x="461996" y="13389"/>
                  </a:lnTo>
                  <a:lnTo>
                    <a:pt x="516254" y="13763"/>
                  </a:lnTo>
                  <a:lnTo>
                    <a:pt x="568456" y="14010"/>
                  </a:lnTo>
                  <a:lnTo>
                    <a:pt x="619906" y="15068"/>
                  </a:lnTo>
                  <a:lnTo>
                    <a:pt x="670836" y="16611"/>
                  </a:lnTo>
                  <a:lnTo>
                    <a:pt x="721478" y="18317"/>
                  </a:lnTo>
                  <a:lnTo>
                    <a:pt x="772064" y="19859"/>
                  </a:lnTo>
                  <a:lnTo>
                    <a:pt x="822825" y="20914"/>
                  </a:lnTo>
                  <a:lnTo>
                    <a:pt x="873993" y="21156"/>
                  </a:lnTo>
                  <a:lnTo>
                    <a:pt x="925800" y="20261"/>
                  </a:lnTo>
                  <a:lnTo>
                    <a:pt x="978477" y="17905"/>
                  </a:lnTo>
                  <a:lnTo>
                    <a:pt x="1032255" y="13763"/>
                  </a:lnTo>
                  <a:lnTo>
                    <a:pt x="1078538" y="9788"/>
                  </a:lnTo>
                  <a:lnTo>
                    <a:pt x="1126578" y="6452"/>
                  </a:lnTo>
                  <a:lnTo>
                    <a:pt x="1176085" y="3780"/>
                  </a:lnTo>
                  <a:lnTo>
                    <a:pt x="1226768" y="1797"/>
                  </a:lnTo>
                  <a:lnTo>
                    <a:pt x="1278336" y="528"/>
                  </a:lnTo>
                  <a:lnTo>
                    <a:pt x="1330499" y="0"/>
                  </a:lnTo>
                  <a:lnTo>
                    <a:pt x="1382967" y="235"/>
                  </a:lnTo>
                  <a:lnTo>
                    <a:pt x="1435448" y="1261"/>
                  </a:lnTo>
                  <a:lnTo>
                    <a:pt x="1487652" y="3101"/>
                  </a:lnTo>
                  <a:lnTo>
                    <a:pt x="1539288" y="5782"/>
                  </a:lnTo>
                  <a:lnTo>
                    <a:pt x="1590067" y="9327"/>
                  </a:lnTo>
                  <a:lnTo>
                    <a:pt x="1639696" y="13763"/>
                  </a:lnTo>
                  <a:lnTo>
                    <a:pt x="1680492" y="17411"/>
                  </a:lnTo>
                  <a:lnTo>
                    <a:pt x="1724322" y="20531"/>
                  </a:lnTo>
                  <a:lnTo>
                    <a:pt x="1770779" y="23127"/>
                  </a:lnTo>
                  <a:lnTo>
                    <a:pt x="1819452" y="25197"/>
                  </a:lnTo>
                  <a:lnTo>
                    <a:pt x="1869933" y="26745"/>
                  </a:lnTo>
                  <a:lnTo>
                    <a:pt x="1921813" y="27772"/>
                  </a:lnTo>
                  <a:lnTo>
                    <a:pt x="1974683" y="28278"/>
                  </a:lnTo>
                  <a:lnTo>
                    <a:pt x="2028133" y="28265"/>
                  </a:lnTo>
                  <a:lnTo>
                    <a:pt x="2081754" y="27735"/>
                  </a:lnTo>
                  <a:lnTo>
                    <a:pt x="2135138" y="26689"/>
                  </a:lnTo>
                  <a:lnTo>
                    <a:pt x="2187874" y="25128"/>
                  </a:lnTo>
                  <a:lnTo>
                    <a:pt x="2239555" y="23053"/>
                  </a:lnTo>
                  <a:lnTo>
                    <a:pt x="2289771" y="20467"/>
                  </a:lnTo>
                  <a:lnTo>
                    <a:pt x="2338112" y="17370"/>
                  </a:lnTo>
                  <a:lnTo>
                    <a:pt x="2384170" y="13763"/>
                  </a:lnTo>
                  <a:lnTo>
                    <a:pt x="2442641" y="9129"/>
                  </a:lnTo>
                  <a:lnTo>
                    <a:pt x="2496543" y="5694"/>
                  </a:lnTo>
                  <a:lnTo>
                    <a:pt x="2546905" y="3369"/>
                  </a:lnTo>
                  <a:lnTo>
                    <a:pt x="2594757" y="2061"/>
                  </a:lnTo>
                  <a:lnTo>
                    <a:pt x="2641127" y="1680"/>
                  </a:lnTo>
                  <a:lnTo>
                    <a:pt x="2687046" y="2136"/>
                  </a:lnTo>
                  <a:lnTo>
                    <a:pt x="2733542" y="3336"/>
                  </a:lnTo>
                  <a:lnTo>
                    <a:pt x="2781646" y="5189"/>
                  </a:lnTo>
                  <a:lnTo>
                    <a:pt x="2832385" y="7606"/>
                  </a:lnTo>
                  <a:lnTo>
                    <a:pt x="2886791" y="10494"/>
                  </a:lnTo>
                  <a:lnTo>
                    <a:pt x="2945892" y="13763"/>
                  </a:lnTo>
                  <a:lnTo>
                    <a:pt x="3004672" y="17247"/>
                  </a:lnTo>
                  <a:lnTo>
                    <a:pt x="3058243" y="20693"/>
                  </a:lnTo>
                  <a:lnTo>
                    <a:pt x="3107829" y="23883"/>
                  </a:lnTo>
                  <a:lnTo>
                    <a:pt x="3154650" y="26595"/>
                  </a:lnTo>
                  <a:lnTo>
                    <a:pt x="3199928" y="28611"/>
                  </a:lnTo>
                  <a:lnTo>
                    <a:pt x="3244885" y="29710"/>
                  </a:lnTo>
                  <a:lnTo>
                    <a:pt x="3290743" y="29673"/>
                  </a:lnTo>
                  <a:lnTo>
                    <a:pt x="3338722" y="28279"/>
                  </a:lnTo>
                  <a:lnTo>
                    <a:pt x="3390046" y="25310"/>
                  </a:lnTo>
                  <a:lnTo>
                    <a:pt x="3445936" y="20544"/>
                  </a:lnTo>
                  <a:lnTo>
                    <a:pt x="3507612" y="13763"/>
                  </a:lnTo>
                  <a:lnTo>
                    <a:pt x="3542547" y="10153"/>
                  </a:lnTo>
                  <a:lnTo>
                    <a:pt x="3579257" y="7499"/>
                  </a:lnTo>
                  <a:lnTo>
                    <a:pt x="3617712" y="5705"/>
                  </a:lnTo>
                  <a:lnTo>
                    <a:pt x="3657879" y="4680"/>
                  </a:lnTo>
                  <a:lnTo>
                    <a:pt x="3699728" y="4327"/>
                  </a:lnTo>
                  <a:lnTo>
                    <a:pt x="3743227" y="4555"/>
                  </a:lnTo>
                  <a:lnTo>
                    <a:pt x="3788344" y="5268"/>
                  </a:lnTo>
                  <a:lnTo>
                    <a:pt x="3835047" y="6374"/>
                  </a:lnTo>
                  <a:lnTo>
                    <a:pt x="3883306" y="7778"/>
                  </a:lnTo>
                  <a:lnTo>
                    <a:pt x="3933089" y="9387"/>
                  </a:lnTo>
                  <a:lnTo>
                    <a:pt x="3984364" y="11107"/>
                  </a:lnTo>
                  <a:lnTo>
                    <a:pt x="4037100" y="12843"/>
                  </a:lnTo>
                  <a:lnTo>
                    <a:pt x="4091264" y="14503"/>
                  </a:lnTo>
                  <a:lnTo>
                    <a:pt x="4146827" y="15993"/>
                  </a:lnTo>
                  <a:lnTo>
                    <a:pt x="4203756" y="17218"/>
                  </a:lnTo>
                  <a:lnTo>
                    <a:pt x="4262019" y="18084"/>
                  </a:lnTo>
                  <a:lnTo>
                    <a:pt x="4321586" y="18499"/>
                  </a:lnTo>
                  <a:lnTo>
                    <a:pt x="4382424" y="18368"/>
                  </a:lnTo>
                  <a:lnTo>
                    <a:pt x="4444502" y="17598"/>
                  </a:lnTo>
                  <a:lnTo>
                    <a:pt x="4507789" y="16094"/>
                  </a:lnTo>
                  <a:lnTo>
                    <a:pt x="4572254" y="13763"/>
                  </a:lnTo>
                  <a:lnTo>
                    <a:pt x="4573143" y="23161"/>
                  </a:lnTo>
                  <a:lnTo>
                    <a:pt x="4571746" y="23542"/>
                  </a:lnTo>
                  <a:lnTo>
                    <a:pt x="4572254" y="32813"/>
                  </a:lnTo>
                  <a:lnTo>
                    <a:pt x="4528810" y="29609"/>
                  </a:lnTo>
                  <a:lnTo>
                    <a:pt x="4483248" y="26488"/>
                  </a:lnTo>
                  <a:lnTo>
                    <a:pt x="4435848" y="23553"/>
                  </a:lnTo>
                  <a:lnTo>
                    <a:pt x="4386891" y="20905"/>
                  </a:lnTo>
                  <a:lnTo>
                    <a:pt x="4336657" y="18649"/>
                  </a:lnTo>
                  <a:lnTo>
                    <a:pt x="4285427" y="16884"/>
                  </a:lnTo>
                  <a:lnTo>
                    <a:pt x="4233481" y="15716"/>
                  </a:lnTo>
                  <a:lnTo>
                    <a:pt x="4181099" y="15245"/>
                  </a:lnTo>
                  <a:lnTo>
                    <a:pt x="4128563" y="15574"/>
                  </a:lnTo>
                  <a:lnTo>
                    <a:pt x="4076152" y="16807"/>
                  </a:lnTo>
                  <a:lnTo>
                    <a:pt x="4024147" y="19044"/>
                  </a:lnTo>
                  <a:lnTo>
                    <a:pt x="3972828" y="22389"/>
                  </a:lnTo>
                  <a:lnTo>
                    <a:pt x="3922477" y="26945"/>
                  </a:lnTo>
                  <a:lnTo>
                    <a:pt x="3873373" y="32813"/>
                  </a:lnTo>
                  <a:lnTo>
                    <a:pt x="3814057" y="39408"/>
                  </a:lnTo>
                  <a:lnTo>
                    <a:pt x="3758697" y="42897"/>
                  </a:lnTo>
                  <a:lnTo>
                    <a:pt x="3706523" y="43874"/>
                  </a:lnTo>
                  <a:lnTo>
                    <a:pt x="3656767" y="42936"/>
                  </a:lnTo>
                  <a:lnTo>
                    <a:pt x="3608661" y="40679"/>
                  </a:lnTo>
                  <a:lnTo>
                    <a:pt x="3561437" y="37699"/>
                  </a:lnTo>
                  <a:lnTo>
                    <a:pt x="3514327" y="34592"/>
                  </a:lnTo>
                  <a:lnTo>
                    <a:pt x="3466561" y="31954"/>
                  </a:lnTo>
                  <a:lnTo>
                    <a:pt x="3417372" y="30381"/>
                  </a:lnTo>
                  <a:lnTo>
                    <a:pt x="3365992" y="30469"/>
                  </a:lnTo>
                  <a:lnTo>
                    <a:pt x="3311652" y="32813"/>
                  </a:lnTo>
                  <a:lnTo>
                    <a:pt x="3258433" y="35836"/>
                  </a:lnTo>
                  <a:lnTo>
                    <a:pt x="3209970" y="37687"/>
                  </a:lnTo>
                  <a:lnTo>
                    <a:pt x="3164821" y="38556"/>
                  </a:lnTo>
                  <a:lnTo>
                    <a:pt x="3121544" y="38632"/>
                  </a:lnTo>
                  <a:lnTo>
                    <a:pt x="3078697" y="38103"/>
                  </a:lnTo>
                  <a:lnTo>
                    <a:pt x="3034839" y="37158"/>
                  </a:lnTo>
                  <a:lnTo>
                    <a:pt x="2988529" y="35987"/>
                  </a:lnTo>
                  <a:lnTo>
                    <a:pt x="2938325" y="34778"/>
                  </a:lnTo>
                  <a:lnTo>
                    <a:pt x="2882784" y="33720"/>
                  </a:lnTo>
                  <a:lnTo>
                    <a:pt x="2820467" y="33002"/>
                  </a:lnTo>
                  <a:lnTo>
                    <a:pt x="2749930" y="32813"/>
                  </a:lnTo>
                  <a:lnTo>
                    <a:pt x="2692294" y="32427"/>
                  </a:lnTo>
                  <a:lnTo>
                    <a:pt x="2637166" y="31200"/>
                  </a:lnTo>
                  <a:lnTo>
                    <a:pt x="2584215" y="29358"/>
                  </a:lnTo>
                  <a:lnTo>
                    <a:pt x="2533114" y="27126"/>
                  </a:lnTo>
                  <a:lnTo>
                    <a:pt x="2483530" y="24728"/>
                  </a:lnTo>
                  <a:lnTo>
                    <a:pt x="2435136" y="22389"/>
                  </a:lnTo>
                  <a:lnTo>
                    <a:pt x="2387599" y="20335"/>
                  </a:lnTo>
                  <a:lnTo>
                    <a:pt x="2340592" y="18791"/>
                  </a:lnTo>
                  <a:lnTo>
                    <a:pt x="2293784" y="17980"/>
                  </a:lnTo>
                  <a:lnTo>
                    <a:pt x="2246844" y="18129"/>
                  </a:lnTo>
                  <a:lnTo>
                    <a:pt x="2199443" y="19461"/>
                  </a:lnTo>
                  <a:lnTo>
                    <a:pt x="2151252" y="22203"/>
                  </a:lnTo>
                  <a:lnTo>
                    <a:pt x="2101939" y="26579"/>
                  </a:lnTo>
                  <a:lnTo>
                    <a:pt x="2051177" y="32813"/>
                  </a:lnTo>
                  <a:lnTo>
                    <a:pt x="2002627" y="39069"/>
                  </a:lnTo>
                  <a:lnTo>
                    <a:pt x="1953425" y="44336"/>
                  </a:lnTo>
                  <a:lnTo>
                    <a:pt x="1903683" y="48638"/>
                  </a:lnTo>
                  <a:lnTo>
                    <a:pt x="1853517" y="51996"/>
                  </a:lnTo>
                  <a:lnTo>
                    <a:pt x="1803042" y="54431"/>
                  </a:lnTo>
                  <a:lnTo>
                    <a:pt x="1752373" y="55966"/>
                  </a:lnTo>
                  <a:lnTo>
                    <a:pt x="1701625" y="56621"/>
                  </a:lnTo>
                  <a:lnTo>
                    <a:pt x="1650912" y="56419"/>
                  </a:lnTo>
                  <a:lnTo>
                    <a:pt x="1600350" y="55381"/>
                  </a:lnTo>
                  <a:lnTo>
                    <a:pt x="1550053" y="53528"/>
                  </a:lnTo>
                  <a:lnTo>
                    <a:pt x="1500137" y="50883"/>
                  </a:lnTo>
                  <a:lnTo>
                    <a:pt x="1450716" y="47468"/>
                  </a:lnTo>
                  <a:lnTo>
                    <a:pt x="1401906" y="43303"/>
                  </a:lnTo>
                  <a:lnTo>
                    <a:pt x="1353821" y="38411"/>
                  </a:lnTo>
                  <a:lnTo>
                    <a:pt x="1306576" y="32813"/>
                  </a:lnTo>
                  <a:lnTo>
                    <a:pt x="1240168" y="25629"/>
                  </a:lnTo>
                  <a:lnTo>
                    <a:pt x="1180515" y="21536"/>
                  </a:lnTo>
                  <a:lnTo>
                    <a:pt x="1126319" y="19972"/>
                  </a:lnTo>
                  <a:lnTo>
                    <a:pt x="1076279" y="20377"/>
                  </a:lnTo>
                  <a:lnTo>
                    <a:pt x="1029096" y="22193"/>
                  </a:lnTo>
                  <a:lnTo>
                    <a:pt x="983472" y="24858"/>
                  </a:lnTo>
                  <a:lnTo>
                    <a:pt x="938107" y="27812"/>
                  </a:lnTo>
                  <a:lnTo>
                    <a:pt x="891702" y="30497"/>
                  </a:lnTo>
                  <a:lnTo>
                    <a:pt x="842958" y="32350"/>
                  </a:lnTo>
                  <a:lnTo>
                    <a:pt x="790575" y="32813"/>
                  </a:lnTo>
                  <a:lnTo>
                    <a:pt x="753895" y="32468"/>
                  </a:lnTo>
                  <a:lnTo>
                    <a:pt x="712573" y="31985"/>
                  </a:lnTo>
                  <a:lnTo>
                    <a:pt x="667240" y="31402"/>
                  </a:lnTo>
                  <a:lnTo>
                    <a:pt x="618527" y="30759"/>
                  </a:lnTo>
                  <a:lnTo>
                    <a:pt x="567066" y="30097"/>
                  </a:lnTo>
                  <a:lnTo>
                    <a:pt x="513489" y="29453"/>
                  </a:lnTo>
                  <a:lnTo>
                    <a:pt x="458426" y="28869"/>
                  </a:lnTo>
                  <a:lnTo>
                    <a:pt x="402510" y="28384"/>
                  </a:lnTo>
                  <a:lnTo>
                    <a:pt x="346372" y="28037"/>
                  </a:lnTo>
                  <a:lnTo>
                    <a:pt x="290645" y="27868"/>
                  </a:lnTo>
                  <a:lnTo>
                    <a:pt x="235958" y="27917"/>
                  </a:lnTo>
                  <a:lnTo>
                    <a:pt x="182945" y="28223"/>
                  </a:lnTo>
                  <a:lnTo>
                    <a:pt x="132236" y="28826"/>
                  </a:lnTo>
                  <a:lnTo>
                    <a:pt x="84464" y="29766"/>
                  </a:lnTo>
                  <a:lnTo>
                    <a:pt x="40259" y="31082"/>
                  </a:lnTo>
                  <a:lnTo>
                    <a:pt x="253" y="32813"/>
                  </a:lnTo>
                  <a:lnTo>
                    <a:pt x="0" y="28622"/>
                  </a:lnTo>
                  <a:lnTo>
                    <a:pt x="762" y="19859"/>
                  </a:lnTo>
                  <a:lnTo>
                    <a:pt x="253" y="13763"/>
                  </a:lnTo>
                  <a:close/>
                </a:path>
              </a:pathLst>
            </a:custGeom>
            <a:ln w="41275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500" y="1885950"/>
            <a:ext cx="10039350" cy="4333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30"/>
              </a:spcBef>
            </a:pPr>
            <a:r>
              <a:rPr sz="5600" dirty="0">
                <a:solidFill>
                  <a:srgbClr val="1A1A1A"/>
                </a:solidFill>
              </a:rPr>
              <a:t>Climate</a:t>
            </a:r>
            <a:r>
              <a:rPr sz="5600" spc="-220" dirty="0">
                <a:solidFill>
                  <a:srgbClr val="1A1A1A"/>
                </a:solidFill>
              </a:rPr>
              <a:t> </a:t>
            </a:r>
            <a:r>
              <a:rPr sz="5600" dirty="0">
                <a:solidFill>
                  <a:srgbClr val="1A1A1A"/>
                </a:solidFill>
              </a:rPr>
              <a:t>Intelligence</a:t>
            </a:r>
            <a:r>
              <a:rPr sz="5600" spc="-229" dirty="0">
                <a:solidFill>
                  <a:srgbClr val="1A1A1A"/>
                </a:solidFill>
              </a:rPr>
              <a:t> </a:t>
            </a:r>
            <a:r>
              <a:rPr sz="5600" dirty="0">
                <a:solidFill>
                  <a:srgbClr val="1A1A1A"/>
                </a:solidFill>
              </a:rPr>
              <a:t>(RAG</a:t>
            </a:r>
            <a:r>
              <a:rPr sz="5600" spc="-200" dirty="0">
                <a:solidFill>
                  <a:srgbClr val="1A1A1A"/>
                </a:solidFill>
              </a:rPr>
              <a:t> </a:t>
            </a:r>
            <a:r>
              <a:rPr sz="5600" spc="-10" dirty="0">
                <a:solidFill>
                  <a:srgbClr val="1A1A1A"/>
                </a:solidFill>
              </a:rPr>
              <a:t>Agent)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1247775" y="1699148"/>
            <a:ext cx="10315575" cy="4521200"/>
            <a:chOff x="1247775" y="1699148"/>
            <a:chExt cx="10315575" cy="4521200"/>
          </a:xfrm>
        </p:grpSpPr>
        <p:sp>
          <p:nvSpPr>
            <p:cNvPr id="4" name="object 4"/>
            <p:cNvSpPr/>
            <p:nvPr/>
          </p:nvSpPr>
          <p:spPr>
            <a:xfrm>
              <a:off x="3809492" y="1719208"/>
              <a:ext cx="4572635" cy="50165"/>
            </a:xfrm>
            <a:custGeom>
              <a:avLst/>
              <a:gdLst/>
              <a:ahLst/>
              <a:cxnLst/>
              <a:rect l="l" t="t" r="r" b="b"/>
              <a:pathLst>
                <a:path w="4572634" h="50164">
                  <a:moveTo>
                    <a:pt x="1921998" y="0"/>
                  </a:moveTo>
                  <a:lnTo>
                    <a:pt x="1873880" y="58"/>
                  </a:lnTo>
                  <a:lnTo>
                    <a:pt x="1826444" y="925"/>
                  </a:lnTo>
                  <a:lnTo>
                    <a:pt x="1779512" y="2692"/>
                  </a:lnTo>
                  <a:lnTo>
                    <a:pt x="1732905" y="5455"/>
                  </a:lnTo>
                  <a:lnTo>
                    <a:pt x="1686444" y="9307"/>
                  </a:lnTo>
                  <a:lnTo>
                    <a:pt x="1639951" y="14341"/>
                  </a:lnTo>
                  <a:lnTo>
                    <a:pt x="1586750" y="19436"/>
                  </a:lnTo>
                  <a:lnTo>
                    <a:pt x="1536688" y="21745"/>
                  </a:lnTo>
                  <a:lnTo>
                    <a:pt x="1488861" y="21857"/>
                  </a:lnTo>
                  <a:lnTo>
                    <a:pt x="1442365" y="20360"/>
                  </a:lnTo>
                  <a:lnTo>
                    <a:pt x="1396296" y="17845"/>
                  </a:lnTo>
                  <a:lnTo>
                    <a:pt x="1301824" y="12113"/>
                  </a:lnTo>
                  <a:lnTo>
                    <a:pt x="1251613" y="10075"/>
                  </a:lnTo>
                  <a:lnTo>
                    <a:pt x="1198212" y="9374"/>
                  </a:lnTo>
                  <a:lnTo>
                    <a:pt x="1140719" y="10600"/>
                  </a:lnTo>
                  <a:lnTo>
                    <a:pt x="1078230" y="14341"/>
                  </a:lnTo>
                  <a:lnTo>
                    <a:pt x="1011887" y="19292"/>
                  </a:lnTo>
                  <a:lnTo>
                    <a:pt x="955022" y="22802"/>
                  </a:lnTo>
                  <a:lnTo>
                    <a:pt x="905310" y="24998"/>
                  </a:lnTo>
                  <a:lnTo>
                    <a:pt x="860423" y="26009"/>
                  </a:lnTo>
                  <a:lnTo>
                    <a:pt x="818038" y="25961"/>
                  </a:lnTo>
                  <a:lnTo>
                    <a:pt x="775828" y="24984"/>
                  </a:lnTo>
                  <a:lnTo>
                    <a:pt x="731468" y="23206"/>
                  </a:lnTo>
                  <a:lnTo>
                    <a:pt x="562229" y="14341"/>
                  </a:lnTo>
                  <a:lnTo>
                    <a:pt x="499676" y="11427"/>
                  </a:lnTo>
                  <a:lnTo>
                    <a:pt x="439525" y="9178"/>
                  </a:lnTo>
                  <a:lnTo>
                    <a:pt x="381742" y="7567"/>
                  </a:lnTo>
                  <a:lnTo>
                    <a:pt x="326291" y="6566"/>
                  </a:lnTo>
                  <a:lnTo>
                    <a:pt x="273137" y="6148"/>
                  </a:lnTo>
                  <a:lnTo>
                    <a:pt x="222247" y="6286"/>
                  </a:lnTo>
                  <a:lnTo>
                    <a:pt x="173583" y="6951"/>
                  </a:lnTo>
                  <a:lnTo>
                    <a:pt x="127113" y="8117"/>
                  </a:lnTo>
                  <a:lnTo>
                    <a:pt x="82800" y="9755"/>
                  </a:lnTo>
                  <a:lnTo>
                    <a:pt x="40610" y="11839"/>
                  </a:lnTo>
                  <a:lnTo>
                    <a:pt x="508" y="14341"/>
                  </a:lnTo>
                  <a:lnTo>
                    <a:pt x="0" y="22850"/>
                  </a:lnTo>
                  <a:lnTo>
                    <a:pt x="1270" y="25644"/>
                  </a:lnTo>
                  <a:lnTo>
                    <a:pt x="508" y="33391"/>
                  </a:lnTo>
                  <a:lnTo>
                    <a:pt x="58145" y="28945"/>
                  </a:lnTo>
                  <a:lnTo>
                    <a:pt x="111072" y="26286"/>
                  </a:lnTo>
                  <a:lnTo>
                    <a:pt x="160418" y="25112"/>
                  </a:lnTo>
                  <a:lnTo>
                    <a:pt x="207318" y="25127"/>
                  </a:lnTo>
                  <a:lnTo>
                    <a:pt x="252904" y="26031"/>
                  </a:lnTo>
                  <a:lnTo>
                    <a:pt x="298308" y="27526"/>
                  </a:lnTo>
                  <a:lnTo>
                    <a:pt x="393098" y="31089"/>
                  </a:lnTo>
                  <a:lnTo>
                    <a:pt x="444750" y="32561"/>
                  </a:lnTo>
                  <a:lnTo>
                    <a:pt x="500749" y="33428"/>
                  </a:lnTo>
                  <a:lnTo>
                    <a:pt x="562229" y="33391"/>
                  </a:lnTo>
                  <a:lnTo>
                    <a:pt x="619171" y="32654"/>
                  </a:lnTo>
                  <a:lnTo>
                    <a:pt x="672135" y="31609"/>
                  </a:lnTo>
                  <a:lnTo>
                    <a:pt x="861187" y="27009"/>
                  </a:lnTo>
                  <a:lnTo>
                    <a:pt x="906990" y="26415"/>
                  </a:lnTo>
                  <a:lnTo>
                    <a:pt x="953906" y="26307"/>
                  </a:lnTo>
                  <a:lnTo>
                    <a:pt x="1002784" y="26819"/>
                  </a:lnTo>
                  <a:lnTo>
                    <a:pt x="1054471" y="28082"/>
                  </a:lnTo>
                  <a:lnTo>
                    <a:pt x="1109817" y="30228"/>
                  </a:lnTo>
                  <a:lnTo>
                    <a:pt x="1223815" y="36364"/>
                  </a:lnTo>
                  <a:lnTo>
                    <a:pt x="1279016" y="38909"/>
                  </a:lnTo>
                  <a:lnTo>
                    <a:pt x="1334845" y="41020"/>
                  </a:lnTo>
                  <a:lnTo>
                    <a:pt x="1390877" y="42688"/>
                  </a:lnTo>
                  <a:lnTo>
                    <a:pt x="1446685" y="43907"/>
                  </a:lnTo>
                  <a:lnTo>
                    <a:pt x="1501843" y="44668"/>
                  </a:lnTo>
                  <a:lnTo>
                    <a:pt x="1555924" y="44964"/>
                  </a:lnTo>
                  <a:lnTo>
                    <a:pt x="1608503" y="44788"/>
                  </a:lnTo>
                  <a:lnTo>
                    <a:pt x="1659153" y="44131"/>
                  </a:lnTo>
                  <a:lnTo>
                    <a:pt x="1707448" y="42988"/>
                  </a:lnTo>
                  <a:lnTo>
                    <a:pt x="1752961" y="41350"/>
                  </a:lnTo>
                  <a:lnTo>
                    <a:pt x="1795267" y="39209"/>
                  </a:lnTo>
                  <a:lnTo>
                    <a:pt x="1833939" y="36559"/>
                  </a:lnTo>
                  <a:lnTo>
                    <a:pt x="1868551" y="33391"/>
                  </a:lnTo>
                  <a:lnTo>
                    <a:pt x="1906726" y="30631"/>
                  </a:lnTo>
                  <a:lnTo>
                    <a:pt x="1940185" y="30598"/>
                  </a:lnTo>
                  <a:lnTo>
                    <a:pt x="1971080" y="32566"/>
                  </a:lnTo>
                  <a:lnTo>
                    <a:pt x="2001567" y="35811"/>
                  </a:lnTo>
                  <a:lnTo>
                    <a:pt x="2033797" y="39608"/>
                  </a:lnTo>
                  <a:lnTo>
                    <a:pt x="2069926" y="43232"/>
                  </a:lnTo>
                  <a:lnTo>
                    <a:pt x="2112107" y="45958"/>
                  </a:lnTo>
                  <a:lnTo>
                    <a:pt x="2162494" y="47062"/>
                  </a:lnTo>
                  <a:lnTo>
                    <a:pt x="2223239" y="45819"/>
                  </a:lnTo>
                  <a:lnTo>
                    <a:pt x="2296499" y="41503"/>
                  </a:lnTo>
                  <a:lnTo>
                    <a:pt x="2384425" y="33391"/>
                  </a:lnTo>
                  <a:lnTo>
                    <a:pt x="2450948" y="26860"/>
                  </a:lnTo>
                  <a:lnTo>
                    <a:pt x="2510459" y="22167"/>
                  </a:lnTo>
                  <a:lnTo>
                    <a:pt x="2564020" y="19102"/>
                  </a:lnTo>
                  <a:lnTo>
                    <a:pt x="2612691" y="17456"/>
                  </a:lnTo>
                  <a:lnTo>
                    <a:pt x="2657536" y="17022"/>
                  </a:lnTo>
                  <a:lnTo>
                    <a:pt x="2699614" y="17590"/>
                  </a:lnTo>
                  <a:lnTo>
                    <a:pt x="2739988" y="18952"/>
                  </a:lnTo>
                  <a:lnTo>
                    <a:pt x="2779720" y="20899"/>
                  </a:lnTo>
                  <a:lnTo>
                    <a:pt x="2905676" y="28165"/>
                  </a:lnTo>
                  <a:lnTo>
                    <a:pt x="2953454" y="30367"/>
                  </a:lnTo>
                  <a:lnTo>
                    <a:pt x="3005897" y="32111"/>
                  </a:lnTo>
                  <a:lnTo>
                    <a:pt x="3064067" y="33189"/>
                  </a:lnTo>
                  <a:lnTo>
                    <a:pt x="3129026" y="33391"/>
                  </a:lnTo>
                  <a:lnTo>
                    <a:pt x="3194321" y="32811"/>
                  </a:lnTo>
                  <a:lnTo>
                    <a:pt x="3253361" y="31765"/>
                  </a:lnTo>
                  <a:lnTo>
                    <a:pt x="3307072" y="30379"/>
                  </a:lnTo>
                  <a:lnTo>
                    <a:pt x="3356383" y="28781"/>
                  </a:lnTo>
                  <a:lnTo>
                    <a:pt x="3487188" y="23978"/>
                  </a:lnTo>
                  <a:lnTo>
                    <a:pt x="3528171" y="22796"/>
                  </a:lnTo>
                  <a:lnTo>
                    <a:pt x="3569391" y="22034"/>
                  </a:lnTo>
                  <a:lnTo>
                    <a:pt x="3611776" y="21820"/>
                  </a:lnTo>
                  <a:lnTo>
                    <a:pt x="3656252" y="22279"/>
                  </a:lnTo>
                  <a:lnTo>
                    <a:pt x="3703748" y="23540"/>
                  </a:lnTo>
                  <a:lnTo>
                    <a:pt x="3755191" y="25727"/>
                  </a:lnTo>
                  <a:lnTo>
                    <a:pt x="3811508" y="28969"/>
                  </a:lnTo>
                  <a:lnTo>
                    <a:pt x="3873627" y="33391"/>
                  </a:lnTo>
                  <a:lnTo>
                    <a:pt x="3939279" y="38329"/>
                  </a:lnTo>
                  <a:lnTo>
                    <a:pt x="3997142" y="42342"/>
                  </a:lnTo>
                  <a:lnTo>
                    <a:pt x="4048557" y="45469"/>
                  </a:lnTo>
                  <a:lnTo>
                    <a:pt x="4094867" y="47753"/>
                  </a:lnTo>
                  <a:lnTo>
                    <a:pt x="4137414" y="49236"/>
                  </a:lnTo>
                  <a:lnTo>
                    <a:pt x="4177541" y="49959"/>
                  </a:lnTo>
                  <a:lnTo>
                    <a:pt x="4216590" y="49964"/>
                  </a:lnTo>
                  <a:lnTo>
                    <a:pt x="4255903" y="49293"/>
                  </a:lnTo>
                  <a:lnTo>
                    <a:pt x="4296823" y="47987"/>
                  </a:lnTo>
                  <a:lnTo>
                    <a:pt x="4340692" y="46087"/>
                  </a:lnTo>
                  <a:lnTo>
                    <a:pt x="4388853" y="43636"/>
                  </a:lnTo>
                  <a:lnTo>
                    <a:pt x="4572508" y="33391"/>
                  </a:lnTo>
                  <a:lnTo>
                    <a:pt x="4572381" y="26660"/>
                  </a:lnTo>
                  <a:lnTo>
                    <a:pt x="4572000" y="20818"/>
                  </a:lnTo>
                  <a:lnTo>
                    <a:pt x="4572508" y="14341"/>
                  </a:lnTo>
                  <a:lnTo>
                    <a:pt x="4502018" y="20035"/>
                  </a:lnTo>
                  <a:lnTo>
                    <a:pt x="4435275" y="24619"/>
                  </a:lnTo>
                  <a:lnTo>
                    <a:pt x="4372062" y="28174"/>
                  </a:lnTo>
                  <a:lnTo>
                    <a:pt x="4312162" y="30778"/>
                  </a:lnTo>
                  <a:lnTo>
                    <a:pt x="4255359" y="32511"/>
                  </a:lnTo>
                  <a:lnTo>
                    <a:pt x="4201437" y="33452"/>
                  </a:lnTo>
                  <a:lnTo>
                    <a:pt x="4150178" y="33682"/>
                  </a:lnTo>
                  <a:lnTo>
                    <a:pt x="4101366" y="33280"/>
                  </a:lnTo>
                  <a:lnTo>
                    <a:pt x="4054786" y="32325"/>
                  </a:lnTo>
                  <a:lnTo>
                    <a:pt x="4010219" y="30898"/>
                  </a:lnTo>
                  <a:lnTo>
                    <a:pt x="3967451" y="29076"/>
                  </a:lnTo>
                  <a:lnTo>
                    <a:pt x="3926263" y="26941"/>
                  </a:lnTo>
                  <a:lnTo>
                    <a:pt x="3886441" y="24571"/>
                  </a:lnTo>
                  <a:lnTo>
                    <a:pt x="3736466" y="14341"/>
                  </a:lnTo>
                  <a:lnTo>
                    <a:pt x="3693343" y="12193"/>
                  </a:lnTo>
                  <a:lnTo>
                    <a:pt x="3646760" y="11162"/>
                  </a:lnTo>
                  <a:lnTo>
                    <a:pt x="3597300" y="11061"/>
                  </a:lnTo>
                  <a:lnTo>
                    <a:pt x="3545547" y="11703"/>
                  </a:lnTo>
                  <a:lnTo>
                    <a:pt x="3492086" y="12902"/>
                  </a:lnTo>
                  <a:lnTo>
                    <a:pt x="3272820" y="19516"/>
                  </a:lnTo>
                  <a:lnTo>
                    <a:pt x="3219567" y="20691"/>
                  </a:lnTo>
                  <a:lnTo>
                    <a:pt x="3168107" y="21300"/>
                  </a:lnTo>
                  <a:lnTo>
                    <a:pt x="3119023" y="21156"/>
                  </a:lnTo>
                  <a:lnTo>
                    <a:pt x="3072899" y="20073"/>
                  </a:lnTo>
                  <a:lnTo>
                    <a:pt x="3030319" y="17864"/>
                  </a:lnTo>
                  <a:lnTo>
                    <a:pt x="2951869" y="10608"/>
                  </a:lnTo>
                  <a:lnTo>
                    <a:pt x="2909571" y="8349"/>
                  </a:lnTo>
                  <a:lnTo>
                    <a:pt x="2865165" y="7340"/>
                  </a:lnTo>
                  <a:lnTo>
                    <a:pt x="2818844" y="7354"/>
                  </a:lnTo>
                  <a:lnTo>
                    <a:pt x="2770803" y="8168"/>
                  </a:lnTo>
                  <a:lnTo>
                    <a:pt x="2721234" y="9556"/>
                  </a:lnTo>
                  <a:lnTo>
                    <a:pt x="2565307" y="14916"/>
                  </a:lnTo>
                  <a:lnTo>
                    <a:pt x="2511570" y="16351"/>
                  </a:lnTo>
                  <a:lnTo>
                    <a:pt x="2457276" y="17237"/>
                  </a:lnTo>
                  <a:lnTo>
                    <a:pt x="2402617" y="17347"/>
                  </a:lnTo>
                  <a:lnTo>
                    <a:pt x="2347789" y="16456"/>
                  </a:lnTo>
                  <a:lnTo>
                    <a:pt x="2292985" y="14341"/>
                  </a:lnTo>
                  <a:lnTo>
                    <a:pt x="2124882" y="5970"/>
                  </a:lnTo>
                  <a:lnTo>
                    <a:pt x="2072242" y="3734"/>
                  </a:lnTo>
                  <a:lnTo>
                    <a:pt x="2021000" y="1931"/>
                  </a:lnTo>
                  <a:lnTo>
                    <a:pt x="1970979" y="655"/>
                  </a:lnTo>
                  <a:lnTo>
                    <a:pt x="1921998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9745" y="1719786"/>
              <a:ext cx="4573270" cy="57150"/>
            </a:xfrm>
            <a:custGeom>
              <a:avLst/>
              <a:gdLst/>
              <a:ahLst/>
              <a:cxnLst/>
              <a:rect l="l" t="t" r="r" b="b"/>
              <a:pathLst>
                <a:path w="4573270" h="57150">
                  <a:moveTo>
                    <a:pt x="253" y="13763"/>
                  </a:moveTo>
                  <a:lnTo>
                    <a:pt x="35516" y="8479"/>
                  </a:lnTo>
                  <a:lnTo>
                    <a:pt x="77448" y="5460"/>
                  </a:lnTo>
                  <a:lnTo>
                    <a:pt x="124911" y="4298"/>
                  </a:lnTo>
                  <a:lnTo>
                    <a:pt x="176765" y="4583"/>
                  </a:lnTo>
                  <a:lnTo>
                    <a:pt x="231870" y="5905"/>
                  </a:lnTo>
                  <a:lnTo>
                    <a:pt x="289085" y="7856"/>
                  </a:lnTo>
                  <a:lnTo>
                    <a:pt x="347271" y="10027"/>
                  </a:lnTo>
                  <a:lnTo>
                    <a:pt x="405288" y="12007"/>
                  </a:lnTo>
                  <a:lnTo>
                    <a:pt x="461996" y="13389"/>
                  </a:lnTo>
                  <a:lnTo>
                    <a:pt x="516254" y="13763"/>
                  </a:lnTo>
                  <a:lnTo>
                    <a:pt x="568456" y="14010"/>
                  </a:lnTo>
                  <a:lnTo>
                    <a:pt x="619906" y="15068"/>
                  </a:lnTo>
                  <a:lnTo>
                    <a:pt x="670836" y="16611"/>
                  </a:lnTo>
                  <a:lnTo>
                    <a:pt x="721478" y="18317"/>
                  </a:lnTo>
                  <a:lnTo>
                    <a:pt x="772064" y="19859"/>
                  </a:lnTo>
                  <a:lnTo>
                    <a:pt x="822825" y="20914"/>
                  </a:lnTo>
                  <a:lnTo>
                    <a:pt x="873993" y="21156"/>
                  </a:lnTo>
                  <a:lnTo>
                    <a:pt x="925800" y="20261"/>
                  </a:lnTo>
                  <a:lnTo>
                    <a:pt x="978477" y="17905"/>
                  </a:lnTo>
                  <a:lnTo>
                    <a:pt x="1032255" y="13763"/>
                  </a:lnTo>
                  <a:lnTo>
                    <a:pt x="1078538" y="9788"/>
                  </a:lnTo>
                  <a:lnTo>
                    <a:pt x="1126578" y="6452"/>
                  </a:lnTo>
                  <a:lnTo>
                    <a:pt x="1176085" y="3780"/>
                  </a:lnTo>
                  <a:lnTo>
                    <a:pt x="1226768" y="1797"/>
                  </a:lnTo>
                  <a:lnTo>
                    <a:pt x="1278336" y="528"/>
                  </a:lnTo>
                  <a:lnTo>
                    <a:pt x="1330499" y="0"/>
                  </a:lnTo>
                  <a:lnTo>
                    <a:pt x="1382967" y="235"/>
                  </a:lnTo>
                  <a:lnTo>
                    <a:pt x="1435448" y="1261"/>
                  </a:lnTo>
                  <a:lnTo>
                    <a:pt x="1487652" y="3101"/>
                  </a:lnTo>
                  <a:lnTo>
                    <a:pt x="1539288" y="5782"/>
                  </a:lnTo>
                  <a:lnTo>
                    <a:pt x="1590067" y="9327"/>
                  </a:lnTo>
                  <a:lnTo>
                    <a:pt x="1639696" y="13763"/>
                  </a:lnTo>
                  <a:lnTo>
                    <a:pt x="1680492" y="17411"/>
                  </a:lnTo>
                  <a:lnTo>
                    <a:pt x="1724322" y="20531"/>
                  </a:lnTo>
                  <a:lnTo>
                    <a:pt x="1770779" y="23127"/>
                  </a:lnTo>
                  <a:lnTo>
                    <a:pt x="1819452" y="25197"/>
                  </a:lnTo>
                  <a:lnTo>
                    <a:pt x="1869933" y="26745"/>
                  </a:lnTo>
                  <a:lnTo>
                    <a:pt x="1921813" y="27772"/>
                  </a:lnTo>
                  <a:lnTo>
                    <a:pt x="1974683" y="28278"/>
                  </a:lnTo>
                  <a:lnTo>
                    <a:pt x="2028133" y="28265"/>
                  </a:lnTo>
                  <a:lnTo>
                    <a:pt x="2081754" y="27735"/>
                  </a:lnTo>
                  <a:lnTo>
                    <a:pt x="2135138" y="26689"/>
                  </a:lnTo>
                  <a:lnTo>
                    <a:pt x="2187874" y="25128"/>
                  </a:lnTo>
                  <a:lnTo>
                    <a:pt x="2239555" y="23053"/>
                  </a:lnTo>
                  <a:lnTo>
                    <a:pt x="2289771" y="20467"/>
                  </a:lnTo>
                  <a:lnTo>
                    <a:pt x="2338112" y="17370"/>
                  </a:lnTo>
                  <a:lnTo>
                    <a:pt x="2384170" y="13763"/>
                  </a:lnTo>
                  <a:lnTo>
                    <a:pt x="2442641" y="9129"/>
                  </a:lnTo>
                  <a:lnTo>
                    <a:pt x="2496543" y="5694"/>
                  </a:lnTo>
                  <a:lnTo>
                    <a:pt x="2546905" y="3369"/>
                  </a:lnTo>
                  <a:lnTo>
                    <a:pt x="2594757" y="2061"/>
                  </a:lnTo>
                  <a:lnTo>
                    <a:pt x="2641127" y="1680"/>
                  </a:lnTo>
                  <a:lnTo>
                    <a:pt x="2687046" y="2136"/>
                  </a:lnTo>
                  <a:lnTo>
                    <a:pt x="2733542" y="3336"/>
                  </a:lnTo>
                  <a:lnTo>
                    <a:pt x="2781646" y="5189"/>
                  </a:lnTo>
                  <a:lnTo>
                    <a:pt x="2832385" y="7606"/>
                  </a:lnTo>
                  <a:lnTo>
                    <a:pt x="2886791" y="10494"/>
                  </a:lnTo>
                  <a:lnTo>
                    <a:pt x="2945892" y="13763"/>
                  </a:lnTo>
                  <a:lnTo>
                    <a:pt x="3004672" y="17247"/>
                  </a:lnTo>
                  <a:lnTo>
                    <a:pt x="3058243" y="20693"/>
                  </a:lnTo>
                  <a:lnTo>
                    <a:pt x="3107829" y="23883"/>
                  </a:lnTo>
                  <a:lnTo>
                    <a:pt x="3154650" y="26595"/>
                  </a:lnTo>
                  <a:lnTo>
                    <a:pt x="3199928" y="28611"/>
                  </a:lnTo>
                  <a:lnTo>
                    <a:pt x="3244885" y="29710"/>
                  </a:lnTo>
                  <a:lnTo>
                    <a:pt x="3290743" y="29673"/>
                  </a:lnTo>
                  <a:lnTo>
                    <a:pt x="3338722" y="28279"/>
                  </a:lnTo>
                  <a:lnTo>
                    <a:pt x="3390046" y="25310"/>
                  </a:lnTo>
                  <a:lnTo>
                    <a:pt x="3445936" y="20544"/>
                  </a:lnTo>
                  <a:lnTo>
                    <a:pt x="3507612" y="13763"/>
                  </a:lnTo>
                  <a:lnTo>
                    <a:pt x="3542547" y="10153"/>
                  </a:lnTo>
                  <a:lnTo>
                    <a:pt x="3579257" y="7499"/>
                  </a:lnTo>
                  <a:lnTo>
                    <a:pt x="3617712" y="5705"/>
                  </a:lnTo>
                  <a:lnTo>
                    <a:pt x="3657879" y="4680"/>
                  </a:lnTo>
                  <a:lnTo>
                    <a:pt x="3699728" y="4327"/>
                  </a:lnTo>
                  <a:lnTo>
                    <a:pt x="3743227" y="4555"/>
                  </a:lnTo>
                  <a:lnTo>
                    <a:pt x="3788344" y="5268"/>
                  </a:lnTo>
                  <a:lnTo>
                    <a:pt x="3835047" y="6374"/>
                  </a:lnTo>
                  <a:lnTo>
                    <a:pt x="3883306" y="7778"/>
                  </a:lnTo>
                  <a:lnTo>
                    <a:pt x="3933089" y="9387"/>
                  </a:lnTo>
                  <a:lnTo>
                    <a:pt x="3984364" y="11107"/>
                  </a:lnTo>
                  <a:lnTo>
                    <a:pt x="4037100" y="12843"/>
                  </a:lnTo>
                  <a:lnTo>
                    <a:pt x="4091264" y="14503"/>
                  </a:lnTo>
                  <a:lnTo>
                    <a:pt x="4146827" y="15993"/>
                  </a:lnTo>
                  <a:lnTo>
                    <a:pt x="4203756" y="17218"/>
                  </a:lnTo>
                  <a:lnTo>
                    <a:pt x="4262019" y="18084"/>
                  </a:lnTo>
                  <a:lnTo>
                    <a:pt x="4321586" y="18499"/>
                  </a:lnTo>
                  <a:lnTo>
                    <a:pt x="4382424" y="18368"/>
                  </a:lnTo>
                  <a:lnTo>
                    <a:pt x="4444502" y="17598"/>
                  </a:lnTo>
                  <a:lnTo>
                    <a:pt x="4507789" y="16094"/>
                  </a:lnTo>
                  <a:lnTo>
                    <a:pt x="4572254" y="13763"/>
                  </a:lnTo>
                  <a:lnTo>
                    <a:pt x="4573143" y="23161"/>
                  </a:lnTo>
                  <a:lnTo>
                    <a:pt x="4571746" y="23542"/>
                  </a:lnTo>
                  <a:lnTo>
                    <a:pt x="4572254" y="32813"/>
                  </a:lnTo>
                  <a:lnTo>
                    <a:pt x="4528810" y="29609"/>
                  </a:lnTo>
                  <a:lnTo>
                    <a:pt x="4483248" y="26488"/>
                  </a:lnTo>
                  <a:lnTo>
                    <a:pt x="4435848" y="23553"/>
                  </a:lnTo>
                  <a:lnTo>
                    <a:pt x="4386891" y="20905"/>
                  </a:lnTo>
                  <a:lnTo>
                    <a:pt x="4336657" y="18649"/>
                  </a:lnTo>
                  <a:lnTo>
                    <a:pt x="4285427" y="16884"/>
                  </a:lnTo>
                  <a:lnTo>
                    <a:pt x="4233481" y="15716"/>
                  </a:lnTo>
                  <a:lnTo>
                    <a:pt x="4181099" y="15245"/>
                  </a:lnTo>
                  <a:lnTo>
                    <a:pt x="4128563" y="15574"/>
                  </a:lnTo>
                  <a:lnTo>
                    <a:pt x="4076152" y="16807"/>
                  </a:lnTo>
                  <a:lnTo>
                    <a:pt x="4024147" y="19044"/>
                  </a:lnTo>
                  <a:lnTo>
                    <a:pt x="3972828" y="22389"/>
                  </a:lnTo>
                  <a:lnTo>
                    <a:pt x="3922477" y="26945"/>
                  </a:lnTo>
                  <a:lnTo>
                    <a:pt x="3873373" y="32813"/>
                  </a:lnTo>
                  <a:lnTo>
                    <a:pt x="3814057" y="39408"/>
                  </a:lnTo>
                  <a:lnTo>
                    <a:pt x="3758697" y="42897"/>
                  </a:lnTo>
                  <a:lnTo>
                    <a:pt x="3706523" y="43874"/>
                  </a:lnTo>
                  <a:lnTo>
                    <a:pt x="3656767" y="42936"/>
                  </a:lnTo>
                  <a:lnTo>
                    <a:pt x="3608661" y="40679"/>
                  </a:lnTo>
                  <a:lnTo>
                    <a:pt x="3561437" y="37699"/>
                  </a:lnTo>
                  <a:lnTo>
                    <a:pt x="3514327" y="34592"/>
                  </a:lnTo>
                  <a:lnTo>
                    <a:pt x="3466561" y="31954"/>
                  </a:lnTo>
                  <a:lnTo>
                    <a:pt x="3417372" y="30381"/>
                  </a:lnTo>
                  <a:lnTo>
                    <a:pt x="3365992" y="30469"/>
                  </a:lnTo>
                  <a:lnTo>
                    <a:pt x="3311652" y="32813"/>
                  </a:lnTo>
                  <a:lnTo>
                    <a:pt x="3258433" y="35836"/>
                  </a:lnTo>
                  <a:lnTo>
                    <a:pt x="3209970" y="37687"/>
                  </a:lnTo>
                  <a:lnTo>
                    <a:pt x="3164821" y="38556"/>
                  </a:lnTo>
                  <a:lnTo>
                    <a:pt x="3121544" y="38632"/>
                  </a:lnTo>
                  <a:lnTo>
                    <a:pt x="3078697" y="38103"/>
                  </a:lnTo>
                  <a:lnTo>
                    <a:pt x="3034839" y="37158"/>
                  </a:lnTo>
                  <a:lnTo>
                    <a:pt x="2988529" y="35987"/>
                  </a:lnTo>
                  <a:lnTo>
                    <a:pt x="2938325" y="34778"/>
                  </a:lnTo>
                  <a:lnTo>
                    <a:pt x="2882784" y="33720"/>
                  </a:lnTo>
                  <a:lnTo>
                    <a:pt x="2820467" y="33002"/>
                  </a:lnTo>
                  <a:lnTo>
                    <a:pt x="2749930" y="32813"/>
                  </a:lnTo>
                  <a:lnTo>
                    <a:pt x="2692294" y="32427"/>
                  </a:lnTo>
                  <a:lnTo>
                    <a:pt x="2637166" y="31200"/>
                  </a:lnTo>
                  <a:lnTo>
                    <a:pt x="2584215" y="29358"/>
                  </a:lnTo>
                  <a:lnTo>
                    <a:pt x="2533114" y="27126"/>
                  </a:lnTo>
                  <a:lnTo>
                    <a:pt x="2483530" y="24728"/>
                  </a:lnTo>
                  <a:lnTo>
                    <a:pt x="2435136" y="22389"/>
                  </a:lnTo>
                  <a:lnTo>
                    <a:pt x="2387599" y="20335"/>
                  </a:lnTo>
                  <a:lnTo>
                    <a:pt x="2340592" y="18791"/>
                  </a:lnTo>
                  <a:lnTo>
                    <a:pt x="2293784" y="17980"/>
                  </a:lnTo>
                  <a:lnTo>
                    <a:pt x="2246844" y="18129"/>
                  </a:lnTo>
                  <a:lnTo>
                    <a:pt x="2199443" y="19461"/>
                  </a:lnTo>
                  <a:lnTo>
                    <a:pt x="2151252" y="22203"/>
                  </a:lnTo>
                  <a:lnTo>
                    <a:pt x="2101939" y="26579"/>
                  </a:lnTo>
                  <a:lnTo>
                    <a:pt x="2051177" y="32813"/>
                  </a:lnTo>
                  <a:lnTo>
                    <a:pt x="2002627" y="39069"/>
                  </a:lnTo>
                  <a:lnTo>
                    <a:pt x="1953425" y="44336"/>
                  </a:lnTo>
                  <a:lnTo>
                    <a:pt x="1903683" y="48638"/>
                  </a:lnTo>
                  <a:lnTo>
                    <a:pt x="1853517" y="51996"/>
                  </a:lnTo>
                  <a:lnTo>
                    <a:pt x="1803042" y="54431"/>
                  </a:lnTo>
                  <a:lnTo>
                    <a:pt x="1752373" y="55966"/>
                  </a:lnTo>
                  <a:lnTo>
                    <a:pt x="1701625" y="56621"/>
                  </a:lnTo>
                  <a:lnTo>
                    <a:pt x="1650912" y="56419"/>
                  </a:lnTo>
                  <a:lnTo>
                    <a:pt x="1600350" y="55381"/>
                  </a:lnTo>
                  <a:lnTo>
                    <a:pt x="1550053" y="53528"/>
                  </a:lnTo>
                  <a:lnTo>
                    <a:pt x="1500137" y="50883"/>
                  </a:lnTo>
                  <a:lnTo>
                    <a:pt x="1450716" y="47468"/>
                  </a:lnTo>
                  <a:lnTo>
                    <a:pt x="1401906" y="43303"/>
                  </a:lnTo>
                  <a:lnTo>
                    <a:pt x="1353821" y="38411"/>
                  </a:lnTo>
                  <a:lnTo>
                    <a:pt x="1306576" y="32813"/>
                  </a:lnTo>
                  <a:lnTo>
                    <a:pt x="1240168" y="25629"/>
                  </a:lnTo>
                  <a:lnTo>
                    <a:pt x="1180515" y="21536"/>
                  </a:lnTo>
                  <a:lnTo>
                    <a:pt x="1126319" y="19972"/>
                  </a:lnTo>
                  <a:lnTo>
                    <a:pt x="1076279" y="20377"/>
                  </a:lnTo>
                  <a:lnTo>
                    <a:pt x="1029096" y="22193"/>
                  </a:lnTo>
                  <a:lnTo>
                    <a:pt x="983472" y="24858"/>
                  </a:lnTo>
                  <a:lnTo>
                    <a:pt x="938107" y="27812"/>
                  </a:lnTo>
                  <a:lnTo>
                    <a:pt x="891702" y="30497"/>
                  </a:lnTo>
                  <a:lnTo>
                    <a:pt x="842958" y="32350"/>
                  </a:lnTo>
                  <a:lnTo>
                    <a:pt x="790575" y="32813"/>
                  </a:lnTo>
                  <a:lnTo>
                    <a:pt x="753895" y="32468"/>
                  </a:lnTo>
                  <a:lnTo>
                    <a:pt x="712573" y="31985"/>
                  </a:lnTo>
                  <a:lnTo>
                    <a:pt x="667240" y="31402"/>
                  </a:lnTo>
                  <a:lnTo>
                    <a:pt x="618527" y="30759"/>
                  </a:lnTo>
                  <a:lnTo>
                    <a:pt x="567066" y="30097"/>
                  </a:lnTo>
                  <a:lnTo>
                    <a:pt x="513489" y="29453"/>
                  </a:lnTo>
                  <a:lnTo>
                    <a:pt x="458426" y="28869"/>
                  </a:lnTo>
                  <a:lnTo>
                    <a:pt x="402510" y="28384"/>
                  </a:lnTo>
                  <a:lnTo>
                    <a:pt x="346372" y="28037"/>
                  </a:lnTo>
                  <a:lnTo>
                    <a:pt x="290645" y="27868"/>
                  </a:lnTo>
                  <a:lnTo>
                    <a:pt x="235958" y="27917"/>
                  </a:lnTo>
                  <a:lnTo>
                    <a:pt x="182945" y="28223"/>
                  </a:lnTo>
                  <a:lnTo>
                    <a:pt x="132236" y="28826"/>
                  </a:lnTo>
                  <a:lnTo>
                    <a:pt x="84464" y="29766"/>
                  </a:lnTo>
                  <a:lnTo>
                    <a:pt x="40259" y="31082"/>
                  </a:lnTo>
                  <a:lnTo>
                    <a:pt x="253" y="32813"/>
                  </a:lnTo>
                  <a:lnTo>
                    <a:pt x="0" y="28622"/>
                  </a:lnTo>
                  <a:lnTo>
                    <a:pt x="762" y="19859"/>
                  </a:lnTo>
                  <a:lnTo>
                    <a:pt x="253" y="13763"/>
                  </a:lnTo>
                  <a:close/>
                </a:path>
              </a:pathLst>
            </a:custGeom>
            <a:ln w="41275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47775" y="1771649"/>
              <a:ext cx="10315575" cy="44481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4F8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21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latin typeface="Calibri"/>
                <a:cs typeface="Calibri"/>
              </a:rPr>
              <a:t>Model</a:t>
            </a:r>
            <a:r>
              <a:rPr sz="4800" spc="-90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Card</a:t>
            </a:r>
            <a:r>
              <a:rPr sz="4800" spc="-135" dirty="0">
                <a:latin typeface="Calibri"/>
                <a:cs typeface="Calibri"/>
              </a:rPr>
              <a:t> </a:t>
            </a:r>
            <a:r>
              <a:rPr sz="4800" dirty="0">
                <a:latin typeface="Calibri"/>
                <a:cs typeface="Calibri"/>
              </a:rPr>
              <a:t>&amp;</a:t>
            </a:r>
            <a:r>
              <a:rPr sz="4800" spc="-45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Performance</a:t>
            </a:r>
            <a:r>
              <a:rPr sz="4800" spc="-60" dirty="0">
                <a:latin typeface="Calibri"/>
                <a:cs typeface="Calibri"/>
              </a:rPr>
              <a:t> </a:t>
            </a:r>
            <a:r>
              <a:rPr sz="4800" spc="-10" dirty="0">
                <a:latin typeface="Calibri"/>
                <a:cs typeface="Calibri"/>
              </a:rPr>
              <a:t>Slices</a:t>
            </a:r>
            <a:endParaRPr sz="4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724025"/>
            <a:ext cx="12191999" cy="441007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6257" y="6448742"/>
            <a:ext cx="35579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HackInsight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2026</a:t>
            </a:r>
            <a:r>
              <a:rPr sz="950" spc="409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|</a:t>
            </a:r>
            <a:r>
              <a:rPr sz="950" spc="36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Heatwave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Risk</a:t>
            </a:r>
            <a:r>
              <a:rPr sz="950" spc="8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Prediction</a:t>
            </a:r>
            <a:r>
              <a:rPr sz="950" spc="9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&amp;</a:t>
            </a:r>
            <a:r>
              <a:rPr sz="950" spc="9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Climate</a:t>
            </a:r>
            <a:r>
              <a:rPr sz="950" spc="1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C6A4F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0941" rIns="0" bIns="0" rtlCol="0">
            <a:spAutoFit/>
          </a:bodyPr>
          <a:lstStyle/>
          <a:p>
            <a:pPr marL="436308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50862" y="1465325"/>
            <a:ext cx="3575685" cy="2432050"/>
            <a:chOff x="550862" y="1465325"/>
            <a:chExt cx="3575685" cy="2432050"/>
          </a:xfrm>
        </p:grpSpPr>
        <p:sp>
          <p:nvSpPr>
            <p:cNvPr id="5" name="object 5"/>
            <p:cNvSpPr/>
            <p:nvPr/>
          </p:nvSpPr>
          <p:spPr>
            <a:xfrm>
              <a:off x="557212" y="1471675"/>
              <a:ext cx="3562985" cy="2419350"/>
            </a:xfrm>
            <a:custGeom>
              <a:avLst/>
              <a:gdLst/>
              <a:ahLst/>
              <a:cxnLst/>
              <a:rect l="l" t="t" r="r" b="b"/>
              <a:pathLst>
                <a:path w="3562985" h="2419350">
                  <a:moveTo>
                    <a:pt x="3452812" y="0"/>
                  </a:moveTo>
                  <a:lnTo>
                    <a:pt x="109550" y="0"/>
                  </a:lnTo>
                  <a:lnTo>
                    <a:pt x="66908" y="8604"/>
                  </a:lnTo>
                  <a:lnTo>
                    <a:pt x="32086" y="32067"/>
                  </a:lnTo>
                  <a:lnTo>
                    <a:pt x="8609" y="66865"/>
                  </a:lnTo>
                  <a:lnTo>
                    <a:pt x="0" y="109474"/>
                  </a:lnTo>
                  <a:lnTo>
                    <a:pt x="0" y="2309749"/>
                  </a:lnTo>
                  <a:lnTo>
                    <a:pt x="8609" y="2352357"/>
                  </a:lnTo>
                  <a:lnTo>
                    <a:pt x="32086" y="2387155"/>
                  </a:lnTo>
                  <a:lnTo>
                    <a:pt x="66908" y="2410618"/>
                  </a:lnTo>
                  <a:lnTo>
                    <a:pt x="109550" y="2419223"/>
                  </a:lnTo>
                  <a:lnTo>
                    <a:pt x="3452812" y="2419223"/>
                  </a:lnTo>
                  <a:lnTo>
                    <a:pt x="3495440" y="2410618"/>
                  </a:lnTo>
                  <a:lnTo>
                    <a:pt x="3530282" y="2387155"/>
                  </a:lnTo>
                  <a:lnTo>
                    <a:pt x="3553789" y="2352357"/>
                  </a:lnTo>
                  <a:lnTo>
                    <a:pt x="3562413" y="2309749"/>
                  </a:lnTo>
                  <a:lnTo>
                    <a:pt x="3562413" y="109474"/>
                  </a:lnTo>
                  <a:lnTo>
                    <a:pt x="3553789" y="66865"/>
                  </a:lnTo>
                  <a:lnTo>
                    <a:pt x="3530282" y="32067"/>
                  </a:lnTo>
                  <a:lnTo>
                    <a:pt x="3495440" y="8604"/>
                  </a:lnTo>
                  <a:lnTo>
                    <a:pt x="3452812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1471675"/>
              <a:ext cx="3562985" cy="2419350"/>
            </a:xfrm>
            <a:custGeom>
              <a:avLst/>
              <a:gdLst/>
              <a:ahLst/>
              <a:cxnLst/>
              <a:rect l="l" t="t" r="r" b="b"/>
              <a:pathLst>
                <a:path w="3562985" h="2419350">
                  <a:moveTo>
                    <a:pt x="0" y="109474"/>
                  </a:moveTo>
                  <a:lnTo>
                    <a:pt x="8609" y="66865"/>
                  </a:lnTo>
                  <a:lnTo>
                    <a:pt x="32086" y="32067"/>
                  </a:lnTo>
                  <a:lnTo>
                    <a:pt x="66908" y="8604"/>
                  </a:lnTo>
                  <a:lnTo>
                    <a:pt x="109550" y="0"/>
                  </a:lnTo>
                  <a:lnTo>
                    <a:pt x="3452812" y="0"/>
                  </a:lnTo>
                  <a:lnTo>
                    <a:pt x="3495440" y="8604"/>
                  </a:lnTo>
                  <a:lnTo>
                    <a:pt x="3530282" y="32067"/>
                  </a:lnTo>
                  <a:lnTo>
                    <a:pt x="3553789" y="66865"/>
                  </a:lnTo>
                  <a:lnTo>
                    <a:pt x="3562413" y="109474"/>
                  </a:lnTo>
                  <a:lnTo>
                    <a:pt x="3562413" y="2309749"/>
                  </a:lnTo>
                  <a:lnTo>
                    <a:pt x="3553789" y="2352357"/>
                  </a:lnTo>
                  <a:lnTo>
                    <a:pt x="3530282" y="2387155"/>
                  </a:lnTo>
                  <a:lnTo>
                    <a:pt x="3495440" y="2410618"/>
                  </a:lnTo>
                  <a:lnTo>
                    <a:pt x="3452812" y="2419223"/>
                  </a:lnTo>
                  <a:lnTo>
                    <a:pt x="109550" y="2419223"/>
                  </a:lnTo>
                  <a:lnTo>
                    <a:pt x="66908" y="2410618"/>
                  </a:lnTo>
                  <a:lnTo>
                    <a:pt x="32086" y="2387155"/>
                  </a:lnTo>
                  <a:lnTo>
                    <a:pt x="8609" y="2352357"/>
                  </a:lnTo>
                  <a:lnTo>
                    <a:pt x="0" y="2309749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10894" y="1586541"/>
            <a:ext cx="2974975" cy="175513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K</a:t>
            </a:r>
            <a:r>
              <a:rPr sz="1200" b="1" spc="4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3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Y</a:t>
            </a:r>
            <a:r>
              <a:rPr sz="1200" b="1" spc="160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F I</a:t>
            </a:r>
            <a:r>
              <a:rPr sz="1200" b="1" spc="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5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D</a:t>
            </a:r>
            <a:r>
              <a:rPr sz="1200" b="1" spc="1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I</a:t>
            </a:r>
            <a:r>
              <a:rPr sz="1200" b="1" spc="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5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G</a:t>
            </a:r>
            <a:r>
              <a:rPr sz="1200" b="1" spc="165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spc="-50" dirty="0">
                <a:solidFill>
                  <a:srgbClr val="40916C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3600" b="1" dirty="0">
                <a:solidFill>
                  <a:srgbClr val="1B4D3D"/>
                </a:solidFill>
                <a:latin typeface="Calibri"/>
                <a:cs typeface="Calibri"/>
              </a:rPr>
              <a:t>1.24°C</a:t>
            </a:r>
            <a:r>
              <a:rPr sz="3600" b="1" spc="-45" dirty="0">
                <a:solidFill>
                  <a:srgbClr val="1B4D3D"/>
                </a:solidFill>
                <a:latin typeface="Calibri"/>
                <a:cs typeface="Calibri"/>
              </a:rPr>
              <a:t> </a:t>
            </a:r>
            <a:r>
              <a:rPr sz="3600" b="1" spc="-25" dirty="0">
                <a:solidFill>
                  <a:srgbClr val="1B4D3D"/>
                </a:solidFill>
                <a:latin typeface="Calibri"/>
                <a:cs typeface="Calibri"/>
              </a:rPr>
              <a:t>MAE</a:t>
            </a:r>
            <a:endParaRPr sz="3600">
              <a:latin typeface="Calibri"/>
              <a:cs typeface="Calibri"/>
            </a:endParaRPr>
          </a:p>
          <a:p>
            <a:pPr marL="12700" marR="5080">
              <a:lnSpc>
                <a:spcPct val="100600"/>
              </a:lnSpc>
              <a:spcBef>
                <a:spcPts val="1535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model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achieved</a:t>
            </a:r>
            <a:r>
              <a:rPr sz="14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</a:t>
            </a:r>
            <a:r>
              <a:rPr sz="14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test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MAE</a:t>
            </a:r>
            <a:r>
              <a:rPr sz="1400" spc="-7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of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1.2418°C,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 outperforming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400" spc="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persistence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baseline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of</a:t>
            </a:r>
            <a:r>
              <a:rPr sz="1400" spc="-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1.2788°C.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94251" y="1465325"/>
            <a:ext cx="3584575" cy="2432050"/>
            <a:chOff x="4294251" y="1465325"/>
            <a:chExt cx="3584575" cy="2432050"/>
          </a:xfrm>
        </p:grpSpPr>
        <p:sp>
          <p:nvSpPr>
            <p:cNvPr id="9" name="object 9"/>
            <p:cNvSpPr/>
            <p:nvPr/>
          </p:nvSpPr>
          <p:spPr>
            <a:xfrm>
              <a:off x="4300601" y="1471675"/>
              <a:ext cx="3571875" cy="2419350"/>
            </a:xfrm>
            <a:custGeom>
              <a:avLst/>
              <a:gdLst/>
              <a:ahLst/>
              <a:cxnLst/>
              <a:rect l="l" t="t" r="r" b="b"/>
              <a:pathLst>
                <a:path w="3571875" h="2419350">
                  <a:moveTo>
                    <a:pt x="3462274" y="0"/>
                  </a:moveTo>
                  <a:lnTo>
                    <a:pt x="109474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2309749"/>
                  </a:lnTo>
                  <a:lnTo>
                    <a:pt x="8604" y="2352357"/>
                  </a:lnTo>
                  <a:lnTo>
                    <a:pt x="32067" y="2387155"/>
                  </a:lnTo>
                  <a:lnTo>
                    <a:pt x="66865" y="2410618"/>
                  </a:lnTo>
                  <a:lnTo>
                    <a:pt x="109474" y="2419223"/>
                  </a:lnTo>
                  <a:lnTo>
                    <a:pt x="3462274" y="2419223"/>
                  </a:lnTo>
                  <a:lnTo>
                    <a:pt x="3504902" y="2410618"/>
                  </a:lnTo>
                  <a:lnTo>
                    <a:pt x="3539744" y="2387155"/>
                  </a:lnTo>
                  <a:lnTo>
                    <a:pt x="3563250" y="2352357"/>
                  </a:lnTo>
                  <a:lnTo>
                    <a:pt x="3571875" y="2309749"/>
                  </a:lnTo>
                  <a:lnTo>
                    <a:pt x="3571875" y="109474"/>
                  </a:lnTo>
                  <a:lnTo>
                    <a:pt x="3563250" y="66865"/>
                  </a:lnTo>
                  <a:lnTo>
                    <a:pt x="3539744" y="32067"/>
                  </a:lnTo>
                  <a:lnTo>
                    <a:pt x="3504902" y="8604"/>
                  </a:lnTo>
                  <a:lnTo>
                    <a:pt x="3462274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00601" y="1471675"/>
              <a:ext cx="3571875" cy="2419350"/>
            </a:xfrm>
            <a:custGeom>
              <a:avLst/>
              <a:gdLst/>
              <a:ahLst/>
              <a:cxnLst/>
              <a:rect l="l" t="t" r="r" b="b"/>
              <a:pathLst>
                <a:path w="3571875" h="2419350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3462274" y="0"/>
                  </a:lnTo>
                  <a:lnTo>
                    <a:pt x="3504902" y="8604"/>
                  </a:lnTo>
                  <a:lnTo>
                    <a:pt x="3539744" y="32067"/>
                  </a:lnTo>
                  <a:lnTo>
                    <a:pt x="3563250" y="66865"/>
                  </a:lnTo>
                  <a:lnTo>
                    <a:pt x="3571875" y="109474"/>
                  </a:lnTo>
                  <a:lnTo>
                    <a:pt x="3571875" y="2309749"/>
                  </a:lnTo>
                  <a:lnTo>
                    <a:pt x="3563250" y="2352357"/>
                  </a:lnTo>
                  <a:lnTo>
                    <a:pt x="3539744" y="2387155"/>
                  </a:lnTo>
                  <a:lnTo>
                    <a:pt x="3504902" y="2410618"/>
                  </a:lnTo>
                  <a:lnTo>
                    <a:pt x="3462274" y="2419223"/>
                  </a:lnTo>
                  <a:lnTo>
                    <a:pt x="109474" y="2419223"/>
                  </a:lnTo>
                  <a:lnTo>
                    <a:pt x="66865" y="2410618"/>
                  </a:lnTo>
                  <a:lnTo>
                    <a:pt x="32067" y="2387155"/>
                  </a:lnTo>
                  <a:lnTo>
                    <a:pt x="8604" y="2352357"/>
                  </a:lnTo>
                  <a:lnTo>
                    <a:pt x="0" y="2309749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62728" y="1580059"/>
            <a:ext cx="3020695" cy="1761489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K</a:t>
            </a:r>
            <a:r>
              <a:rPr sz="1200" b="1" spc="4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3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Y</a:t>
            </a:r>
            <a:r>
              <a:rPr sz="1200" b="1" spc="160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F I</a:t>
            </a:r>
            <a:r>
              <a:rPr sz="1200" b="1" spc="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5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D</a:t>
            </a:r>
            <a:r>
              <a:rPr sz="1200" b="1" spc="1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I</a:t>
            </a:r>
            <a:r>
              <a:rPr sz="1200" b="1" spc="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5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G</a:t>
            </a:r>
            <a:r>
              <a:rPr sz="1200" b="1" spc="165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spc="-50" dirty="0">
                <a:solidFill>
                  <a:srgbClr val="40916C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3600" b="1" spc="-10" dirty="0">
                <a:solidFill>
                  <a:srgbClr val="1B4D3D"/>
                </a:solidFill>
                <a:latin typeface="Cambria"/>
                <a:cs typeface="Cambria"/>
              </a:rPr>
              <a:t>88.2%</a:t>
            </a:r>
            <a:endParaRPr sz="3600">
              <a:latin typeface="Cambria"/>
              <a:cs typeface="Cambria"/>
            </a:endParaRPr>
          </a:p>
          <a:p>
            <a:pPr marL="12700" marR="5080">
              <a:lnSpc>
                <a:spcPct val="100600"/>
              </a:lnSpc>
              <a:spcBef>
                <a:spcPts val="1380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Conformal</a:t>
            </a:r>
            <a:r>
              <a:rPr sz="14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prediction</a:t>
            </a:r>
            <a:r>
              <a:rPr sz="14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achieved</a:t>
            </a:r>
            <a:r>
              <a:rPr sz="14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88.2%</a:t>
            </a:r>
            <a:r>
              <a:rPr sz="1400" spc="5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test</a:t>
            </a:r>
            <a:r>
              <a:rPr sz="1400" spc="-8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interval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coverage,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exceeding</a:t>
            </a:r>
            <a:r>
              <a:rPr sz="1400" spc="-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80%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target.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47101" y="1465325"/>
            <a:ext cx="3575050" cy="2432050"/>
            <a:chOff x="8047101" y="1465325"/>
            <a:chExt cx="3575050" cy="2432050"/>
          </a:xfrm>
        </p:grpSpPr>
        <p:sp>
          <p:nvSpPr>
            <p:cNvPr id="13" name="object 13"/>
            <p:cNvSpPr/>
            <p:nvPr/>
          </p:nvSpPr>
          <p:spPr>
            <a:xfrm>
              <a:off x="8053451" y="1471675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3452749" y="0"/>
                  </a:moveTo>
                  <a:lnTo>
                    <a:pt x="109474" y="0"/>
                  </a:lnTo>
                  <a:lnTo>
                    <a:pt x="66865" y="8604"/>
                  </a:lnTo>
                  <a:lnTo>
                    <a:pt x="32067" y="32067"/>
                  </a:lnTo>
                  <a:lnTo>
                    <a:pt x="8604" y="66865"/>
                  </a:lnTo>
                  <a:lnTo>
                    <a:pt x="0" y="109474"/>
                  </a:lnTo>
                  <a:lnTo>
                    <a:pt x="0" y="2309749"/>
                  </a:lnTo>
                  <a:lnTo>
                    <a:pt x="8604" y="2352357"/>
                  </a:lnTo>
                  <a:lnTo>
                    <a:pt x="32067" y="2387155"/>
                  </a:lnTo>
                  <a:lnTo>
                    <a:pt x="66865" y="2410618"/>
                  </a:lnTo>
                  <a:lnTo>
                    <a:pt x="109474" y="2419223"/>
                  </a:lnTo>
                  <a:lnTo>
                    <a:pt x="3452749" y="2419223"/>
                  </a:lnTo>
                  <a:lnTo>
                    <a:pt x="3495377" y="2410618"/>
                  </a:lnTo>
                  <a:lnTo>
                    <a:pt x="3530219" y="2387155"/>
                  </a:lnTo>
                  <a:lnTo>
                    <a:pt x="3553725" y="2352357"/>
                  </a:lnTo>
                  <a:lnTo>
                    <a:pt x="3562350" y="2309749"/>
                  </a:lnTo>
                  <a:lnTo>
                    <a:pt x="3562350" y="109474"/>
                  </a:lnTo>
                  <a:lnTo>
                    <a:pt x="3553725" y="66865"/>
                  </a:lnTo>
                  <a:lnTo>
                    <a:pt x="3530219" y="32067"/>
                  </a:lnTo>
                  <a:lnTo>
                    <a:pt x="3495377" y="8604"/>
                  </a:lnTo>
                  <a:lnTo>
                    <a:pt x="3452749" y="0"/>
                  </a:lnTo>
                  <a:close/>
                </a:path>
              </a:pathLst>
            </a:custGeom>
            <a:solidFill>
              <a:srgbClr val="E8F5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53451" y="1471675"/>
              <a:ext cx="3562350" cy="2419350"/>
            </a:xfrm>
            <a:custGeom>
              <a:avLst/>
              <a:gdLst/>
              <a:ahLst/>
              <a:cxnLst/>
              <a:rect l="l" t="t" r="r" b="b"/>
              <a:pathLst>
                <a:path w="3562350" h="2419350">
                  <a:moveTo>
                    <a:pt x="0" y="109474"/>
                  </a:moveTo>
                  <a:lnTo>
                    <a:pt x="8604" y="66865"/>
                  </a:lnTo>
                  <a:lnTo>
                    <a:pt x="32067" y="32067"/>
                  </a:lnTo>
                  <a:lnTo>
                    <a:pt x="66865" y="8604"/>
                  </a:lnTo>
                  <a:lnTo>
                    <a:pt x="109474" y="0"/>
                  </a:lnTo>
                  <a:lnTo>
                    <a:pt x="3452749" y="0"/>
                  </a:lnTo>
                  <a:lnTo>
                    <a:pt x="3495377" y="8604"/>
                  </a:lnTo>
                  <a:lnTo>
                    <a:pt x="3530219" y="32067"/>
                  </a:lnTo>
                  <a:lnTo>
                    <a:pt x="3553725" y="66865"/>
                  </a:lnTo>
                  <a:lnTo>
                    <a:pt x="3562350" y="109474"/>
                  </a:lnTo>
                  <a:lnTo>
                    <a:pt x="3562350" y="2309749"/>
                  </a:lnTo>
                  <a:lnTo>
                    <a:pt x="3553725" y="2352357"/>
                  </a:lnTo>
                  <a:lnTo>
                    <a:pt x="3530219" y="2387155"/>
                  </a:lnTo>
                  <a:lnTo>
                    <a:pt x="3495377" y="2410618"/>
                  </a:lnTo>
                  <a:lnTo>
                    <a:pt x="3452749" y="2419223"/>
                  </a:lnTo>
                  <a:lnTo>
                    <a:pt x="109474" y="2419223"/>
                  </a:lnTo>
                  <a:lnTo>
                    <a:pt x="66865" y="2410618"/>
                  </a:lnTo>
                  <a:lnTo>
                    <a:pt x="32067" y="2387155"/>
                  </a:lnTo>
                  <a:lnTo>
                    <a:pt x="8604" y="2352357"/>
                  </a:lnTo>
                  <a:lnTo>
                    <a:pt x="0" y="2309749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314690" y="1586541"/>
            <a:ext cx="2707640" cy="175513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09"/>
              </a:spcBef>
            </a:pP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K</a:t>
            </a:r>
            <a:r>
              <a:rPr sz="1200" b="1" spc="4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E</a:t>
            </a:r>
            <a:r>
              <a:rPr sz="1200" b="1" spc="3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Y</a:t>
            </a:r>
            <a:r>
              <a:rPr sz="1200" b="1" spc="160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F I</a:t>
            </a:r>
            <a:r>
              <a:rPr sz="1200" b="1" spc="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5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D</a:t>
            </a:r>
            <a:r>
              <a:rPr sz="1200" b="1" spc="10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I</a:t>
            </a:r>
            <a:r>
              <a:rPr sz="1200" b="1" spc="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N</a:t>
            </a:r>
            <a:r>
              <a:rPr sz="1200" b="1" spc="55" dirty="0">
                <a:solidFill>
                  <a:srgbClr val="40916C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40916C"/>
                </a:solidFill>
                <a:latin typeface="Calibri"/>
                <a:cs typeface="Calibri"/>
              </a:rPr>
              <a:t>G</a:t>
            </a:r>
            <a:r>
              <a:rPr sz="1200" b="1" spc="165" dirty="0">
                <a:solidFill>
                  <a:srgbClr val="40916C"/>
                </a:solidFill>
                <a:latin typeface="Calibri"/>
                <a:cs typeface="Calibri"/>
              </a:rPr>
              <a:t>  </a:t>
            </a:r>
            <a:r>
              <a:rPr sz="1200" b="1" spc="-50" dirty="0">
                <a:solidFill>
                  <a:srgbClr val="40916C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  <a:spcBef>
                <a:spcPts val="935"/>
              </a:spcBef>
            </a:pPr>
            <a:r>
              <a:rPr sz="3600" b="1" dirty="0">
                <a:solidFill>
                  <a:srgbClr val="1B4D3D"/>
                </a:solidFill>
                <a:latin typeface="Cambria"/>
                <a:cs typeface="Cambria"/>
              </a:rPr>
              <a:t>RAG</a:t>
            </a:r>
            <a:r>
              <a:rPr sz="3600" b="1" spc="-120" dirty="0">
                <a:solidFill>
                  <a:srgbClr val="1B4D3D"/>
                </a:solidFill>
                <a:latin typeface="Cambria"/>
                <a:cs typeface="Cambria"/>
              </a:rPr>
              <a:t> </a:t>
            </a:r>
            <a:r>
              <a:rPr sz="3600" b="1" spc="-10" dirty="0">
                <a:solidFill>
                  <a:srgbClr val="1B4D3D"/>
                </a:solidFill>
                <a:latin typeface="Cambria"/>
                <a:cs typeface="Cambria"/>
              </a:rPr>
              <a:t>agent</a:t>
            </a:r>
            <a:endParaRPr sz="3600">
              <a:latin typeface="Cambria"/>
              <a:cs typeface="Cambria"/>
            </a:endParaRPr>
          </a:p>
          <a:p>
            <a:pPr marL="12700" marR="5080" algn="just">
              <a:lnSpc>
                <a:spcPct val="100600"/>
              </a:lnSpc>
              <a:spcBef>
                <a:spcPts val="1535"/>
              </a:spcBef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Successfully</a:t>
            </a:r>
            <a:r>
              <a:rPr sz="1400" spc="-1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integrated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RAG</a:t>
            </a:r>
            <a:r>
              <a:rPr sz="1400" spc="-4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agent</a:t>
            </a:r>
            <a:r>
              <a:rPr sz="14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1A1A1A"/>
                </a:solidFill>
                <a:latin typeface="Calibri"/>
                <a:cs typeface="Calibri"/>
              </a:rPr>
              <a:t>to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provide</a:t>
            </a:r>
            <a:r>
              <a:rPr sz="1400" spc="-3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instant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evidence-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cited</a:t>
            </a:r>
            <a:r>
              <a:rPr sz="14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action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plans</a:t>
            </a:r>
            <a:r>
              <a:rPr sz="140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A1A1A"/>
                </a:solidFill>
                <a:latin typeface="Calibri"/>
                <a:cs typeface="Calibri"/>
              </a:rPr>
              <a:t>for</a:t>
            </a:r>
            <a:r>
              <a:rPr sz="14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extreme</a:t>
            </a:r>
            <a:r>
              <a:rPr sz="14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heat</a:t>
            </a:r>
            <a:r>
              <a:rPr sz="1400" spc="-6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warnings.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50862" y="4113276"/>
            <a:ext cx="5452110" cy="2117725"/>
            <a:chOff x="550862" y="4113276"/>
            <a:chExt cx="5452110" cy="2117725"/>
          </a:xfrm>
        </p:grpSpPr>
        <p:sp>
          <p:nvSpPr>
            <p:cNvPr id="17" name="object 17"/>
            <p:cNvSpPr/>
            <p:nvPr/>
          </p:nvSpPr>
          <p:spPr>
            <a:xfrm>
              <a:off x="557212" y="4119626"/>
              <a:ext cx="5439410" cy="2105025"/>
            </a:xfrm>
            <a:custGeom>
              <a:avLst/>
              <a:gdLst/>
              <a:ahLst/>
              <a:cxnLst/>
              <a:rect l="l" t="t" r="r" b="b"/>
              <a:pathLst>
                <a:path w="5439410" h="2105025">
                  <a:moveTo>
                    <a:pt x="5328983" y="0"/>
                  </a:moveTo>
                  <a:lnTo>
                    <a:pt x="109816" y="0"/>
                  </a:lnTo>
                  <a:lnTo>
                    <a:pt x="67069" y="8626"/>
                  </a:lnTo>
                  <a:lnTo>
                    <a:pt x="32162" y="32146"/>
                  </a:lnTo>
                  <a:lnTo>
                    <a:pt x="8629" y="67026"/>
                  </a:lnTo>
                  <a:lnTo>
                    <a:pt x="0" y="109728"/>
                  </a:lnTo>
                  <a:lnTo>
                    <a:pt x="0" y="1995144"/>
                  </a:lnTo>
                  <a:lnTo>
                    <a:pt x="8629" y="2037892"/>
                  </a:lnTo>
                  <a:lnTo>
                    <a:pt x="32162" y="2072798"/>
                  </a:lnTo>
                  <a:lnTo>
                    <a:pt x="67069" y="2096332"/>
                  </a:lnTo>
                  <a:lnTo>
                    <a:pt x="109816" y="2104961"/>
                  </a:lnTo>
                  <a:lnTo>
                    <a:pt x="5328983" y="2104961"/>
                  </a:lnTo>
                  <a:lnTo>
                    <a:pt x="5371705" y="2096332"/>
                  </a:lnTo>
                  <a:lnTo>
                    <a:pt x="5406628" y="2072798"/>
                  </a:lnTo>
                  <a:lnTo>
                    <a:pt x="5430192" y="2037892"/>
                  </a:lnTo>
                  <a:lnTo>
                    <a:pt x="5438838" y="1995144"/>
                  </a:lnTo>
                  <a:lnTo>
                    <a:pt x="5438838" y="109728"/>
                  </a:lnTo>
                  <a:lnTo>
                    <a:pt x="5430192" y="67026"/>
                  </a:lnTo>
                  <a:lnTo>
                    <a:pt x="5406628" y="32146"/>
                  </a:lnTo>
                  <a:lnTo>
                    <a:pt x="5371705" y="8626"/>
                  </a:lnTo>
                  <a:lnTo>
                    <a:pt x="5328983" y="0"/>
                  </a:lnTo>
                  <a:close/>
                </a:path>
              </a:pathLst>
            </a:custGeom>
            <a:solidFill>
              <a:srgbClr val="1B4D3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7212" y="4119626"/>
              <a:ext cx="5439410" cy="2105025"/>
            </a:xfrm>
            <a:custGeom>
              <a:avLst/>
              <a:gdLst/>
              <a:ahLst/>
              <a:cxnLst/>
              <a:rect l="l" t="t" r="r" b="b"/>
              <a:pathLst>
                <a:path w="5439410" h="2105025">
                  <a:moveTo>
                    <a:pt x="0" y="109728"/>
                  </a:moveTo>
                  <a:lnTo>
                    <a:pt x="8629" y="67026"/>
                  </a:lnTo>
                  <a:lnTo>
                    <a:pt x="32162" y="32146"/>
                  </a:lnTo>
                  <a:lnTo>
                    <a:pt x="67069" y="8626"/>
                  </a:lnTo>
                  <a:lnTo>
                    <a:pt x="109816" y="0"/>
                  </a:lnTo>
                  <a:lnTo>
                    <a:pt x="5328983" y="0"/>
                  </a:lnTo>
                  <a:lnTo>
                    <a:pt x="5371705" y="8626"/>
                  </a:lnTo>
                  <a:lnTo>
                    <a:pt x="5406628" y="32146"/>
                  </a:lnTo>
                  <a:lnTo>
                    <a:pt x="5430192" y="67026"/>
                  </a:lnTo>
                  <a:lnTo>
                    <a:pt x="5438838" y="109728"/>
                  </a:lnTo>
                  <a:lnTo>
                    <a:pt x="5438838" y="1995144"/>
                  </a:lnTo>
                  <a:lnTo>
                    <a:pt x="5430192" y="2037892"/>
                  </a:lnTo>
                  <a:lnTo>
                    <a:pt x="5406628" y="2072798"/>
                  </a:lnTo>
                  <a:lnTo>
                    <a:pt x="5371705" y="2096332"/>
                  </a:lnTo>
                  <a:lnTo>
                    <a:pt x="5328983" y="2104961"/>
                  </a:lnTo>
                  <a:lnTo>
                    <a:pt x="109816" y="2104961"/>
                  </a:lnTo>
                  <a:lnTo>
                    <a:pt x="67069" y="2096332"/>
                  </a:lnTo>
                  <a:lnTo>
                    <a:pt x="32162" y="2072798"/>
                  </a:lnTo>
                  <a:lnTo>
                    <a:pt x="8629" y="2037892"/>
                  </a:lnTo>
                  <a:lnTo>
                    <a:pt x="0" y="1995144"/>
                  </a:lnTo>
                  <a:lnTo>
                    <a:pt x="0" y="109728"/>
                  </a:lnTo>
                  <a:close/>
                </a:path>
              </a:pathLst>
            </a:custGeom>
            <a:ln w="12700">
              <a:solidFill>
                <a:srgbClr val="1B4D3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23912" y="4348226"/>
              <a:ext cx="553085" cy="552450"/>
            </a:xfrm>
            <a:custGeom>
              <a:avLst/>
              <a:gdLst/>
              <a:ahLst/>
              <a:cxnLst/>
              <a:rect l="l" t="t" r="r" b="b"/>
              <a:pathLst>
                <a:path w="553085" h="552450">
                  <a:moveTo>
                    <a:pt x="276225" y="0"/>
                  </a:moveTo>
                  <a:lnTo>
                    <a:pt x="226573" y="4447"/>
                  </a:lnTo>
                  <a:lnTo>
                    <a:pt x="179842" y="17269"/>
                  </a:lnTo>
                  <a:lnTo>
                    <a:pt x="136810" y="37690"/>
                  </a:lnTo>
                  <a:lnTo>
                    <a:pt x="98257" y="64932"/>
                  </a:lnTo>
                  <a:lnTo>
                    <a:pt x="64965" y="98215"/>
                  </a:lnTo>
                  <a:lnTo>
                    <a:pt x="37713" y="136764"/>
                  </a:lnTo>
                  <a:lnTo>
                    <a:pt x="17281" y="179801"/>
                  </a:lnTo>
                  <a:lnTo>
                    <a:pt x="4450" y="226547"/>
                  </a:lnTo>
                  <a:lnTo>
                    <a:pt x="0" y="276225"/>
                  </a:lnTo>
                  <a:lnTo>
                    <a:pt x="4450" y="325869"/>
                  </a:lnTo>
                  <a:lnTo>
                    <a:pt x="17281" y="372597"/>
                  </a:lnTo>
                  <a:lnTo>
                    <a:pt x="37713" y="415628"/>
                  </a:lnTo>
                  <a:lnTo>
                    <a:pt x="64965" y="454181"/>
                  </a:lnTo>
                  <a:lnTo>
                    <a:pt x="98257" y="487476"/>
                  </a:lnTo>
                  <a:lnTo>
                    <a:pt x="136810" y="514730"/>
                  </a:lnTo>
                  <a:lnTo>
                    <a:pt x="179842" y="535165"/>
                  </a:lnTo>
                  <a:lnTo>
                    <a:pt x="226573" y="547998"/>
                  </a:lnTo>
                  <a:lnTo>
                    <a:pt x="276225" y="552450"/>
                  </a:lnTo>
                  <a:lnTo>
                    <a:pt x="325878" y="547998"/>
                  </a:lnTo>
                  <a:lnTo>
                    <a:pt x="372615" y="535165"/>
                  </a:lnTo>
                  <a:lnTo>
                    <a:pt x="415656" y="514731"/>
                  </a:lnTo>
                  <a:lnTo>
                    <a:pt x="454218" y="487476"/>
                  </a:lnTo>
                  <a:lnTo>
                    <a:pt x="487521" y="454181"/>
                  </a:lnTo>
                  <a:lnTo>
                    <a:pt x="514783" y="415628"/>
                  </a:lnTo>
                  <a:lnTo>
                    <a:pt x="535223" y="372597"/>
                  </a:lnTo>
                  <a:lnTo>
                    <a:pt x="548060" y="325869"/>
                  </a:lnTo>
                  <a:lnTo>
                    <a:pt x="552513" y="276225"/>
                  </a:lnTo>
                  <a:lnTo>
                    <a:pt x="548060" y="226547"/>
                  </a:lnTo>
                  <a:lnTo>
                    <a:pt x="535223" y="179801"/>
                  </a:lnTo>
                  <a:lnTo>
                    <a:pt x="514783" y="136764"/>
                  </a:lnTo>
                  <a:lnTo>
                    <a:pt x="487521" y="98215"/>
                  </a:lnTo>
                  <a:lnTo>
                    <a:pt x="454218" y="64932"/>
                  </a:lnTo>
                  <a:lnTo>
                    <a:pt x="415656" y="37690"/>
                  </a:lnTo>
                  <a:lnTo>
                    <a:pt x="372615" y="17269"/>
                  </a:lnTo>
                  <a:lnTo>
                    <a:pt x="325878" y="4447"/>
                  </a:lnTo>
                  <a:lnTo>
                    <a:pt x="276225" y="0"/>
                  </a:lnTo>
                  <a:close/>
                </a:path>
              </a:pathLst>
            </a:custGeom>
            <a:solidFill>
              <a:srgbClr val="4091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3912" y="4348226"/>
              <a:ext cx="553085" cy="552450"/>
            </a:xfrm>
            <a:custGeom>
              <a:avLst/>
              <a:gdLst/>
              <a:ahLst/>
              <a:cxnLst/>
              <a:rect l="l" t="t" r="r" b="b"/>
              <a:pathLst>
                <a:path w="553085" h="552450">
                  <a:moveTo>
                    <a:pt x="0" y="276225"/>
                  </a:moveTo>
                  <a:lnTo>
                    <a:pt x="4450" y="226547"/>
                  </a:lnTo>
                  <a:lnTo>
                    <a:pt x="17281" y="179801"/>
                  </a:lnTo>
                  <a:lnTo>
                    <a:pt x="37713" y="136764"/>
                  </a:lnTo>
                  <a:lnTo>
                    <a:pt x="64965" y="98215"/>
                  </a:lnTo>
                  <a:lnTo>
                    <a:pt x="98257" y="64932"/>
                  </a:lnTo>
                  <a:lnTo>
                    <a:pt x="136810" y="37690"/>
                  </a:lnTo>
                  <a:lnTo>
                    <a:pt x="179842" y="17269"/>
                  </a:lnTo>
                  <a:lnTo>
                    <a:pt x="226573" y="4447"/>
                  </a:lnTo>
                  <a:lnTo>
                    <a:pt x="276225" y="0"/>
                  </a:lnTo>
                  <a:lnTo>
                    <a:pt x="325878" y="4447"/>
                  </a:lnTo>
                  <a:lnTo>
                    <a:pt x="372615" y="17269"/>
                  </a:lnTo>
                  <a:lnTo>
                    <a:pt x="415656" y="37690"/>
                  </a:lnTo>
                  <a:lnTo>
                    <a:pt x="454218" y="64932"/>
                  </a:lnTo>
                  <a:lnTo>
                    <a:pt x="487521" y="98215"/>
                  </a:lnTo>
                  <a:lnTo>
                    <a:pt x="514783" y="136764"/>
                  </a:lnTo>
                  <a:lnTo>
                    <a:pt x="535223" y="179801"/>
                  </a:lnTo>
                  <a:lnTo>
                    <a:pt x="548060" y="226547"/>
                  </a:lnTo>
                  <a:lnTo>
                    <a:pt x="552513" y="276225"/>
                  </a:lnTo>
                  <a:lnTo>
                    <a:pt x="548060" y="325869"/>
                  </a:lnTo>
                  <a:lnTo>
                    <a:pt x="535223" y="372597"/>
                  </a:lnTo>
                  <a:lnTo>
                    <a:pt x="514783" y="415628"/>
                  </a:lnTo>
                  <a:lnTo>
                    <a:pt x="487521" y="454181"/>
                  </a:lnTo>
                  <a:lnTo>
                    <a:pt x="454218" y="487476"/>
                  </a:lnTo>
                  <a:lnTo>
                    <a:pt x="415656" y="514731"/>
                  </a:lnTo>
                  <a:lnTo>
                    <a:pt x="372615" y="535165"/>
                  </a:lnTo>
                  <a:lnTo>
                    <a:pt x="325878" y="547998"/>
                  </a:lnTo>
                  <a:lnTo>
                    <a:pt x="276225" y="552450"/>
                  </a:lnTo>
                  <a:lnTo>
                    <a:pt x="226573" y="547998"/>
                  </a:lnTo>
                  <a:lnTo>
                    <a:pt x="179842" y="535165"/>
                  </a:lnTo>
                  <a:lnTo>
                    <a:pt x="136810" y="514730"/>
                  </a:lnTo>
                  <a:lnTo>
                    <a:pt x="98257" y="487476"/>
                  </a:lnTo>
                  <a:lnTo>
                    <a:pt x="64965" y="454181"/>
                  </a:lnTo>
                  <a:lnTo>
                    <a:pt x="37713" y="415628"/>
                  </a:lnTo>
                  <a:lnTo>
                    <a:pt x="17281" y="372597"/>
                  </a:lnTo>
                  <a:lnTo>
                    <a:pt x="4450" y="325869"/>
                  </a:lnTo>
                  <a:lnTo>
                    <a:pt x="0" y="276225"/>
                  </a:lnTo>
                  <a:close/>
                </a:path>
              </a:pathLst>
            </a:custGeom>
            <a:ln w="12699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Impact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2025" y="4476750"/>
              <a:ext cx="276225" cy="27622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543050" y="4479607"/>
            <a:ext cx="88582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B7E3C6"/>
                </a:solidFill>
                <a:latin typeface="Calibri"/>
                <a:cs typeface="Calibri"/>
              </a:rPr>
              <a:t>I</a:t>
            </a:r>
            <a:r>
              <a:rPr sz="1550" b="1" spc="-1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B7E3C6"/>
                </a:solidFill>
                <a:latin typeface="Calibri"/>
                <a:cs typeface="Calibri"/>
              </a:rPr>
              <a:t>M</a:t>
            </a:r>
            <a:r>
              <a:rPr sz="1550" b="1" spc="-7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B7E3C6"/>
                </a:solidFill>
                <a:latin typeface="Calibri"/>
                <a:cs typeface="Calibri"/>
              </a:rPr>
              <a:t>P</a:t>
            </a:r>
            <a:r>
              <a:rPr sz="1550" b="1" spc="1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B7E3C6"/>
                </a:solidFill>
                <a:latin typeface="Calibri"/>
                <a:cs typeface="Calibri"/>
              </a:rPr>
              <a:t>A</a:t>
            </a:r>
            <a:r>
              <a:rPr sz="1550" b="1" spc="-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B7E3C6"/>
                </a:solidFill>
                <a:latin typeface="Calibri"/>
                <a:cs typeface="Calibri"/>
              </a:rPr>
              <a:t>C</a:t>
            </a:r>
            <a:r>
              <a:rPr sz="1550" b="1" spc="-5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550" b="1" spc="-60" dirty="0">
                <a:solidFill>
                  <a:srgbClr val="B7E3C6"/>
                </a:solidFill>
                <a:latin typeface="Calibri"/>
                <a:cs typeface="Calibri"/>
              </a:rPr>
              <a:t>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10894" y="5059616"/>
            <a:ext cx="479234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Empowers</a:t>
            </a:r>
            <a:r>
              <a:rPr sz="1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emergency</a:t>
            </a:r>
            <a:r>
              <a:rPr sz="15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15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teams</a:t>
            </a:r>
            <a:r>
              <a:rPr sz="15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citizens</a:t>
            </a:r>
            <a:r>
              <a:rPr sz="15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Karachi,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Jacobabad,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Lahore,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Multan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reliable</a:t>
            </a:r>
            <a:r>
              <a:rPr sz="1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bounds</a:t>
            </a:r>
            <a:r>
              <a:rPr sz="15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actionable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emergency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protocols.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170676" y="4113276"/>
            <a:ext cx="5451475" cy="2117725"/>
            <a:chOff x="6170676" y="4113276"/>
            <a:chExt cx="5451475" cy="2117725"/>
          </a:xfrm>
        </p:grpSpPr>
        <p:sp>
          <p:nvSpPr>
            <p:cNvPr id="25" name="object 25"/>
            <p:cNvSpPr/>
            <p:nvPr/>
          </p:nvSpPr>
          <p:spPr>
            <a:xfrm>
              <a:off x="6177026" y="4119626"/>
              <a:ext cx="5438775" cy="2105025"/>
            </a:xfrm>
            <a:custGeom>
              <a:avLst/>
              <a:gdLst/>
              <a:ahLst/>
              <a:cxnLst/>
              <a:rect l="l" t="t" r="r" b="b"/>
              <a:pathLst>
                <a:path w="5438775" h="2105025">
                  <a:moveTo>
                    <a:pt x="5328920" y="0"/>
                  </a:moveTo>
                  <a:lnTo>
                    <a:pt x="109727" y="0"/>
                  </a:lnTo>
                  <a:lnTo>
                    <a:pt x="67026" y="8626"/>
                  </a:lnTo>
                  <a:lnTo>
                    <a:pt x="32146" y="32146"/>
                  </a:lnTo>
                  <a:lnTo>
                    <a:pt x="8626" y="67026"/>
                  </a:lnTo>
                  <a:lnTo>
                    <a:pt x="0" y="109728"/>
                  </a:lnTo>
                  <a:lnTo>
                    <a:pt x="0" y="1995144"/>
                  </a:lnTo>
                  <a:lnTo>
                    <a:pt x="8626" y="2037892"/>
                  </a:lnTo>
                  <a:lnTo>
                    <a:pt x="32146" y="2072798"/>
                  </a:lnTo>
                  <a:lnTo>
                    <a:pt x="67026" y="2096332"/>
                  </a:lnTo>
                  <a:lnTo>
                    <a:pt x="109727" y="2104961"/>
                  </a:lnTo>
                  <a:lnTo>
                    <a:pt x="5328920" y="2104961"/>
                  </a:lnTo>
                  <a:lnTo>
                    <a:pt x="5371641" y="2096332"/>
                  </a:lnTo>
                  <a:lnTo>
                    <a:pt x="5406564" y="2072798"/>
                  </a:lnTo>
                  <a:lnTo>
                    <a:pt x="5430129" y="2037892"/>
                  </a:lnTo>
                  <a:lnTo>
                    <a:pt x="5438775" y="1995144"/>
                  </a:lnTo>
                  <a:lnTo>
                    <a:pt x="5438775" y="109728"/>
                  </a:lnTo>
                  <a:lnTo>
                    <a:pt x="5430129" y="67026"/>
                  </a:lnTo>
                  <a:lnTo>
                    <a:pt x="5406564" y="32146"/>
                  </a:lnTo>
                  <a:lnTo>
                    <a:pt x="5371641" y="8626"/>
                  </a:lnTo>
                  <a:lnTo>
                    <a:pt x="53289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177026" y="4119626"/>
              <a:ext cx="5438775" cy="2105025"/>
            </a:xfrm>
            <a:custGeom>
              <a:avLst/>
              <a:gdLst/>
              <a:ahLst/>
              <a:cxnLst/>
              <a:rect l="l" t="t" r="r" b="b"/>
              <a:pathLst>
                <a:path w="5438775" h="2105025">
                  <a:moveTo>
                    <a:pt x="0" y="109728"/>
                  </a:moveTo>
                  <a:lnTo>
                    <a:pt x="8626" y="67026"/>
                  </a:lnTo>
                  <a:lnTo>
                    <a:pt x="32146" y="32146"/>
                  </a:lnTo>
                  <a:lnTo>
                    <a:pt x="67026" y="8626"/>
                  </a:lnTo>
                  <a:lnTo>
                    <a:pt x="109727" y="0"/>
                  </a:lnTo>
                  <a:lnTo>
                    <a:pt x="5328920" y="0"/>
                  </a:lnTo>
                  <a:lnTo>
                    <a:pt x="5371641" y="8626"/>
                  </a:lnTo>
                  <a:lnTo>
                    <a:pt x="5406564" y="32146"/>
                  </a:lnTo>
                  <a:lnTo>
                    <a:pt x="5430129" y="67026"/>
                  </a:lnTo>
                  <a:lnTo>
                    <a:pt x="5438775" y="109728"/>
                  </a:lnTo>
                  <a:lnTo>
                    <a:pt x="5438775" y="1995144"/>
                  </a:lnTo>
                  <a:lnTo>
                    <a:pt x="5430129" y="2037892"/>
                  </a:lnTo>
                  <a:lnTo>
                    <a:pt x="5406564" y="2072798"/>
                  </a:lnTo>
                  <a:lnTo>
                    <a:pt x="5371641" y="2096332"/>
                  </a:lnTo>
                  <a:lnTo>
                    <a:pt x="5328920" y="2104961"/>
                  </a:lnTo>
                  <a:lnTo>
                    <a:pt x="109727" y="2104961"/>
                  </a:lnTo>
                  <a:lnTo>
                    <a:pt x="67026" y="2096332"/>
                  </a:lnTo>
                  <a:lnTo>
                    <a:pt x="32146" y="2072798"/>
                  </a:lnTo>
                  <a:lnTo>
                    <a:pt x="8626" y="2037892"/>
                  </a:lnTo>
                  <a:lnTo>
                    <a:pt x="0" y="1995144"/>
                  </a:lnTo>
                  <a:lnTo>
                    <a:pt x="0" y="109728"/>
                  </a:lnTo>
                  <a:close/>
                </a:path>
              </a:pathLst>
            </a:custGeom>
            <a:ln w="12700">
              <a:solidFill>
                <a:srgbClr val="B7E3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453251" y="4348226"/>
              <a:ext cx="542925" cy="552450"/>
            </a:xfrm>
            <a:custGeom>
              <a:avLst/>
              <a:gdLst/>
              <a:ahLst/>
              <a:cxnLst/>
              <a:rect l="l" t="t" r="r" b="b"/>
              <a:pathLst>
                <a:path w="542925" h="552450">
                  <a:moveTo>
                    <a:pt x="271399" y="0"/>
                  </a:moveTo>
                  <a:lnTo>
                    <a:pt x="222589" y="4447"/>
                  </a:lnTo>
                  <a:lnTo>
                    <a:pt x="176659" y="17269"/>
                  </a:lnTo>
                  <a:lnTo>
                    <a:pt x="134375" y="37690"/>
                  </a:lnTo>
                  <a:lnTo>
                    <a:pt x="96499" y="64932"/>
                  </a:lnTo>
                  <a:lnTo>
                    <a:pt x="63797" y="98215"/>
                  </a:lnTo>
                  <a:lnTo>
                    <a:pt x="37032" y="136764"/>
                  </a:lnTo>
                  <a:lnTo>
                    <a:pt x="16968" y="179801"/>
                  </a:lnTo>
                  <a:lnTo>
                    <a:pt x="4369" y="226547"/>
                  </a:lnTo>
                  <a:lnTo>
                    <a:pt x="0" y="276225"/>
                  </a:lnTo>
                  <a:lnTo>
                    <a:pt x="4369" y="325869"/>
                  </a:lnTo>
                  <a:lnTo>
                    <a:pt x="16968" y="372597"/>
                  </a:lnTo>
                  <a:lnTo>
                    <a:pt x="37032" y="415628"/>
                  </a:lnTo>
                  <a:lnTo>
                    <a:pt x="63797" y="454181"/>
                  </a:lnTo>
                  <a:lnTo>
                    <a:pt x="96499" y="487476"/>
                  </a:lnTo>
                  <a:lnTo>
                    <a:pt x="134375" y="514730"/>
                  </a:lnTo>
                  <a:lnTo>
                    <a:pt x="176659" y="535165"/>
                  </a:lnTo>
                  <a:lnTo>
                    <a:pt x="222589" y="547998"/>
                  </a:lnTo>
                  <a:lnTo>
                    <a:pt x="271399" y="552450"/>
                  </a:lnTo>
                  <a:lnTo>
                    <a:pt x="320213" y="547998"/>
                  </a:lnTo>
                  <a:lnTo>
                    <a:pt x="366154" y="535165"/>
                  </a:lnTo>
                  <a:lnTo>
                    <a:pt x="408455" y="514731"/>
                  </a:lnTo>
                  <a:lnTo>
                    <a:pt x="446350" y="487476"/>
                  </a:lnTo>
                  <a:lnTo>
                    <a:pt x="479074" y="454181"/>
                  </a:lnTo>
                  <a:lnTo>
                    <a:pt x="505859" y="415628"/>
                  </a:lnTo>
                  <a:lnTo>
                    <a:pt x="525940" y="372597"/>
                  </a:lnTo>
                  <a:lnTo>
                    <a:pt x="538551" y="325869"/>
                  </a:lnTo>
                  <a:lnTo>
                    <a:pt x="542925" y="276225"/>
                  </a:lnTo>
                  <a:lnTo>
                    <a:pt x="538551" y="226547"/>
                  </a:lnTo>
                  <a:lnTo>
                    <a:pt x="525940" y="179801"/>
                  </a:lnTo>
                  <a:lnTo>
                    <a:pt x="505859" y="136764"/>
                  </a:lnTo>
                  <a:lnTo>
                    <a:pt x="479074" y="98215"/>
                  </a:lnTo>
                  <a:lnTo>
                    <a:pt x="446350" y="64932"/>
                  </a:lnTo>
                  <a:lnTo>
                    <a:pt x="408455" y="37690"/>
                  </a:lnTo>
                  <a:lnTo>
                    <a:pt x="366154" y="17269"/>
                  </a:lnTo>
                  <a:lnTo>
                    <a:pt x="320213" y="4447"/>
                  </a:lnTo>
                  <a:lnTo>
                    <a:pt x="271399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453251" y="4348226"/>
              <a:ext cx="542925" cy="552450"/>
            </a:xfrm>
            <a:custGeom>
              <a:avLst/>
              <a:gdLst/>
              <a:ahLst/>
              <a:cxnLst/>
              <a:rect l="l" t="t" r="r" b="b"/>
              <a:pathLst>
                <a:path w="542925" h="552450">
                  <a:moveTo>
                    <a:pt x="0" y="276225"/>
                  </a:moveTo>
                  <a:lnTo>
                    <a:pt x="4369" y="226547"/>
                  </a:lnTo>
                  <a:lnTo>
                    <a:pt x="16968" y="179801"/>
                  </a:lnTo>
                  <a:lnTo>
                    <a:pt x="37032" y="136764"/>
                  </a:lnTo>
                  <a:lnTo>
                    <a:pt x="63797" y="98215"/>
                  </a:lnTo>
                  <a:lnTo>
                    <a:pt x="96499" y="64932"/>
                  </a:lnTo>
                  <a:lnTo>
                    <a:pt x="134375" y="37690"/>
                  </a:lnTo>
                  <a:lnTo>
                    <a:pt x="176659" y="17269"/>
                  </a:lnTo>
                  <a:lnTo>
                    <a:pt x="222589" y="4447"/>
                  </a:lnTo>
                  <a:lnTo>
                    <a:pt x="271399" y="0"/>
                  </a:lnTo>
                  <a:lnTo>
                    <a:pt x="320213" y="4447"/>
                  </a:lnTo>
                  <a:lnTo>
                    <a:pt x="366154" y="17269"/>
                  </a:lnTo>
                  <a:lnTo>
                    <a:pt x="408455" y="37690"/>
                  </a:lnTo>
                  <a:lnTo>
                    <a:pt x="446350" y="64932"/>
                  </a:lnTo>
                  <a:lnTo>
                    <a:pt x="479074" y="98215"/>
                  </a:lnTo>
                  <a:lnTo>
                    <a:pt x="505859" y="136764"/>
                  </a:lnTo>
                  <a:lnTo>
                    <a:pt x="525940" y="179801"/>
                  </a:lnTo>
                  <a:lnTo>
                    <a:pt x="538551" y="226547"/>
                  </a:lnTo>
                  <a:lnTo>
                    <a:pt x="542925" y="276225"/>
                  </a:lnTo>
                  <a:lnTo>
                    <a:pt x="538551" y="325869"/>
                  </a:lnTo>
                  <a:lnTo>
                    <a:pt x="525940" y="372597"/>
                  </a:lnTo>
                  <a:lnTo>
                    <a:pt x="505859" y="415628"/>
                  </a:lnTo>
                  <a:lnTo>
                    <a:pt x="479074" y="454181"/>
                  </a:lnTo>
                  <a:lnTo>
                    <a:pt x="446350" y="487476"/>
                  </a:lnTo>
                  <a:lnTo>
                    <a:pt x="408455" y="514731"/>
                  </a:lnTo>
                  <a:lnTo>
                    <a:pt x="366154" y="535165"/>
                  </a:lnTo>
                  <a:lnTo>
                    <a:pt x="320213" y="547998"/>
                  </a:lnTo>
                  <a:lnTo>
                    <a:pt x="271399" y="552450"/>
                  </a:lnTo>
                  <a:lnTo>
                    <a:pt x="222589" y="547998"/>
                  </a:lnTo>
                  <a:lnTo>
                    <a:pt x="176659" y="535165"/>
                  </a:lnTo>
                  <a:lnTo>
                    <a:pt x="134375" y="514730"/>
                  </a:lnTo>
                  <a:lnTo>
                    <a:pt x="96499" y="487476"/>
                  </a:lnTo>
                  <a:lnTo>
                    <a:pt x="63797" y="454181"/>
                  </a:lnTo>
                  <a:lnTo>
                    <a:pt x="37032" y="415628"/>
                  </a:lnTo>
                  <a:lnTo>
                    <a:pt x="16968" y="372597"/>
                  </a:lnTo>
                  <a:lnTo>
                    <a:pt x="4369" y="325869"/>
                  </a:lnTo>
                  <a:lnTo>
                    <a:pt x="0" y="276225"/>
                  </a:lnTo>
                  <a:close/>
                </a:path>
              </a:pathLst>
            </a:custGeom>
            <a:ln w="12700">
              <a:solidFill>
                <a:srgbClr val="2C6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 descr="Future work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1775" y="4476750"/>
              <a:ext cx="276225" cy="276225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170801" y="4479607"/>
            <a:ext cx="1669414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03300" algn="l"/>
              </a:tabLst>
            </a:pP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F</a:t>
            </a:r>
            <a:r>
              <a:rPr sz="1550" b="1" spc="-1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U</a:t>
            </a:r>
            <a:r>
              <a:rPr sz="1550" b="1" spc="-2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T</a:t>
            </a:r>
            <a:r>
              <a:rPr sz="1550" b="1" spc="-7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U</a:t>
            </a:r>
            <a:r>
              <a:rPr sz="1550" b="1" spc="-2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R</a:t>
            </a:r>
            <a:r>
              <a:rPr sz="1550" b="1" spc="-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spc="-50" dirty="0">
                <a:solidFill>
                  <a:srgbClr val="2C6A4F"/>
                </a:solidFill>
                <a:latin typeface="Calibri"/>
                <a:cs typeface="Calibri"/>
              </a:rPr>
              <a:t>E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	W</a:t>
            </a:r>
            <a:r>
              <a:rPr sz="1550" b="1" spc="-4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O</a:t>
            </a:r>
            <a:r>
              <a:rPr sz="1550" b="1" spc="-5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2C6A4F"/>
                </a:solidFill>
                <a:latin typeface="Calibri"/>
                <a:cs typeface="Calibri"/>
              </a:rPr>
              <a:t>R</a:t>
            </a:r>
            <a:r>
              <a:rPr sz="1550" b="1" spc="-2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1550" b="1" spc="-50" dirty="0">
                <a:solidFill>
                  <a:srgbClr val="2C6A4F"/>
                </a:solidFill>
                <a:latin typeface="Calibri"/>
                <a:cs typeface="Calibri"/>
              </a:rPr>
              <a:t>K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38900" y="5059616"/>
            <a:ext cx="4886325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1A1A1A"/>
                </a:solidFill>
                <a:latin typeface="Calibri"/>
                <a:cs typeface="Calibri"/>
              </a:rPr>
              <a:t>Real-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time</a:t>
            </a:r>
            <a:r>
              <a:rPr sz="1500" spc="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lag</a:t>
            </a:r>
            <a:r>
              <a:rPr sz="15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A1A1A"/>
                </a:solidFill>
                <a:latin typeface="Calibri"/>
                <a:cs typeface="Calibri"/>
              </a:rPr>
              <a:t>generation</a:t>
            </a:r>
            <a:r>
              <a:rPr sz="15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pipeline</a:t>
            </a:r>
            <a:r>
              <a:rPr sz="1500" spc="-6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for</a:t>
            </a:r>
            <a:r>
              <a:rPr sz="15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A1A1A"/>
                </a:solidFill>
                <a:latin typeface="Calibri"/>
                <a:cs typeface="Calibri"/>
              </a:rPr>
              <a:t>zero-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lag</a:t>
            </a:r>
            <a:r>
              <a:rPr sz="1500" spc="-2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live</a:t>
            </a:r>
            <a:r>
              <a:rPr sz="15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1A1A1A"/>
                </a:solidFill>
                <a:latin typeface="Calibri"/>
                <a:cs typeface="Calibri"/>
              </a:rPr>
              <a:t>forecasts</a:t>
            </a:r>
            <a:r>
              <a:rPr sz="15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1A1A1A"/>
                </a:solidFill>
                <a:latin typeface="Calibri"/>
                <a:cs typeface="Calibri"/>
              </a:rPr>
              <a:t>and </a:t>
            </a:r>
            <a:r>
              <a:rPr sz="1500" spc="-10" dirty="0">
                <a:solidFill>
                  <a:srgbClr val="1A1A1A"/>
                </a:solidFill>
                <a:latin typeface="Calibri"/>
                <a:cs typeface="Calibri"/>
              </a:rPr>
              <a:t>incorporation</a:t>
            </a:r>
            <a:r>
              <a:rPr sz="1500" spc="-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of Urban</a:t>
            </a:r>
            <a:r>
              <a:rPr sz="15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Heat</a:t>
            </a:r>
            <a:r>
              <a:rPr sz="150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Island</a:t>
            </a:r>
            <a:r>
              <a:rPr sz="1500" spc="-2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(UHI)</a:t>
            </a:r>
            <a:r>
              <a:rPr sz="1500" spc="-7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/</a:t>
            </a:r>
            <a:r>
              <a:rPr sz="150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1A1A1A"/>
                </a:solidFill>
                <a:latin typeface="Calibri"/>
                <a:cs typeface="Calibri"/>
              </a:rPr>
              <a:t>satellite</a:t>
            </a:r>
            <a:r>
              <a:rPr sz="1500" spc="1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1A1A1A"/>
                </a:solidFill>
                <a:latin typeface="Calibri"/>
                <a:cs typeface="Calibri"/>
              </a:rPr>
              <a:t>vegetation metrics.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36257" y="6448742"/>
            <a:ext cx="3557904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HackInsight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2026</a:t>
            </a:r>
            <a:r>
              <a:rPr sz="950" spc="409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|</a:t>
            </a:r>
            <a:r>
              <a:rPr sz="950" spc="36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Heatwave</a:t>
            </a:r>
            <a:r>
              <a:rPr sz="950" spc="13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Risk</a:t>
            </a:r>
            <a:r>
              <a:rPr sz="950" spc="8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Prediction</a:t>
            </a:r>
            <a:r>
              <a:rPr sz="950" spc="9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&amp;</a:t>
            </a:r>
            <a:r>
              <a:rPr sz="950" spc="95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C6A4F"/>
                </a:solidFill>
                <a:latin typeface="Calibri"/>
                <a:cs typeface="Calibri"/>
              </a:rPr>
              <a:t>Climate</a:t>
            </a:r>
            <a:r>
              <a:rPr sz="950" spc="130" dirty="0">
                <a:solidFill>
                  <a:srgbClr val="2C6A4F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C6A4F"/>
                </a:solidFill>
                <a:latin typeface="Calibri"/>
                <a:cs typeface="Calibri"/>
              </a:rPr>
              <a:t>Intelligence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242929" y="6433502"/>
            <a:ext cx="8826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50" dirty="0">
                <a:solidFill>
                  <a:srgbClr val="2C6A4F"/>
                </a:solidFill>
                <a:latin typeface="Calibri"/>
                <a:cs typeface="Calibri"/>
              </a:rPr>
              <a:t>9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B4D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6257" y="1204277"/>
            <a:ext cx="19329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B7E3C6"/>
                </a:solidFill>
                <a:latin typeface="Calibri"/>
                <a:cs typeface="Calibri"/>
              </a:rPr>
              <a:t>[Aata</a:t>
            </a:r>
            <a:r>
              <a:rPr sz="1800" spc="-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B7E3C6"/>
                </a:solidFill>
                <a:latin typeface="Calibri"/>
                <a:cs typeface="Calibri"/>
              </a:rPr>
              <a:t>Jaata</a:t>
            </a:r>
            <a:r>
              <a:rPr sz="1800" spc="-7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B7E3C6"/>
                </a:solidFill>
                <a:latin typeface="Calibri"/>
                <a:cs typeface="Calibri"/>
              </a:rPr>
              <a:t>koch</a:t>
            </a:r>
            <a:r>
              <a:rPr sz="1800" spc="-6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B7E3C6"/>
                </a:solidFill>
                <a:latin typeface="Calibri"/>
                <a:cs typeface="Calibri"/>
              </a:rPr>
              <a:t>nhi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0862" y="1779651"/>
            <a:ext cx="3575685" cy="1155700"/>
            <a:chOff x="550862" y="1779651"/>
            <a:chExt cx="3575685" cy="1155700"/>
          </a:xfrm>
        </p:grpSpPr>
        <p:sp>
          <p:nvSpPr>
            <p:cNvPr id="5" name="object 5"/>
            <p:cNvSpPr/>
            <p:nvPr/>
          </p:nvSpPr>
          <p:spPr>
            <a:xfrm>
              <a:off x="557212" y="1786001"/>
              <a:ext cx="3562985" cy="1143000"/>
            </a:xfrm>
            <a:custGeom>
              <a:avLst/>
              <a:gdLst/>
              <a:ahLst/>
              <a:cxnLst/>
              <a:rect l="l" t="t" r="r" b="b"/>
              <a:pathLst>
                <a:path w="3562985" h="1143000">
                  <a:moveTo>
                    <a:pt x="3452685" y="0"/>
                  </a:moveTo>
                  <a:lnTo>
                    <a:pt x="109728" y="0"/>
                  </a:lnTo>
                  <a:lnTo>
                    <a:pt x="67015" y="8606"/>
                  </a:lnTo>
                  <a:lnTo>
                    <a:pt x="32137" y="32083"/>
                  </a:lnTo>
                  <a:lnTo>
                    <a:pt x="8622" y="66919"/>
                  </a:lnTo>
                  <a:lnTo>
                    <a:pt x="0" y="109600"/>
                  </a:lnTo>
                  <a:lnTo>
                    <a:pt x="0" y="1033272"/>
                  </a:lnTo>
                  <a:lnTo>
                    <a:pt x="8622" y="1075973"/>
                  </a:lnTo>
                  <a:lnTo>
                    <a:pt x="32137" y="1110853"/>
                  </a:lnTo>
                  <a:lnTo>
                    <a:pt x="67015" y="1134373"/>
                  </a:lnTo>
                  <a:lnTo>
                    <a:pt x="109728" y="1143000"/>
                  </a:lnTo>
                  <a:lnTo>
                    <a:pt x="3452685" y="1143000"/>
                  </a:lnTo>
                  <a:lnTo>
                    <a:pt x="3495387" y="1134373"/>
                  </a:lnTo>
                  <a:lnTo>
                    <a:pt x="3530266" y="1110853"/>
                  </a:lnTo>
                  <a:lnTo>
                    <a:pt x="3553787" y="1075973"/>
                  </a:lnTo>
                  <a:lnTo>
                    <a:pt x="3562413" y="1033272"/>
                  </a:lnTo>
                  <a:lnTo>
                    <a:pt x="3562413" y="109600"/>
                  </a:lnTo>
                  <a:lnTo>
                    <a:pt x="3553787" y="66919"/>
                  </a:lnTo>
                  <a:lnTo>
                    <a:pt x="3530266" y="32083"/>
                  </a:lnTo>
                  <a:lnTo>
                    <a:pt x="3495387" y="8606"/>
                  </a:lnTo>
                  <a:lnTo>
                    <a:pt x="345268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57212" y="1786001"/>
              <a:ext cx="3562985" cy="1143000"/>
            </a:xfrm>
            <a:custGeom>
              <a:avLst/>
              <a:gdLst/>
              <a:ahLst/>
              <a:cxnLst/>
              <a:rect l="l" t="t" r="r" b="b"/>
              <a:pathLst>
                <a:path w="3562985" h="1143000">
                  <a:moveTo>
                    <a:pt x="0" y="109600"/>
                  </a:moveTo>
                  <a:lnTo>
                    <a:pt x="8622" y="66919"/>
                  </a:lnTo>
                  <a:lnTo>
                    <a:pt x="32137" y="32083"/>
                  </a:lnTo>
                  <a:lnTo>
                    <a:pt x="67015" y="8606"/>
                  </a:lnTo>
                  <a:lnTo>
                    <a:pt x="109728" y="0"/>
                  </a:lnTo>
                  <a:lnTo>
                    <a:pt x="3452685" y="0"/>
                  </a:lnTo>
                  <a:lnTo>
                    <a:pt x="3495387" y="8606"/>
                  </a:lnTo>
                  <a:lnTo>
                    <a:pt x="3530266" y="32083"/>
                  </a:lnTo>
                  <a:lnTo>
                    <a:pt x="3553787" y="66919"/>
                  </a:lnTo>
                  <a:lnTo>
                    <a:pt x="3562413" y="109600"/>
                  </a:lnTo>
                  <a:lnTo>
                    <a:pt x="3562413" y="1033272"/>
                  </a:lnTo>
                  <a:lnTo>
                    <a:pt x="3553787" y="1075973"/>
                  </a:lnTo>
                  <a:lnTo>
                    <a:pt x="3530266" y="1110853"/>
                  </a:lnTo>
                  <a:lnTo>
                    <a:pt x="3495387" y="1134373"/>
                  </a:lnTo>
                  <a:lnTo>
                    <a:pt x="3452685" y="1143000"/>
                  </a:lnTo>
                  <a:lnTo>
                    <a:pt x="109728" y="1143000"/>
                  </a:lnTo>
                  <a:lnTo>
                    <a:pt x="67015" y="1134373"/>
                  </a:lnTo>
                  <a:lnTo>
                    <a:pt x="32137" y="1110853"/>
                  </a:lnTo>
                  <a:lnTo>
                    <a:pt x="8622" y="1075973"/>
                  </a:lnTo>
                  <a:lnTo>
                    <a:pt x="0" y="1033272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8187" y="2062226"/>
              <a:ext cx="591185" cy="590550"/>
            </a:xfrm>
            <a:custGeom>
              <a:avLst/>
              <a:gdLst/>
              <a:ahLst/>
              <a:cxnLst/>
              <a:rect l="l" t="t" r="r" b="b"/>
              <a:pathLst>
                <a:path w="591185" h="590550">
                  <a:moveTo>
                    <a:pt x="295275" y="0"/>
                  </a:moveTo>
                  <a:lnTo>
                    <a:pt x="247378" y="3861"/>
                  </a:lnTo>
                  <a:lnTo>
                    <a:pt x="201943" y="15041"/>
                  </a:lnTo>
                  <a:lnTo>
                    <a:pt x="159577" y="32935"/>
                  </a:lnTo>
                  <a:lnTo>
                    <a:pt x="120887" y="56936"/>
                  </a:lnTo>
                  <a:lnTo>
                    <a:pt x="86482" y="86439"/>
                  </a:lnTo>
                  <a:lnTo>
                    <a:pt x="56969" y="120837"/>
                  </a:lnTo>
                  <a:lnTo>
                    <a:pt x="32957" y="159526"/>
                  </a:lnTo>
                  <a:lnTo>
                    <a:pt x="15052" y="201899"/>
                  </a:lnTo>
                  <a:lnTo>
                    <a:pt x="3864" y="247350"/>
                  </a:lnTo>
                  <a:lnTo>
                    <a:pt x="0" y="295275"/>
                  </a:lnTo>
                  <a:lnTo>
                    <a:pt x="3864" y="343168"/>
                  </a:lnTo>
                  <a:lnTo>
                    <a:pt x="15052" y="388601"/>
                  </a:lnTo>
                  <a:lnTo>
                    <a:pt x="32957" y="430967"/>
                  </a:lnTo>
                  <a:lnTo>
                    <a:pt x="56969" y="469657"/>
                  </a:lnTo>
                  <a:lnTo>
                    <a:pt x="86482" y="504063"/>
                  </a:lnTo>
                  <a:lnTo>
                    <a:pt x="120887" y="533576"/>
                  </a:lnTo>
                  <a:lnTo>
                    <a:pt x="159577" y="557590"/>
                  </a:lnTo>
                  <a:lnTo>
                    <a:pt x="201943" y="575495"/>
                  </a:lnTo>
                  <a:lnTo>
                    <a:pt x="247378" y="586685"/>
                  </a:lnTo>
                  <a:lnTo>
                    <a:pt x="295275" y="590550"/>
                  </a:lnTo>
                  <a:lnTo>
                    <a:pt x="343173" y="586685"/>
                  </a:lnTo>
                  <a:lnTo>
                    <a:pt x="388613" y="575495"/>
                  </a:lnTo>
                  <a:lnTo>
                    <a:pt x="430986" y="557590"/>
                  </a:lnTo>
                  <a:lnTo>
                    <a:pt x="469685" y="533576"/>
                  </a:lnTo>
                  <a:lnTo>
                    <a:pt x="504099" y="504063"/>
                  </a:lnTo>
                  <a:lnTo>
                    <a:pt x="533621" y="469657"/>
                  </a:lnTo>
                  <a:lnTo>
                    <a:pt x="557642" y="430967"/>
                  </a:lnTo>
                  <a:lnTo>
                    <a:pt x="575554" y="388601"/>
                  </a:lnTo>
                  <a:lnTo>
                    <a:pt x="586747" y="343168"/>
                  </a:lnTo>
                  <a:lnTo>
                    <a:pt x="590613" y="295275"/>
                  </a:lnTo>
                  <a:lnTo>
                    <a:pt x="586747" y="247350"/>
                  </a:lnTo>
                  <a:lnTo>
                    <a:pt x="575554" y="201899"/>
                  </a:lnTo>
                  <a:lnTo>
                    <a:pt x="557642" y="159526"/>
                  </a:lnTo>
                  <a:lnTo>
                    <a:pt x="533621" y="120837"/>
                  </a:lnTo>
                  <a:lnTo>
                    <a:pt x="504099" y="86439"/>
                  </a:lnTo>
                  <a:lnTo>
                    <a:pt x="469685" y="56936"/>
                  </a:lnTo>
                  <a:lnTo>
                    <a:pt x="430986" y="32935"/>
                  </a:lnTo>
                  <a:lnTo>
                    <a:pt x="388613" y="15041"/>
                  </a:lnTo>
                  <a:lnTo>
                    <a:pt x="343173" y="3861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8187" y="2062226"/>
              <a:ext cx="591185" cy="590550"/>
            </a:xfrm>
            <a:custGeom>
              <a:avLst/>
              <a:gdLst/>
              <a:ahLst/>
              <a:cxnLst/>
              <a:rect l="l" t="t" r="r" b="b"/>
              <a:pathLst>
                <a:path w="591185" h="590550">
                  <a:moveTo>
                    <a:pt x="0" y="295275"/>
                  </a:moveTo>
                  <a:lnTo>
                    <a:pt x="3864" y="247350"/>
                  </a:lnTo>
                  <a:lnTo>
                    <a:pt x="15052" y="201899"/>
                  </a:lnTo>
                  <a:lnTo>
                    <a:pt x="32957" y="159526"/>
                  </a:lnTo>
                  <a:lnTo>
                    <a:pt x="56969" y="120837"/>
                  </a:lnTo>
                  <a:lnTo>
                    <a:pt x="86482" y="86439"/>
                  </a:lnTo>
                  <a:lnTo>
                    <a:pt x="120887" y="56936"/>
                  </a:lnTo>
                  <a:lnTo>
                    <a:pt x="159577" y="32935"/>
                  </a:lnTo>
                  <a:lnTo>
                    <a:pt x="201943" y="15041"/>
                  </a:lnTo>
                  <a:lnTo>
                    <a:pt x="247378" y="3861"/>
                  </a:lnTo>
                  <a:lnTo>
                    <a:pt x="295275" y="0"/>
                  </a:lnTo>
                  <a:lnTo>
                    <a:pt x="343173" y="3861"/>
                  </a:lnTo>
                  <a:lnTo>
                    <a:pt x="388613" y="15041"/>
                  </a:lnTo>
                  <a:lnTo>
                    <a:pt x="430986" y="32935"/>
                  </a:lnTo>
                  <a:lnTo>
                    <a:pt x="469685" y="56936"/>
                  </a:lnTo>
                  <a:lnTo>
                    <a:pt x="504099" y="86439"/>
                  </a:lnTo>
                  <a:lnTo>
                    <a:pt x="533621" y="120837"/>
                  </a:lnTo>
                  <a:lnTo>
                    <a:pt x="557642" y="159526"/>
                  </a:lnTo>
                  <a:lnTo>
                    <a:pt x="575554" y="201899"/>
                  </a:lnTo>
                  <a:lnTo>
                    <a:pt x="586747" y="247350"/>
                  </a:lnTo>
                  <a:lnTo>
                    <a:pt x="590613" y="295275"/>
                  </a:lnTo>
                  <a:lnTo>
                    <a:pt x="586747" y="343168"/>
                  </a:lnTo>
                  <a:lnTo>
                    <a:pt x="575554" y="388601"/>
                  </a:lnTo>
                  <a:lnTo>
                    <a:pt x="557642" y="430967"/>
                  </a:lnTo>
                  <a:lnTo>
                    <a:pt x="533621" y="469657"/>
                  </a:lnTo>
                  <a:lnTo>
                    <a:pt x="504099" y="504063"/>
                  </a:lnTo>
                  <a:lnTo>
                    <a:pt x="469685" y="533576"/>
                  </a:lnTo>
                  <a:lnTo>
                    <a:pt x="430986" y="557590"/>
                  </a:lnTo>
                  <a:lnTo>
                    <a:pt x="388613" y="575495"/>
                  </a:lnTo>
                  <a:lnTo>
                    <a:pt x="343173" y="586685"/>
                  </a:lnTo>
                  <a:lnTo>
                    <a:pt x="295275" y="590550"/>
                  </a:lnTo>
                  <a:lnTo>
                    <a:pt x="247378" y="586685"/>
                  </a:lnTo>
                  <a:lnTo>
                    <a:pt x="201943" y="575495"/>
                  </a:lnTo>
                  <a:lnTo>
                    <a:pt x="159577" y="557590"/>
                  </a:lnTo>
                  <a:lnTo>
                    <a:pt x="120887" y="533576"/>
                  </a:lnTo>
                  <a:lnTo>
                    <a:pt x="86482" y="504063"/>
                  </a:lnTo>
                  <a:lnTo>
                    <a:pt x="56969" y="469657"/>
                  </a:lnTo>
                  <a:lnTo>
                    <a:pt x="32957" y="430967"/>
                  </a:lnTo>
                  <a:lnTo>
                    <a:pt x="15052" y="388601"/>
                  </a:lnTo>
                  <a:lnTo>
                    <a:pt x="386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 descr="Member icon 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" y="2209800"/>
              <a:ext cx="304800" cy="2952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497330" y="1858445"/>
            <a:ext cx="2207260" cy="95313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1500" b="1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1:</a:t>
            </a:r>
            <a:r>
              <a:rPr sz="1500" b="1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ume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sz="15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hani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2800"/>
              </a:lnSpc>
              <a:spcBef>
                <a:spcPts val="985"/>
              </a:spcBef>
            </a:pP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AI</a:t>
            </a:r>
            <a:r>
              <a:rPr sz="1400" spc="-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&amp;</a:t>
            </a:r>
            <a:r>
              <a:rPr sz="1400" spc="-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7E3C6"/>
                </a:solidFill>
                <a:latin typeface="Calibri"/>
                <a:cs typeface="Calibri"/>
              </a:rPr>
              <a:t>Frontend</a:t>
            </a:r>
            <a:r>
              <a:rPr sz="1400" spc="-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Developer</a:t>
            </a:r>
            <a:r>
              <a:rPr sz="1400" spc="-1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|</a:t>
            </a:r>
            <a:r>
              <a:rPr sz="1400" spc="-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B7E3C6"/>
                </a:solidFill>
                <a:latin typeface="Calibri"/>
                <a:cs typeface="Calibri"/>
              </a:rPr>
              <a:t>Dt-</a:t>
            </a:r>
            <a:r>
              <a:rPr sz="1400" spc="-10" dirty="0">
                <a:solidFill>
                  <a:srgbClr val="B7E3C6"/>
                </a:solidFill>
                <a:latin typeface="Calibri"/>
                <a:cs typeface="Calibri"/>
              </a:rPr>
              <a:t>23006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294251" y="1779651"/>
            <a:ext cx="3584575" cy="1155700"/>
            <a:chOff x="4294251" y="1779651"/>
            <a:chExt cx="3584575" cy="1155700"/>
          </a:xfrm>
        </p:grpSpPr>
        <p:sp>
          <p:nvSpPr>
            <p:cNvPr id="12" name="object 12"/>
            <p:cNvSpPr/>
            <p:nvPr/>
          </p:nvSpPr>
          <p:spPr>
            <a:xfrm>
              <a:off x="4300601" y="1786001"/>
              <a:ext cx="3571875" cy="1143000"/>
            </a:xfrm>
            <a:custGeom>
              <a:avLst/>
              <a:gdLst/>
              <a:ahLst/>
              <a:cxnLst/>
              <a:rect l="l" t="t" r="r" b="b"/>
              <a:pathLst>
                <a:path w="3571875" h="1143000">
                  <a:moveTo>
                    <a:pt x="3462147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1033272"/>
                  </a:lnTo>
                  <a:lnTo>
                    <a:pt x="8606" y="1075973"/>
                  </a:lnTo>
                  <a:lnTo>
                    <a:pt x="32083" y="1110853"/>
                  </a:lnTo>
                  <a:lnTo>
                    <a:pt x="66919" y="1134373"/>
                  </a:lnTo>
                  <a:lnTo>
                    <a:pt x="109600" y="1143000"/>
                  </a:lnTo>
                  <a:lnTo>
                    <a:pt x="3462147" y="1143000"/>
                  </a:lnTo>
                  <a:lnTo>
                    <a:pt x="3504848" y="1134373"/>
                  </a:lnTo>
                  <a:lnTo>
                    <a:pt x="3539728" y="1110853"/>
                  </a:lnTo>
                  <a:lnTo>
                    <a:pt x="3563248" y="1075973"/>
                  </a:lnTo>
                  <a:lnTo>
                    <a:pt x="3571875" y="1033272"/>
                  </a:lnTo>
                  <a:lnTo>
                    <a:pt x="3571875" y="109600"/>
                  </a:lnTo>
                  <a:lnTo>
                    <a:pt x="3563248" y="66919"/>
                  </a:lnTo>
                  <a:lnTo>
                    <a:pt x="3539728" y="32083"/>
                  </a:lnTo>
                  <a:lnTo>
                    <a:pt x="3504848" y="8606"/>
                  </a:lnTo>
                  <a:lnTo>
                    <a:pt x="3462147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00601" y="1786001"/>
              <a:ext cx="3571875" cy="1143000"/>
            </a:xfrm>
            <a:custGeom>
              <a:avLst/>
              <a:gdLst/>
              <a:ahLst/>
              <a:cxnLst/>
              <a:rect l="l" t="t" r="r" b="b"/>
              <a:pathLst>
                <a:path w="3571875" h="1143000">
                  <a:moveTo>
                    <a:pt x="0" y="109600"/>
                  </a:moveTo>
                  <a:lnTo>
                    <a:pt x="8606" y="66919"/>
                  </a:lnTo>
                  <a:lnTo>
                    <a:pt x="32083" y="32083"/>
                  </a:lnTo>
                  <a:lnTo>
                    <a:pt x="66919" y="8606"/>
                  </a:lnTo>
                  <a:lnTo>
                    <a:pt x="109600" y="0"/>
                  </a:lnTo>
                  <a:lnTo>
                    <a:pt x="3462147" y="0"/>
                  </a:lnTo>
                  <a:lnTo>
                    <a:pt x="3504848" y="8606"/>
                  </a:lnTo>
                  <a:lnTo>
                    <a:pt x="3539728" y="32083"/>
                  </a:lnTo>
                  <a:lnTo>
                    <a:pt x="3563248" y="66919"/>
                  </a:lnTo>
                  <a:lnTo>
                    <a:pt x="3571875" y="109600"/>
                  </a:lnTo>
                  <a:lnTo>
                    <a:pt x="3571875" y="1033272"/>
                  </a:lnTo>
                  <a:lnTo>
                    <a:pt x="3563248" y="1075973"/>
                  </a:lnTo>
                  <a:lnTo>
                    <a:pt x="3539728" y="1110853"/>
                  </a:lnTo>
                  <a:lnTo>
                    <a:pt x="3504848" y="1134373"/>
                  </a:lnTo>
                  <a:lnTo>
                    <a:pt x="3462147" y="1143000"/>
                  </a:lnTo>
                  <a:lnTo>
                    <a:pt x="109600" y="1143000"/>
                  </a:lnTo>
                  <a:lnTo>
                    <a:pt x="66919" y="1134373"/>
                  </a:lnTo>
                  <a:lnTo>
                    <a:pt x="32083" y="1110853"/>
                  </a:lnTo>
                  <a:lnTo>
                    <a:pt x="8606" y="1075973"/>
                  </a:lnTo>
                  <a:lnTo>
                    <a:pt x="0" y="1033272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81576" y="206222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81576" y="206222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 descr="Member icon 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150" y="2209800"/>
              <a:ext cx="295275" cy="29527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249164" y="1858445"/>
            <a:ext cx="2291715" cy="953135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15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2:</a:t>
            </a:r>
            <a:r>
              <a:rPr sz="15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Areena</a:t>
            </a:r>
            <a:r>
              <a:rPr sz="15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Sheikh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2800"/>
              </a:lnSpc>
              <a:spcBef>
                <a:spcPts val="985"/>
              </a:spcBef>
            </a:pP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Data</a:t>
            </a:r>
            <a:r>
              <a:rPr sz="1400" spc="-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Engineer</a:t>
            </a:r>
            <a:r>
              <a:rPr sz="1400" spc="-5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&amp;</a:t>
            </a:r>
            <a:r>
              <a:rPr sz="1400" spc="-7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Pipeline</a:t>
            </a:r>
            <a:r>
              <a:rPr sz="1400" spc="-4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B7E3C6"/>
                </a:solidFill>
                <a:latin typeface="Calibri"/>
                <a:cs typeface="Calibri"/>
              </a:rPr>
              <a:t>Lead| </a:t>
            </a:r>
            <a:r>
              <a:rPr sz="1400" spc="-10" dirty="0">
                <a:solidFill>
                  <a:srgbClr val="B7E3C6"/>
                </a:solidFill>
                <a:latin typeface="Calibri"/>
                <a:cs typeface="Calibri"/>
              </a:rPr>
              <a:t>Dt-23004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8228076" y="1779651"/>
            <a:ext cx="3394075" cy="1155700"/>
            <a:chOff x="8228076" y="1779651"/>
            <a:chExt cx="3394075" cy="1155700"/>
          </a:xfrm>
        </p:grpSpPr>
        <p:sp>
          <p:nvSpPr>
            <p:cNvPr id="33" name="object 33"/>
            <p:cNvSpPr/>
            <p:nvPr/>
          </p:nvSpPr>
          <p:spPr>
            <a:xfrm>
              <a:off x="8234426" y="1786001"/>
              <a:ext cx="3381375" cy="1143000"/>
            </a:xfrm>
            <a:custGeom>
              <a:avLst/>
              <a:gdLst/>
              <a:ahLst/>
              <a:cxnLst/>
              <a:rect l="l" t="t" r="r" b="b"/>
              <a:pathLst>
                <a:path w="3381375" h="1143000">
                  <a:moveTo>
                    <a:pt x="3271520" y="0"/>
                  </a:moveTo>
                  <a:lnTo>
                    <a:pt x="109727" y="0"/>
                  </a:lnTo>
                  <a:lnTo>
                    <a:pt x="66972" y="8608"/>
                  </a:lnTo>
                  <a:lnTo>
                    <a:pt x="32099" y="32099"/>
                  </a:lnTo>
                  <a:lnTo>
                    <a:pt x="8608" y="66972"/>
                  </a:lnTo>
                  <a:lnTo>
                    <a:pt x="0" y="109727"/>
                  </a:lnTo>
                  <a:lnTo>
                    <a:pt x="0" y="1033145"/>
                  </a:lnTo>
                  <a:lnTo>
                    <a:pt x="8608" y="1075920"/>
                  </a:lnTo>
                  <a:lnTo>
                    <a:pt x="32099" y="1110837"/>
                  </a:lnTo>
                  <a:lnTo>
                    <a:pt x="66972" y="1134371"/>
                  </a:lnTo>
                  <a:lnTo>
                    <a:pt x="109727" y="1143000"/>
                  </a:lnTo>
                  <a:lnTo>
                    <a:pt x="3271520" y="1143000"/>
                  </a:lnTo>
                  <a:lnTo>
                    <a:pt x="3314295" y="1134371"/>
                  </a:lnTo>
                  <a:lnTo>
                    <a:pt x="3349212" y="1110837"/>
                  </a:lnTo>
                  <a:lnTo>
                    <a:pt x="3372746" y="1075920"/>
                  </a:lnTo>
                  <a:lnTo>
                    <a:pt x="3381375" y="1033145"/>
                  </a:lnTo>
                  <a:lnTo>
                    <a:pt x="3381375" y="109727"/>
                  </a:lnTo>
                  <a:lnTo>
                    <a:pt x="3372746" y="66972"/>
                  </a:lnTo>
                  <a:lnTo>
                    <a:pt x="3349212" y="32099"/>
                  </a:lnTo>
                  <a:lnTo>
                    <a:pt x="3314295" y="8608"/>
                  </a:lnTo>
                  <a:lnTo>
                    <a:pt x="327152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234426" y="1786001"/>
              <a:ext cx="3381375" cy="1143000"/>
            </a:xfrm>
            <a:custGeom>
              <a:avLst/>
              <a:gdLst/>
              <a:ahLst/>
              <a:cxnLst/>
              <a:rect l="l" t="t" r="r" b="b"/>
              <a:pathLst>
                <a:path w="3381375" h="1143000">
                  <a:moveTo>
                    <a:pt x="0" y="109727"/>
                  </a:moveTo>
                  <a:lnTo>
                    <a:pt x="8608" y="66972"/>
                  </a:lnTo>
                  <a:lnTo>
                    <a:pt x="32099" y="32099"/>
                  </a:lnTo>
                  <a:lnTo>
                    <a:pt x="66972" y="8608"/>
                  </a:lnTo>
                  <a:lnTo>
                    <a:pt x="109727" y="0"/>
                  </a:lnTo>
                  <a:lnTo>
                    <a:pt x="3271520" y="0"/>
                  </a:lnTo>
                  <a:lnTo>
                    <a:pt x="3314295" y="8608"/>
                  </a:lnTo>
                  <a:lnTo>
                    <a:pt x="3349212" y="32099"/>
                  </a:lnTo>
                  <a:lnTo>
                    <a:pt x="3372746" y="66972"/>
                  </a:lnTo>
                  <a:lnTo>
                    <a:pt x="3381375" y="109727"/>
                  </a:lnTo>
                  <a:lnTo>
                    <a:pt x="3381375" y="1033145"/>
                  </a:lnTo>
                  <a:lnTo>
                    <a:pt x="3372746" y="1075920"/>
                  </a:lnTo>
                  <a:lnTo>
                    <a:pt x="3349212" y="1110837"/>
                  </a:lnTo>
                  <a:lnTo>
                    <a:pt x="3314295" y="1134371"/>
                  </a:lnTo>
                  <a:lnTo>
                    <a:pt x="3271520" y="1143000"/>
                  </a:lnTo>
                  <a:lnTo>
                    <a:pt x="109727" y="1143000"/>
                  </a:lnTo>
                  <a:lnTo>
                    <a:pt x="66972" y="1134371"/>
                  </a:lnTo>
                  <a:lnTo>
                    <a:pt x="32099" y="1110837"/>
                  </a:lnTo>
                  <a:lnTo>
                    <a:pt x="8608" y="1075920"/>
                  </a:lnTo>
                  <a:lnTo>
                    <a:pt x="0" y="1033145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415401" y="206222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299974" y="0"/>
                  </a:moveTo>
                  <a:lnTo>
                    <a:pt x="251301" y="3861"/>
                  </a:lnTo>
                  <a:lnTo>
                    <a:pt x="205134" y="15041"/>
                  </a:lnTo>
                  <a:lnTo>
                    <a:pt x="162090" y="32935"/>
                  </a:lnTo>
                  <a:lnTo>
                    <a:pt x="122785" y="56936"/>
                  </a:lnTo>
                  <a:lnTo>
                    <a:pt x="87836" y="86439"/>
                  </a:lnTo>
                  <a:lnTo>
                    <a:pt x="57859" y="120837"/>
                  </a:lnTo>
                  <a:lnTo>
                    <a:pt x="33470" y="159526"/>
                  </a:lnTo>
                  <a:lnTo>
                    <a:pt x="15286" y="201899"/>
                  </a:lnTo>
                  <a:lnTo>
                    <a:pt x="3924" y="247350"/>
                  </a:lnTo>
                  <a:lnTo>
                    <a:pt x="0" y="295275"/>
                  </a:lnTo>
                  <a:lnTo>
                    <a:pt x="3924" y="343168"/>
                  </a:lnTo>
                  <a:lnTo>
                    <a:pt x="15286" y="388601"/>
                  </a:lnTo>
                  <a:lnTo>
                    <a:pt x="33470" y="430967"/>
                  </a:lnTo>
                  <a:lnTo>
                    <a:pt x="57859" y="469657"/>
                  </a:lnTo>
                  <a:lnTo>
                    <a:pt x="87836" y="504063"/>
                  </a:lnTo>
                  <a:lnTo>
                    <a:pt x="122785" y="533576"/>
                  </a:lnTo>
                  <a:lnTo>
                    <a:pt x="162090" y="557590"/>
                  </a:lnTo>
                  <a:lnTo>
                    <a:pt x="205134" y="575495"/>
                  </a:lnTo>
                  <a:lnTo>
                    <a:pt x="251301" y="586685"/>
                  </a:lnTo>
                  <a:lnTo>
                    <a:pt x="299974" y="590550"/>
                  </a:lnTo>
                  <a:lnTo>
                    <a:pt x="348650" y="586685"/>
                  </a:lnTo>
                  <a:lnTo>
                    <a:pt x="394826" y="575495"/>
                  </a:lnTo>
                  <a:lnTo>
                    <a:pt x="437884" y="557590"/>
                  </a:lnTo>
                  <a:lnTo>
                    <a:pt x="477207" y="533576"/>
                  </a:lnTo>
                  <a:lnTo>
                    <a:pt x="512175" y="504063"/>
                  </a:lnTo>
                  <a:lnTo>
                    <a:pt x="542171" y="469657"/>
                  </a:lnTo>
                  <a:lnTo>
                    <a:pt x="566577" y="430967"/>
                  </a:lnTo>
                  <a:lnTo>
                    <a:pt x="584775" y="388601"/>
                  </a:lnTo>
                  <a:lnTo>
                    <a:pt x="596147" y="343168"/>
                  </a:lnTo>
                  <a:lnTo>
                    <a:pt x="600075" y="295275"/>
                  </a:lnTo>
                  <a:lnTo>
                    <a:pt x="596147" y="247350"/>
                  </a:lnTo>
                  <a:lnTo>
                    <a:pt x="584775" y="201899"/>
                  </a:lnTo>
                  <a:lnTo>
                    <a:pt x="566577" y="159526"/>
                  </a:lnTo>
                  <a:lnTo>
                    <a:pt x="542171" y="120837"/>
                  </a:lnTo>
                  <a:lnTo>
                    <a:pt x="512175" y="86439"/>
                  </a:lnTo>
                  <a:lnTo>
                    <a:pt x="477207" y="56936"/>
                  </a:lnTo>
                  <a:lnTo>
                    <a:pt x="437884" y="32935"/>
                  </a:lnTo>
                  <a:lnTo>
                    <a:pt x="394826" y="15041"/>
                  </a:lnTo>
                  <a:lnTo>
                    <a:pt x="348650" y="3861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415401" y="2062226"/>
              <a:ext cx="600075" cy="590550"/>
            </a:xfrm>
            <a:custGeom>
              <a:avLst/>
              <a:gdLst/>
              <a:ahLst/>
              <a:cxnLst/>
              <a:rect l="l" t="t" r="r" b="b"/>
              <a:pathLst>
                <a:path w="600075" h="590550">
                  <a:moveTo>
                    <a:pt x="0" y="295275"/>
                  </a:moveTo>
                  <a:lnTo>
                    <a:pt x="3924" y="247350"/>
                  </a:lnTo>
                  <a:lnTo>
                    <a:pt x="15286" y="201899"/>
                  </a:lnTo>
                  <a:lnTo>
                    <a:pt x="33470" y="159526"/>
                  </a:lnTo>
                  <a:lnTo>
                    <a:pt x="57859" y="120837"/>
                  </a:lnTo>
                  <a:lnTo>
                    <a:pt x="87836" y="86439"/>
                  </a:lnTo>
                  <a:lnTo>
                    <a:pt x="122785" y="56936"/>
                  </a:lnTo>
                  <a:lnTo>
                    <a:pt x="162090" y="32935"/>
                  </a:lnTo>
                  <a:lnTo>
                    <a:pt x="205134" y="15041"/>
                  </a:lnTo>
                  <a:lnTo>
                    <a:pt x="251301" y="3861"/>
                  </a:lnTo>
                  <a:lnTo>
                    <a:pt x="299974" y="0"/>
                  </a:lnTo>
                  <a:lnTo>
                    <a:pt x="348650" y="3861"/>
                  </a:lnTo>
                  <a:lnTo>
                    <a:pt x="394826" y="15041"/>
                  </a:lnTo>
                  <a:lnTo>
                    <a:pt x="437884" y="32935"/>
                  </a:lnTo>
                  <a:lnTo>
                    <a:pt x="477207" y="56936"/>
                  </a:lnTo>
                  <a:lnTo>
                    <a:pt x="512175" y="86439"/>
                  </a:lnTo>
                  <a:lnTo>
                    <a:pt x="542171" y="120837"/>
                  </a:lnTo>
                  <a:lnTo>
                    <a:pt x="566577" y="159526"/>
                  </a:lnTo>
                  <a:lnTo>
                    <a:pt x="584775" y="201899"/>
                  </a:lnTo>
                  <a:lnTo>
                    <a:pt x="596147" y="247350"/>
                  </a:lnTo>
                  <a:lnTo>
                    <a:pt x="600075" y="295275"/>
                  </a:lnTo>
                  <a:lnTo>
                    <a:pt x="596147" y="343168"/>
                  </a:lnTo>
                  <a:lnTo>
                    <a:pt x="584775" y="388601"/>
                  </a:lnTo>
                  <a:lnTo>
                    <a:pt x="566577" y="430967"/>
                  </a:lnTo>
                  <a:lnTo>
                    <a:pt x="542171" y="469657"/>
                  </a:lnTo>
                  <a:lnTo>
                    <a:pt x="512175" y="504063"/>
                  </a:lnTo>
                  <a:lnTo>
                    <a:pt x="477207" y="533576"/>
                  </a:lnTo>
                  <a:lnTo>
                    <a:pt x="437884" y="557590"/>
                  </a:lnTo>
                  <a:lnTo>
                    <a:pt x="394826" y="575495"/>
                  </a:lnTo>
                  <a:lnTo>
                    <a:pt x="348650" y="586685"/>
                  </a:lnTo>
                  <a:lnTo>
                    <a:pt x="299974" y="590550"/>
                  </a:lnTo>
                  <a:lnTo>
                    <a:pt x="251301" y="586685"/>
                  </a:lnTo>
                  <a:lnTo>
                    <a:pt x="205134" y="575495"/>
                  </a:lnTo>
                  <a:lnTo>
                    <a:pt x="162090" y="557590"/>
                  </a:lnTo>
                  <a:lnTo>
                    <a:pt x="122785" y="533576"/>
                  </a:lnTo>
                  <a:lnTo>
                    <a:pt x="87836" y="504063"/>
                  </a:lnTo>
                  <a:lnTo>
                    <a:pt x="57859" y="469657"/>
                  </a:lnTo>
                  <a:lnTo>
                    <a:pt x="33470" y="430967"/>
                  </a:lnTo>
                  <a:lnTo>
                    <a:pt x="15286" y="388601"/>
                  </a:lnTo>
                  <a:lnTo>
                    <a:pt x="3924" y="343168"/>
                  </a:lnTo>
                  <a:lnTo>
                    <a:pt x="0" y="295275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 descr="Info icon 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62975" y="2209800"/>
              <a:ext cx="295275" cy="295275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9184005" y="1991931"/>
            <a:ext cx="199961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M</a:t>
            </a:r>
            <a:r>
              <a:rPr sz="1200" b="1" spc="-5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E</a:t>
            </a:r>
            <a:r>
              <a:rPr sz="1200" b="1" spc="-11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N</a:t>
            </a:r>
            <a:r>
              <a:rPr sz="1200" b="1" spc="-9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T</a:t>
            </a:r>
            <a:r>
              <a:rPr sz="1200" b="1" spc="-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O</a:t>
            </a:r>
            <a:r>
              <a:rPr sz="1200" b="1" spc="-3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R</a:t>
            </a:r>
            <a:r>
              <a:rPr sz="1200" b="1" spc="40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/</a:t>
            </a:r>
            <a:r>
              <a:rPr sz="1200" b="1" spc="34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S</a:t>
            </a:r>
            <a:r>
              <a:rPr sz="1200" b="1" spc="-1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U</a:t>
            </a:r>
            <a:r>
              <a:rPr sz="1200" b="1" spc="-8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P</a:t>
            </a:r>
            <a:r>
              <a:rPr sz="1200" b="1" spc="-8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E</a:t>
            </a:r>
            <a:r>
              <a:rPr sz="1200" b="1" spc="-11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R</a:t>
            </a:r>
            <a:r>
              <a:rPr sz="1200" b="1" spc="-5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V</a:t>
            </a:r>
            <a:r>
              <a:rPr sz="1200" b="1" spc="-8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I</a:t>
            </a:r>
            <a:r>
              <a:rPr sz="1200" b="1" spc="-7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S</a:t>
            </a:r>
            <a:r>
              <a:rPr sz="1200" b="1" spc="-8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O</a:t>
            </a:r>
            <a:r>
              <a:rPr sz="1200" b="1" spc="-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B7E3C6"/>
                </a:solidFill>
                <a:latin typeface="Calibri"/>
                <a:cs typeface="Calibri"/>
              </a:rPr>
              <a:t>R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0862" y="3103626"/>
            <a:ext cx="3575685" cy="1155700"/>
            <a:chOff x="550862" y="3103626"/>
            <a:chExt cx="3575685" cy="1155700"/>
          </a:xfrm>
        </p:grpSpPr>
        <p:sp>
          <p:nvSpPr>
            <p:cNvPr id="19" name="object 19"/>
            <p:cNvSpPr/>
            <p:nvPr/>
          </p:nvSpPr>
          <p:spPr>
            <a:xfrm>
              <a:off x="557212" y="3109976"/>
              <a:ext cx="3562985" cy="1143000"/>
            </a:xfrm>
            <a:custGeom>
              <a:avLst/>
              <a:gdLst/>
              <a:ahLst/>
              <a:cxnLst/>
              <a:rect l="l" t="t" r="r" b="b"/>
              <a:pathLst>
                <a:path w="3562985" h="1143000">
                  <a:moveTo>
                    <a:pt x="3452685" y="0"/>
                  </a:moveTo>
                  <a:lnTo>
                    <a:pt x="109728" y="0"/>
                  </a:lnTo>
                  <a:lnTo>
                    <a:pt x="67015" y="8606"/>
                  </a:lnTo>
                  <a:lnTo>
                    <a:pt x="32137" y="32083"/>
                  </a:lnTo>
                  <a:lnTo>
                    <a:pt x="8622" y="66919"/>
                  </a:lnTo>
                  <a:lnTo>
                    <a:pt x="0" y="109600"/>
                  </a:lnTo>
                  <a:lnTo>
                    <a:pt x="0" y="1033272"/>
                  </a:lnTo>
                  <a:lnTo>
                    <a:pt x="8622" y="1075973"/>
                  </a:lnTo>
                  <a:lnTo>
                    <a:pt x="32137" y="1110853"/>
                  </a:lnTo>
                  <a:lnTo>
                    <a:pt x="67015" y="1134373"/>
                  </a:lnTo>
                  <a:lnTo>
                    <a:pt x="109728" y="1143000"/>
                  </a:lnTo>
                  <a:lnTo>
                    <a:pt x="3452685" y="1143000"/>
                  </a:lnTo>
                  <a:lnTo>
                    <a:pt x="3495387" y="1134373"/>
                  </a:lnTo>
                  <a:lnTo>
                    <a:pt x="3530266" y="1110853"/>
                  </a:lnTo>
                  <a:lnTo>
                    <a:pt x="3553787" y="1075973"/>
                  </a:lnTo>
                  <a:lnTo>
                    <a:pt x="3562413" y="1033272"/>
                  </a:lnTo>
                  <a:lnTo>
                    <a:pt x="3562413" y="109600"/>
                  </a:lnTo>
                  <a:lnTo>
                    <a:pt x="3553787" y="66919"/>
                  </a:lnTo>
                  <a:lnTo>
                    <a:pt x="3530266" y="32083"/>
                  </a:lnTo>
                  <a:lnTo>
                    <a:pt x="3495387" y="8606"/>
                  </a:lnTo>
                  <a:lnTo>
                    <a:pt x="3452685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57212" y="3109976"/>
              <a:ext cx="3562985" cy="1143000"/>
            </a:xfrm>
            <a:custGeom>
              <a:avLst/>
              <a:gdLst/>
              <a:ahLst/>
              <a:cxnLst/>
              <a:rect l="l" t="t" r="r" b="b"/>
              <a:pathLst>
                <a:path w="3562985" h="1143000">
                  <a:moveTo>
                    <a:pt x="0" y="109600"/>
                  </a:moveTo>
                  <a:lnTo>
                    <a:pt x="8622" y="66919"/>
                  </a:lnTo>
                  <a:lnTo>
                    <a:pt x="32137" y="32083"/>
                  </a:lnTo>
                  <a:lnTo>
                    <a:pt x="67015" y="8606"/>
                  </a:lnTo>
                  <a:lnTo>
                    <a:pt x="109728" y="0"/>
                  </a:lnTo>
                  <a:lnTo>
                    <a:pt x="3452685" y="0"/>
                  </a:lnTo>
                  <a:lnTo>
                    <a:pt x="3495387" y="8606"/>
                  </a:lnTo>
                  <a:lnTo>
                    <a:pt x="3530266" y="32083"/>
                  </a:lnTo>
                  <a:lnTo>
                    <a:pt x="3553787" y="66919"/>
                  </a:lnTo>
                  <a:lnTo>
                    <a:pt x="3562413" y="109600"/>
                  </a:lnTo>
                  <a:lnTo>
                    <a:pt x="3562413" y="1033272"/>
                  </a:lnTo>
                  <a:lnTo>
                    <a:pt x="3553787" y="1075973"/>
                  </a:lnTo>
                  <a:lnTo>
                    <a:pt x="3530266" y="1110853"/>
                  </a:lnTo>
                  <a:lnTo>
                    <a:pt x="3495387" y="1134373"/>
                  </a:lnTo>
                  <a:lnTo>
                    <a:pt x="3452685" y="1143000"/>
                  </a:lnTo>
                  <a:lnTo>
                    <a:pt x="109728" y="1143000"/>
                  </a:lnTo>
                  <a:lnTo>
                    <a:pt x="67015" y="1134373"/>
                  </a:lnTo>
                  <a:lnTo>
                    <a:pt x="32137" y="1110853"/>
                  </a:lnTo>
                  <a:lnTo>
                    <a:pt x="8622" y="1075973"/>
                  </a:lnTo>
                  <a:lnTo>
                    <a:pt x="0" y="1033272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8187" y="3386201"/>
              <a:ext cx="591185" cy="600075"/>
            </a:xfrm>
            <a:custGeom>
              <a:avLst/>
              <a:gdLst/>
              <a:ahLst/>
              <a:cxnLst/>
              <a:rect l="l" t="t" r="r" b="b"/>
              <a:pathLst>
                <a:path w="591185" h="600075">
                  <a:moveTo>
                    <a:pt x="295275" y="0"/>
                  </a:moveTo>
                  <a:lnTo>
                    <a:pt x="247378" y="3924"/>
                  </a:lnTo>
                  <a:lnTo>
                    <a:pt x="201943" y="15286"/>
                  </a:lnTo>
                  <a:lnTo>
                    <a:pt x="159577" y="33470"/>
                  </a:lnTo>
                  <a:lnTo>
                    <a:pt x="120887" y="57859"/>
                  </a:lnTo>
                  <a:lnTo>
                    <a:pt x="86482" y="87836"/>
                  </a:lnTo>
                  <a:lnTo>
                    <a:pt x="56969" y="122785"/>
                  </a:lnTo>
                  <a:lnTo>
                    <a:pt x="32957" y="162090"/>
                  </a:lnTo>
                  <a:lnTo>
                    <a:pt x="15052" y="205134"/>
                  </a:lnTo>
                  <a:lnTo>
                    <a:pt x="3864" y="251301"/>
                  </a:lnTo>
                  <a:lnTo>
                    <a:pt x="0" y="299974"/>
                  </a:lnTo>
                  <a:lnTo>
                    <a:pt x="3864" y="348650"/>
                  </a:lnTo>
                  <a:lnTo>
                    <a:pt x="15052" y="394826"/>
                  </a:lnTo>
                  <a:lnTo>
                    <a:pt x="32957" y="437884"/>
                  </a:lnTo>
                  <a:lnTo>
                    <a:pt x="56969" y="477207"/>
                  </a:lnTo>
                  <a:lnTo>
                    <a:pt x="86482" y="512175"/>
                  </a:lnTo>
                  <a:lnTo>
                    <a:pt x="120887" y="542171"/>
                  </a:lnTo>
                  <a:lnTo>
                    <a:pt x="159577" y="566577"/>
                  </a:lnTo>
                  <a:lnTo>
                    <a:pt x="201943" y="584775"/>
                  </a:lnTo>
                  <a:lnTo>
                    <a:pt x="247378" y="596147"/>
                  </a:lnTo>
                  <a:lnTo>
                    <a:pt x="295275" y="600075"/>
                  </a:lnTo>
                  <a:lnTo>
                    <a:pt x="343173" y="596147"/>
                  </a:lnTo>
                  <a:lnTo>
                    <a:pt x="388613" y="584775"/>
                  </a:lnTo>
                  <a:lnTo>
                    <a:pt x="430986" y="566577"/>
                  </a:lnTo>
                  <a:lnTo>
                    <a:pt x="469685" y="542171"/>
                  </a:lnTo>
                  <a:lnTo>
                    <a:pt x="504099" y="512175"/>
                  </a:lnTo>
                  <a:lnTo>
                    <a:pt x="533621" y="477207"/>
                  </a:lnTo>
                  <a:lnTo>
                    <a:pt x="557642" y="437884"/>
                  </a:lnTo>
                  <a:lnTo>
                    <a:pt x="575554" y="394826"/>
                  </a:lnTo>
                  <a:lnTo>
                    <a:pt x="586747" y="348650"/>
                  </a:lnTo>
                  <a:lnTo>
                    <a:pt x="590613" y="299974"/>
                  </a:lnTo>
                  <a:lnTo>
                    <a:pt x="586747" y="251301"/>
                  </a:lnTo>
                  <a:lnTo>
                    <a:pt x="575554" y="205134"/>
                  </a:lnTo>
                  <a:lnTo>
                    <a:pt x="557642" y="162090"/>
                  </a:lnTo>
                  <a:lnTo>
                    <a:pt x="533621" y="122785"/>
                  </a:lnTo>
                  <a:lnTo>
                    <a:pt x="504099" y="87836"/>
                  </a:lnTo>
                  <a:lnTo>
                    <a:pt x="469685" y="57859"/>
                  </a:lnTo>
                  <a:lnTo>
                    <a:pt x="430986" y="33470"/>
                  </a:lnTo>
                  <a:lnTo>
                    <a:pt x="388613" y="15286"/>
                  </a:lnTo>
                  <a:lnTo>
                    <a:pt x="343173" y="3924"/>
                  </a:lnTo>
                  <a:lnTo>
                    <a:pt x="295275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8187" y="3386201"/>
              <a:ext cx="591185" cy="600075"/>
            </a:xfrm>
            <a:custGeom>
              <a:avLst/>
              <a:gdLst/>
              <a:ahLst/>
              <a:cxnLst/>
              <a:rect l="l" t="t" r="r" b="b"/>
              <a:pathLst>
                <a:path w="591185" h="600075">
                  <a:moveTo>
                    <a:pt x="0" y="299974"/>
                  </a:moveTo>
                  <a:lnTo>
                    <a:pt x="3864" y="251301"/>
                  </a:lnTo>
                  <a:lnTo>
                    <a:pt x="15052" y="205134"/>
                  </a:lnTo>
                  <a:lnTo>
                    <a:pt x="32957" y="162090"/>
                  </a:lnTo>
                  <a:lnTo>
                    <a:pt x="56969" y="122785"/>
                  </a:lnTo>
                  <a:lnTo>
                    <a:pt x="86482" y="87836"/>
                  </a:lnTo>
                  <a:lnTo>
                    <a:pt x="120887" y="57859"/>
                  </a:lnTo>
                  <a:lnTo>
                    <a:pt x="159577" y="33470"/>
                  </a:lnTo>
                  <a:lnTo>
                    <a:pt x="201943" y="15286"/>
                  </a:lnTo>
                  <a:lnTo>
                    <a:pt x="247378" y="3924"/>
                  </a:lnTo>
                  <a:lnTo>
                    <a:pt x="295275" y="0"/>
                  </a:lnTo>
                  <a:lnTo>
                    <a:pt x="343173" y="3924"/>
                  </a:lnTo>
                  <a:lnTo>
                    <a:pt x="388613" y="15286"/>
                  </a:lnTo>
                  <a:lnTo>
                    <a:pt x="430986" y="33470"/>
                  </a:lnTo>
                  <a:lnTo>
                    <a:pt x="469685" y="57859"/>
                  </a:lnTo>
                  <a:lnTo>
                    <a:pt x="504099" y="87836"/>
                  </a:lnTo>
                  <a:lnTo>
                    <a:pt x="533621" y="122785"/>
                  </a:lnTo>
                  <a:lnTo>
                    <a:pt x="557642" y="162090"/>
                  </a:lnTo>
                  <a:lnTo>
                    <a:pt x="575554" y="205134"/>
                  </a:lnTo>
                  <a:lnTo>
                    <a:pt x="586747" y="251301"/>
                  </a:lnTo>
                  <a:lnTo>
                    <a:pt x="590613" y="299974"/>
                  </a:lnTo>
                  <a:lnTo>
                    <a:pt x="586747" y="348650"/>
                  </a:lnTo>
                  <a:lnTo>
                    <a:pt x="575554" y="394826"/>
                  </a:lnTo>
                  <a:lnTo>
                    <a:pt x="557642" y="437884"/>
                  </a:lnTo>
                  <a:lnTo>
                    <a:pt x="533621" y="477207"/>
                  </a:lnTo>
                  <a:lnTo>
                    <a:pt x="504099" y="512175"/>
                  </a:lnTo>
                  <a:lnTo>
                    <a:pt x="469685" y="542171"/>
                  </a:lnTo>
                  <a:lnTo>
                    <a:pt x="430986" y="566577"/>
                  </a:lnTo>
                  <a:lnTo>
                    <a:pt x="388613" y="584775"/>
                  </a:lnTo>
                  <a:lnTo>
                    <a:pt x="343173" y="596147"/>
                  </a:lnTo>
                  <a:lnTo>
                    <a:pt x="295275" y="600075"/>
                  </a:lnTo>
                  <a:lnTo>
                    <a:pt x="247378" y="596147"/>
                  </a:lnTo>
                  <a:lnTo>
                    <a:pt x="201943" y="584775"/>
                  </a:lnTo>
                  <a:lnTo>
                    <a:pt x="159577" y="566577"/>
                  </a:lnTo>
                  <a:lnTo>
                    <a:pt x="120887" y="542171"/>
                  </a:lnTo>
                  <a:lnTo>
                    <a:pt x="86482" y="512175"/>
                  </a:lnTo>
                  <a:lnTo>
                    <a:pt x="56969" y="477207"/>
                  </a:lnTo>
                  <a:lnTo>
                    <a:pt x="32957" y="437884"/>
                  </a:lnTo>
                  <a:lnTo>
                    <a:pt x="15052" y="394826"/>
                  </a:lnTo>
                  <a:lnTo>
                    <a:pt x="3864" y="348650"/>
                  </a:lnTo>
                  <a:lnTo>
                    <a:pt x="0" y="299974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 descr="Member icon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300" y="3533775"/>
              <a:ext cx="304800" cy="295275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1497330" y="3319843"/>
            <a:ext cx="2389505" cy="83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1500" b="1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3:</a:t>
            </a:r>
            <a:r>
              <a:rPr sz="15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Hassan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 munir</a:t>
            </a:r>
            <a:endParaRPr sz="1500">
              <a:latin typeface="Calibri"/>
              <a:cs typeface="Calibri"/>
            </a:endParaRPr>
          </a:p>
          <a:p>
            <a:pPr marL="26670" marR="5080">
              <a:lnSpc>
                <a:spcPct val="102800"/>
              </a:lnSpc>
              <a:spcBef>
                <a:spcPts val="1100"/>
              </a:spcBef>
            </a:pP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Machine</a:t>
            </a:r>
            <a:r>
              <a:rPr sz="1400" spc="-5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Learning</a:t>
            </a:r>
            <a:r>
              <a:rPr sz="1400" spc="-1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&amp;</a:t>
            </a:r>
            <a:r>
              <a:rPr sz="1400" spc="-2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B7E3C6"/>
                </a:solidFill>
                <a:latin typeface="Calibri"/>
                <a:cs typeface="Calibri"/>
              </a:rPr>
              <a:t>Uncertainty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Specialist</a:t>
            </a:r>
            <a:r>
              <a:rPr sz="1400" b="1" dirty="0">
                <a:solidFill>
                  <a:srgbClr val="B7E3C6"/>
                </a:solidFill>
                <a:latin typeface="Calibri"/>
                <a:cs typeface="Calibri"/>
              </a:rPr>
              <a:t>:</a:t>
            </a:r>
            <a:r>
              <a:rPr sz="1400" b="1" spc="-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|</a:t>
            </a:r>
            <a:r>
              <a:rPr sz="1400" spc="-3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B7E3C6"/>
                </a:solidFill>
                <a:latin typeface="Calibri"/>
                <a:cs typeface="Calibri"/>
              </a:rPr>
              <a:t>000.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94251" y="3103626"/>
            <a:ext cx="3584575" cy="1155700"/>
            <a:chOff x="4294251" y="3103626"/>
            <a:chExt cx="3584575" cy="1155700"/>
          </a:xfrm>
        </p:grpSpPr>
        <p:sp>
          <p:nvSpPr>
            <p:cNvPr id="26" name="object 26"/>
            <p:cNvSpPr/>
            <p:nvPr/>
          </p:nvSpPr>
          <p:spPr>
            <a:xfrm>
              <a:off x="4300601" y="3109976"/>
              <a:ext cx="3571875" cy="1143000"/>
            </a:xfrm>
            <a:custGeom>
              <a:avLst/>
              <a:gdLst/>
              <a:ahLst/>
              <a:cxnLst/>
              <a:rect l="l" t="t" r="r" b="b"/>
              <a:pathLst>
                <a:path w="3571875" h="1143000">
                  <a:moveTo>
                    <a:pt x="3462147" y="0"/>
                  </a:moveTo>
                  <a:lnTo>
                    <a:pt x="109600" y="0"/>
                  </a:lnTo>
                  <a:lnTo>
                    <a:pt x="66919" y="8606"/>
                  </a:lnTo>
                  <a:lnTo>
                    <a:pt x="32083" y="32083"/>
                  </a:lnTo>
                  <a:lnTo>
                    <a:pt x="8606" y="66919"/>
                  </a:lnTo>
                  <a:lnTo>
                    <a:pt x="0" y="109600"/>
                  </a:lnTo>
                  <a:lnTo>
                    <a:pt x="0" y="1033272"/>
                  </a:lnTo>
                  <a:lnTo>
                    <a:pt x="8606" y="1075973"/>
                  </a:lnTo>
                  <a:lnTo>
                    <a:pt x="32083" y="1110853"/>
                  </a:lnTo>
                  <a:lnTo>
                    <a:pt x="66919" y="1134373"/>
                  </a:lnTo>
                  <a:lnTo>
                    <a:pt x="109600" y="1143000"/>
                  </a:lnTo>
                  <a:lnTo>
                    <a:pt x="3462147" y="1143000"/>
                  </a:lnTo>
                  <a:lnTo>
                    <a:pt x="3504848" y="1134373"/>
                  </a:lnTo>
                  <a:lnTo>
                    <a:pt x="3539728" y="1110853"/>
                  </a:lnTo>
                  <a:lnTo>
                    <a:pt x="3563248" y="1075973"/>
                  </a:lnTo>
                  <a:lnTo>
                    <a:pt x="3571875" y="1033272"/>
                  </a:lnTo>
                  <a:lnTo>
                    <a:pt x="3571875" y="109600"/>
                  </a:lnTo>
                  <a:lnTo>
                    <a:pt x="3563248" y="66919"/>
                  </a:lnTo>
                  <a:lnTo>
                    <a:pt x="3539728" y="32083"/>
                  </a:lnTo>
                  <a:lnTo>
                    <a:pt x="3504848" y="8606"/>
                  </a:lnTo>
                  <a:lnTo>
                    <a:pt x="3462147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00601" y="3109976"/>
              <a:ext cx="3571875" cy="1143000"/>
            </a:xfrm>
            <a:custGeom>
              <a:avLst/>
              <a:gdLst/>
              <a:ahLst/>
              <a:cxnLst/>
              <a:rect l="l" t="t" r="r" b="b"/>
              <a:pathLst>
                <a:path w="3571875" h="1143000">
                  <a:moveTo>
                    <a:pt x="0" y="109600"/>
                  </a:moveTo>
                  <a:lnTo>
                    <a:pt x="8606" y="66919"/>
                  </a:lnTo>
                  <a:lnTo>
                    <a:pt x="32083" y="32083"/>
                  </a:lnTo>
                  <a:lnTo>
                    <a:pt x="66919" y="8606"/>
                  </a:lnTo>
                  <a:lnTo>
                    <a:pt x="109600" y="0"/>
                  </a:lnTo>
                  <a:lnTo>
                    <a:pt x="3462147" y="0"/>
                  </a:lnTo>
                  <a:lnTo>
                    <a:pt x="3504848" y="8606"/>
                  </a:lnTo>
                  <a:lnTo>
                    <a:pt x="3539728" y="32083"/>
                  </a:lnTo>
                  <a:lnTo>
                    <a:pt x="3563248" y="66919"/>
                  </a:lnTo>
                  <a:lnTo>
                    <a:pt x="3571875" y="109600"/>
                  </a:lnTo>
                  <a:lnTo>
                    <a:pt x="3571875" y="1033272"/>
                  </a:lnTo>
                  <a:lnTo>
                    <a:pt x="3563248" y="1075973"/>
                  </a:lnTo>
                  <a:lnTo>
                    <a:pt x="3539728" y="1110853"/>
                  </a:lnTo>
                  <a:lnTo>
                    <a:pt x="3504848" y="1134373"/>
                  </a:lnTo>
                  <a:lnTo>
                    <a:pt x="3462147" y="1143000"/>
                  </a:lnTo>
                  <a:lnTo>
                    <a:pt x="109600" y="1143000"/>
                  </a:lnTo>
                  <a:lnTo>
                    <a:pt x="66919" y="1134373"/>
                  </a:lnTo>
                  <a:lnTo>
                    <a:pt x="32083" y="1110853"/>
                  </a:lnTo>
                  <a:lnTo>
                    <a:pt x="8606" y="1075973"/>
                  </a:lnTo>
                  <a:lnTo>
                    <a:pt x="0" y="1033272"/>
                  </a:lnTo>
                  <a:lnTo>
                    <a:pt x="0" y="109600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81576" y="3386201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299974" y="0"/>
                  </a:moveTo>
                  <a:lnTo>
                    <a:pt x="251301" y="3924"/>
                  </a:lnTo>
                  <a:lnTo>
                    <a:pt x="205134" y="15286"/>
                  </a:lnTo>
                  <a:lnTo>
                    <a:pt x="162090" y="33470"/>
                  </a:lnTo>
                  <a:lnTo>
                    <a:pt x="122785" y="57859"/>
                  </a:lnTo>
                  <a:lnTo>
                    <a:pt x="87836" y="87836"/>
                  </a:lnTo>
                  <a:lnTo>
                    <a:pt x="57859" y="122785"/>
                  </a:lnTo>
                  <a:lnTo>
                    <a:pt x="33470" y="162090"/>
                  </a:lnTo>
                  <a:lnTo>
                    <a:pt x="15286" y="205134"/>
                  </a:lnTo>
                  <a:lnTo>
                    <a:pt x="3924" y="251301"/>
                  </a:lnTo>
                  <a:lnTo>
                    <a:pt x="0" y="299974"/>
                  </a:lnTo>
                  <a:lnTo>
                    <a:pt x="3924" y="348650"/>
                  </a:lnTo>
                  <a:lnTo>
                    <a:pt x="15286" y="394826"/>
                  </a:lnTo>
                  <a:lnTo>
                    <a:pt x="33470" y="437884"/>
                  </a:lnTo>
                  <a:lnTo>
                    <a:pt x="57859" y="477207"/>
                  </a:lnTo>
                  <a:lnTo>
                    <a:pt x="87836" y="512175"/>
                  </a:lnTo>
                  <a:lnTo>
                    <a:pt x="122785" y="542171"/>
                  </a:lnTo>
                  <a:lnTo>
                    <a:pt x="162090" y="566577"/>
                  </a:lnTo>
                  <a:lnTo>
                    <a:pt x="205134" y="584775"/>
                  </a:lnTo>
                  <a:lnTo>
                    <a:pt x="251301" y="596147"/>
                  </a:lnTo>
                  <a:lnTo>
                    <a:pt x="299974" y="600075"/>
                  </a:lnTo>
                  <a:lnTo>
                    <a:pt x="348650" y="596147"/>
                  </a:lnTo>
                  <a:lnTo>
                    <a:pt x="394826" y="584775"/>
                  </a:lnTo>
                  <a:lnTo>
                    <a:pt x="437884" y="566577"/>
                  </a:lnTo>
                  <a:lnTo>
                    <a:pt x="477207" y="542171"/>
                  </a:lnTo>
                  <a:lnTo>
                    <a:pt x="512175" y="512175"/>
                  </a:lnTo>
                  <a:lnTo>
                    <a:pt x="542171" y="477207"/>
                  </a:lnTo>
                  <a:lnTo>
                    <a:pt x="566577" y="437884"/>
                  </a:lnTo>
                  <a:lnTo>
                    <a:pt x="584775" y="394826"/>
                  </a:lnTo>
                  <a:lnTo>
                    <a:pt x="596147" y="348650"/>
                  </a:lnTo>
                  <a:lnTo>
                    <a:pt x="600075" y="299974"/>
                  </a:lnTo>
                  <a:lnTo>
                    <a:pt x="596147" y="251301"/>
                  </a:lnTo>
                  <a:lnTo>
                    <a:pt x="584775" y="205134"/>
                  </a:lnTo>
                  <a:lnTo>
                    <a:pt x="566577" y="162090"/>
                  </a:lnTo>
                  <a:lnTo>
                    <a:pt x="542171" y="122785"/>
                  </a:lnTo>
                  <a:lnTo>
                    <a:pt x="512175" y="87836"/>
                  </a:lnTo>
                  <a:lnTo>
                    <a:pt x="477207" y="57859"/>
                  </a:lnTo>
                  <a:lnTo>
                    <a:pt x="437884" y="33470"/>
                  </a:lnTo>
                  <a:lnTo>
                    <a:pt x="394826" y="15286"/>
                  </a:lnTo>
                  <a:lnTo>
                    <a:pt x="348650" y="3924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481576" y="3386201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0" y="299974"/>
                  </a:moveTo>
                  <a:lnTo>
                    <a:pt x="3924" y="251301"/>
                  </a:lnTo>
                  <a:lnTo>
                    <a:pt x="15286" y="205134"/>
                  </a:lnTo>
                  <a:lnTo>
                    <a:pt x="33470" y="162090"/>
                  </a:lnTo>
                  <a:lnTo>
                    <a:pt x="57859" y="122785"/>
                  </a:lnTo>
                  <a:lnTo>
                    <a:pt x="87836" y="87836"/>
                  </a:lnTo>
                  <a:lnTo>
                    <a:pt x="122785" y="57859"/>
                  </a:lnTo>
                  <a:lnTo>
                    <a:pt x="162090" y="33470"/>
                  </a:lnTo>
                  <a:lnTo>
                    <a:pt x="205134" y="15286"/>
                  </a:lnTo>
                  <a:lnTo>
                    <a:pt x="251301" y="3924"/>
                  </a:lnTo>
                  <a:lnTo>
                    <a:pt x="299974" y="0"/>
                  </a:lnTo>
                  <a:lnTo>
                    <a:pt x="348650" y="3924"/>
                  </a:lnTo>
                  <a:lnTo>
                    <a:pt x="394826" y="15286"/>
                  </a:lnTo>
                  <a:lnTo>
                    <a:pt x="437884" y="33470"/>
                  </a:lnTo>
                  <a:lnTo>
                    <a:pt x="477207" y="57859"/>
                  </a:lnTo>
                  <a:lnTo>
                    <a:pt x="512175" y="87836"/>
                  </a:lnTo>
                  <a:lnTo>
                    <a:pt x="542171" y="122785"/>
                  </a:lnTo>
                  <a:lnTo>
                    <a:pt x="566577" y="162090"/>
                  </a:lnTo>
                  <a:lnTo>
                    <a:pt x="584775" y="205134"/>
                  </a:lnTo>
                  <a:lnTo>
                    <a:pt x="596147" y="251301"/>
                  </a:lnTo>
                  <a:lnTo>
                    <a:pt x="600075" y="299974"/>
                  </a:lnTo>
                  <a:lnTo>
                    <a:pt x="596147" y="348650"/>
                  </a:lnTo>
                  <a:lnTo>
                    <a:pt x="584775" y="394826"/>
                  </a:lnTo>
                  <a:lnTo>
                    <a:pt x="566577" y="437884"/>
                  </a:lnTo>
                  <a:lnTo>
                    <a:pt x="542171" y="477207"/>
                  </a:lnTo>
                  <a:lnTo>
                    <a:pt x="512175" y="512175"/>
                  </a:lnTo>
                  <a:lnTo>
                    <a:pt x="477207" y="542171"/>
                  </a:lnTo>
                  <a:lnTo>
                    <a:pt x="437884" y="566577"/>
                  </a:lnTo>
                  <a:lnTo>
                    <a:pt x="394826" y="584775"/>
                  </a:lnTo>
                  <a:lnTo>
                    <a:pt x="348650" y="596147"/>
                  </a:lnTo>
                  <a:lnTo>
                    <a:pt x="299974" y="600075"/>
                  </a:lnTo>
                  <a:lnTo>
                    <a:pt x="251301" y="596147"/>
                  </a:lnTo>
                  <a:lnTo>
                    <a:pt x="205134" y="584775"/>
                  </a:lnTo>
                  <a:lnTo>
                    <a:pt x="162090" y="566577"/>
                  </a:lnTo>
                  <a:lnTo>
                    <a:pt x="122785" y="542171"/>
                  </a:lnTo>
                  <a:lnTo>
                    <a:pt x="87836" y="512175"/>
                  </a:lnTo>
                  <a:lnTo>
                    <a:pt x="57859" y="477207"/>
                  </a:lnTo>
                  <a:lnTo>
                    <a:pt x="33470" y="437884"/>
                  </a:lnTo>
                  <a:lnTo>
                    <a:pt x="15286" y="394826"/>
                  </a:lnTo>
                  <a:lnTo>
                    <a:pt x="3924" y="348650"/>
                  </a:lnTo>
                  <a:lnTo>
                    <a:pt x="0" y="299974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 descr="Member icon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150" y="3533775"/>
              <a:ext cx="295275" cy="29527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5249164" y="3185368"/>
            <a:ext cx="2258060" cy="734695"/>
          </a:xfrm>
          <a:prstGeom prst="rect">
            <a:avLst/>
          </a:prstGeom>
        </p:spPr>
        <p:txBody>
          <a:bodyPr vert="horz" wrap="square" lIns="0" tIns="1473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Member</a:t>
            </a:r>
            <a:r>
              <a:rPr sz="15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4:</a:t>
            </a:r>
            <a:r>
              <a:rPr sz="15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libri"/>
                <a:cs typeface="Calibri"/>
              </a:rPr>
              <a:t>[Member</a:t>
            </a:r>
            <a:r>
              <a:rPr sz="1500" b="1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b="1" spc="-20" dirty="0">
                <a:solidFill>
                  <a:srgbClr val="FFFFFF"/>
                </a:solidFill>
                <a:latin typeface="Calibri"/>
                <a:cs typeface="Calibri"/>
              </a:rPr>
              <a:t>Name]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[Role</a:t>
            </a:r>
            <a:r>
              <a:rPr sz="1400" spc="-6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B7E3C6"/>
                </a:solidFill>
                <a:latin typeface="Calibri"/>
                <a:cs typeface="Calibri"/>
              </a:rPr>
              <a:t>|</a:t>
            </a:r>
            <a:r>
              <a:rPr sz="1400" spc="-10" dirty="0">
                <a:solidFill>
                  <a:srgbClr val="B7E3C6"/>
                </a:solidFill>
                <a:latin typeface="Calibri"/>
                <a:cs typeface="Calibri"/>
              </a:rPr>
              <a:t> Roll</a:t>
            </a:r>
            <a:r>
              <a:rPr sz="1400" spc="-5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B7E3C6"/>
                </a:solidFill>
                <a:latin typeface="Calibri"/>
                <a:cs typeface="Calibri"/>
              </a:rPr>
              <a:t>No.]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228076" y="3103626"/>
            <a:ext cx="3394075" cy="1155700"/>
            <a:chOff x="8228076" y="3103626"/>
            <a:chExt cx="3394075" cy="1155700"/>
          </a:xfrm>
        </p:grpSpPr>
        <p:sp>
          <p:nvSpPr>
            <p:cNvPr id="40" name="object 40"/>
            <p:cNvSpPr/>
            <p:nvPr/>
          </p:nvSpPr>
          <p:spPr>
            <a:xfrm>
              <a:off x="8234426" y="3109976"/>
              <a:ext cx="3381375" cy="1143000"/>
            </a:xfrm>
            <a:custGeom>
              <a:avLst/>
              <a:gdLst/>
              <a:ahLst/>
              <a:cxnLst/>
              <a:rect l="l" t="t" r="r" b="b"/>
              <a:pathLst>
                <a:path w="3381375" h="1143000">
                  <a:moveTo>
                    <a:pt x="3271520" y="0"/>
                  </a:moveTo>
                  <a:lnTo>
                    <a:pt x="109727" y="0"/>
                  </a:lnTo>
                  <a:lnTo>
                    <a:pt x="66972" y="8608"/>
                  </a:lnTo>
                  <a:lnTo>
                    <a:pt x="32099" y="32099"/>
                  </a:lnTo>
                  <a:lnTo>
                    <a:pt x="8608" y="66972"/>
                  </a:lnTo>
                  <a:lnTo>
                    <a:pt x="0" y="109727"/>
                  </a:lnTo>
                  <a:lnTo>
                    <a:pt x="0" y="1033144"/>
                  </a:lnTo>
                  <a:lnTo>
                    <a:pt x="8608" y="1075920"/>
                  </a:lnTo>
                  <a:lnTo>
                    <a:pt x="32099" y="1110837"/>
                  </a:lnTo>
                  <a:lnTo>
                    <a:pt x="66972" y="1134371"/>
                  </a:lnTo>
                  <a:lnTo>
                    <a:pt x="109727" y="1143000"/>
                  </a:lnTo>
                  <a:lnTo>
                    <a:pt x="3271520" y="1143000"/>
                  </a:lnTo>
                  <a:lnTo>
                    <a:pt x="3314295" y="1134371"/>
                  </a:lnTo>
                  <a:lnTo>
                    <a:pt x="3349212" y="1110837"/>
                  </a:lnTo>
                  <a:lnTo>
                    <a:pt x="3372746" y="1075920"/>
                  </a:lnTo>
                  <a:lnTo>
                    <a:pt x="3381375" y="1033144"/>
                  </a:lnTo>
                  <a:lnTo>
                    <a:pt x="3381375" y="109727"/>
                  </a:lnTo>
                  <a:lnTo>
                    <a:pt x="3372746" y="66972"/>
                  </a:lnTo>
                  <a:lnTo>
                    <a:pt x="3349212" y="32099"/>
                  </a:lnTo>
                  <a:lnTo>
                    <a:pt x="3314295" y="8608"/>
                  </a:lnTo>
                  <a:lnTo>
                    <a:pt x="3271520" y="0"/>
                  </a:lnTo>
                  <a:close/>
                </a:path>
              </a:pathLst>
            </a:custGeom>
            <a:solidFill>
              <a:srgbClr val="2C6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234426" y="3109976"/>
              <a:ext cx="3381375" cy="1143000"/>
            </a:xfrm>
            <a:custGeom>
              <a:avLst/>
              <a:gdLst/>
              <a:ahLst/>
              <a:cxnLst/>
              <a:rect l="l" t="t" r="r" b="b"/>
              <a:pathLst>
                <a:path w="3381375" h="1143000">
                  <a:moveTo>
                    <a:pt x="0" y="109727"/>
                  </a:moveTo>
                  <a:lnTo>
                    <a:pt x="8608" y="66972"/>
                  </a:lnTo>
                  <a:lnTo>
                    <a:pt x="32099" y="32099"/>
                  </a:lnTo>
                  <a:lnTo>
                    <a:pt x="66972" y="8608"/>
                  </a:lnTo>
                  <a:lnTo>
                    <a:pt x="109727" y="0"/>
                  </a:lnTo>
                  <a:lnTo>
                    <a:pt x="3271520" y="0"/>
                  </a:lnTo>
                  <a:lnTo>
                    <a:pt x="3314295" y="8608"/>
                  </a:lnTo>
                  <a:lnTo>
                    <a:pt x="3349212" y="32099"/>
                  </a:lnTo>
                  <a:lnTo>
                    <a:pt x="3372746" y="66972"/>
                  </a:lnTo>
                  <a:lnTo>
                    <a:pt x="3381375" y="109727"/>
                  </a:lnTo>
                  <a:lnTo>
                    <a:pt x="3381375" y="1033144"/>
                  </a:lnTo>
                  <a:lnTo>
                    <a:pt x="3372746" y="1075920"/>
                  </a:lnTo>
                  <a:lnTo>
                    <a:pt x="3349212" y="1110837"/>
                  </a:lnTo>
                  <a:lnTo>
                    <a:pt x="3314295" y="1134371"/>
                  </a:lnTo>
                  <a:lnTo>
                    <a:pt x="3271520" y="1143000"/>
                  </a:lnTo>
                  <a:lnTo>
                    <a:pt x="109727" y="1143000"/>
                  </a:lnTo>
                  <a:lnTo>
                    <a:pt x="66972" y="1134371"/>
                  </a:lnTo>
                  <a:lnTo>
                    <a:pt x="32099" y="1110837"/>
                  </a:lnTo>
                  <a:lnTo>
                    <a:pt x="8608" y="1075920"/>
                  </a:lnTo>
                  <a:lnTo>
                    <a:pt x="0" y="1033144"/>
                  </a:lnTo>
                  <a:lnTo>
                    <a:pt x="0" y="109727"/>
                  </a:lnTo>
                  <a:close/>
                </a:path>
              </a:pathLst>
            </a:custGeom>
            <a:ln w="12700">
              <a:solidFill>
                <a:srgbClr val="40916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415401" y="3386201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299974" y="0"/>
                  </a:moveTo>
                  <a:lnTo>
                    <a:pt x="251301" y="3924"/>
                  </a:lnTo>
                  <a:lnTo>
                    <a:pt x="205134" y="15286"/>
                  </a:lnTo>
                  <a:lnTo>
                    <a:pt x="162090" y="33470"/>
                  </a:lnTo>
                  <a:lnTo>
                    <a:pt x="122785" y="57859"/>
                  </a:lnTo>
                  <a:lnTo>
                    <a:pt x="87836" y="87836"/>
                  </a:lnTo>
                  <a:lnTo>
                    <a:pt x="57859" y="122785"/>
                  </a:lnTo>
                  <a:lnTo>
                    <a:pt x="33470" y="162090"/>
                  </a:lnTo>
                  <a:lnTo>
                    <a:pt x="15286" y="205134"/>
                  </a:lnTo>
                  <a:lnTo>
                    <a:pt x="3924" y="251301"/>
                  </a:lnTo>
                  <a:lnTo>
                    <a:pt x="0" y="299974"/>
                  </a:lnTo>
                  <a:lnTo>
                    <a:pt x="3924" y="348650"/>
                  </a:lnTo>
                  <a:lnTo>
                    <a:pt x="15286" y="394826"/>
                  </a:lnTo>
                  <a:lnTo>
                    <a:pt x="33470" y="437884"/>
                  </a:lnTo>
                  <a:lnTo>
                    <a:pt x="57859" y="477207"/>
                  </a:lnTo>
                  <a:lnTo>
                    <a:pt x="87836" y="512175"/>
                  </a:lnTo>
                  <a:lnTo>
                    <a:pt x="122785" y="542171"/>
                  </a:lnTo>
                  <a:lnTo>
                    <a:pt x="162090" y="566577"/>
                  </a:lnTo>
                  <a:lnTo>
                    <a:pt x="205134" y="584775"/>
                  </a:lnTo>
                  <a:lnTo>
                    <a:pt x="251301" y="596147"/>
                  </a:lnTo>
                  <a:lnTo>
                    <a:pt x="299974" y="600075"/>
                  </a:lnTo>
                  <a:lnTo>
                    <a:pt x="348650" y="596147"/>
                  </a:lnTo>
                  <a:lnTo>
                    <a:pt x="394826" y="584775"/>
                  </a:lnTo>
                  <a:lnTo>
                    <a:pt x="437884" y="566577"/>
                  </a:lnTo>
                  <a:lnTo>
                    <a:pt x="477207" y="542171"/>
                  </a:lnTo>
                  <a:lnTo>
                    <a:pt x="512175" y="512175"/>
                  </a:lnTo>
                  <a:lnTo>
                    <a:pt x="542171" y="477207"/>
                  </a:lnTo>
                  <a:lnTo>
                    <a:pt x="566577" y="437884"/>
                  </a:lnTo>
                  <a:lnTo>
                    <a:pt x="584775" y="394826"/>
                  </a:lnTo>
                  <a:lnTo>
                    <a:pt x="596147" y="348650"/>
                  </a:lnTo>
                  <a:lnTo>
                    <a:pt x="600075" y="299974"/>
                  </a:lnTo>
                  <a:lnTo>
                    <a:pt x="596147" y="251301"/>
                  </a:lnTo>
                  <a:lnTo>
                    <a:pt x="584775" y="205134"/>
                  </a:lnTo>
                  <a:lnTo>
                    <a:pt x="566577" y="162090"/>
                  </a:lnTo>
                  <a:lnTo>
                    <a:pt x="542171" y="122785"/>
                  </a:lnTo>
                  <a:lnTo>
                    <a:pt x="512175" y="87836"/>
                  </a:lnTo>
                  <a:lnTo>
                    <a:pt x="477207" y="57859"/>
                  </a:lnTo>
                  <a:lnTo>
                    <a:pt x="437884" y="33470"/>
                  </a:lnTo>
                  <a:lnTo>
                    <a:pt x="394826" y="15286"/>
                  </a:lnTo>
                  <a:lnTo>
                    <a:pt x="348650" y="3924"/>
                  </a:lnTo>
                  <a:lnTo>
                    <a:pt x="299974" y="0"/>
                  </a:lnTo>
                  <a:close/>
                </a:path>
              </a:pathLst>
            </a:custGeom>
            <a:solidFill>
              <a:srgbClr val="095C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415401" y="3386201"/>
              <a:ext cx="600075" cy="600075"/>
            </a:xfrm>
            <a:custGeom>
              <a:avLst/>
              <a:gdLst/>
              <a:ahLst/>
              <a:cxnLst/>
              <a:rect l="l" t="t" r="r" b="b"/>
              <a:pathLst>
                <a:path w="600075" h="600075">
                  <a:moveTo>
                    <a:pt x="0" y="299974"/>
                  </a:moveTo>
                  <a:lnTo>
                    <a:pt x="3924" y="251301"/>
                  </a:lnTo>
                  <a:lnTo>
                    <a:pt x="15286" y="205134"/>
                  </a:lnTo>
                  <a:lnTo>
                    <a:pt x="33470" y="162090"/>
                  </a:lnTo>
                  <a:lnTo>
                    <a:pt x="57859" y="122785"/>
                  </a:lnTo>
                  <a:lnTo>
                    <a:pt x="87836" y="87836"/>
                  </a:lnTo>
                  <a:lnTo>
                    <a:pt x="122785" y="57859"/>
                  </a:lnTo>
                  <a:lnTo>
                    <a:pt x="162090" y="33470"/>
                  </a:lnTo>
                  <a:lnTo>
                    <a:pt x="205134" y="15286"/>
                  </a:lnTo>
                  <a:lnTo>
                    <a:pt x="251301" y="3924"/>
                  </a:lnTo>
                  <a:lnTo>
                    <a:pt x="299974" y="0"/>
                  </a:lnTo>
                  <a:lnTo>
                    <a:pt x="348650" y="3924"/>
                  </a:lnTo>
                  <a:lnTo>
                    <a:pt x="394826" y="15286"/>
                  </a:lnTo>
                  <a:lnTo>
                    <a:pt x="437884" y="33470"/>
                  </a:lnTo>
                  <a:lnTo>
                    <a:pt x="477207" y="57859"/>
                  </a:lnTo>
                  <a:lnTo>
                    <a:pt x="512175" y="87836"/>
                  </a:lnTo>
                  <a:lnTo>
                    <a:pt x="542171" y="122785"/>
                  </a:lnTo>
                  <a:lnTo>
                    <a:pt x="566577" y="162090"/>
                  </a:lnTo>
                  <a:lnTo>
                    <a:pt x="584775" y="205134"/>
                  </a:lnTo>
                  <a:lnTo>
                    <a:pt x="596147" y="251301"/>
                  </a:lnTo>
                  <a:lnTo>
                    <a:pt x="600075" y="299974"/>
                  </a:lnTo>
                  <a:lnTo>
                    <a:pt x="596147" y="348650"/>
                  </a:lnTo>
                  <a:lnTo>
                    <a:pt x="584775" y="394826"/>
                  </a:lnTo>
                  <a:lnTo>
                    <a:pt x="566577" y="437884"/>
                  </a:lnTo>
                  <a:lnTo>
                    <a:pt x="542171" y="477207"/>
                  </a:lnTo>
                  <a:lnTo>
                    <a:pt x="512175" y="512175"/>
                  </a:lnTo>
                  <a:lnTo>
                    <a:pt x="477207" y="542171"/>
                  </a:lnTo>
                  <a:lnTo>
                    <a:pt x="437884" y="566577"/>
                  </a:lnTo>
                  <a:lnTo>
                    <a:pt x="394826" y="584775"/>
                  </a:lnTo>
                  <a:lnTo>
                    <a:pt x="348650" y="596147"/>
                  </a:lnTo>
                  <a:lnTo>
                    <a:pt x="299974" y="600075"/>
                  </a:lnTo>
                  <a:lnTo>
                    <a:pt x="251301" y="596147"/>
                  </a:lnTo>
                  <a:lnTo>
                    <a:pt x="205134" y="584775"/>
                  </a:lnTo>
                  <a:lnTo>
                    <a:pt x="162090" y="566577"/>
                  </a:lnTo>
                  <a:lnTo>
                    <a:pt x="122785" y="542171"/>
                  </a:lnTo>
                  <a:lnTo>
                    <a:pt x="87836" y="512175"/>
                  </a:lnTo>
                  <a:lnTo>
                    <a:pt x="57859" y="477207"/>
                  </a:lnTo>
                  <a:lnTo>
                    <a:pt x="33470" y="437884"/>
                  </a:lnTo>
                  <a:lnTo>
                    <a:pt x="15286" y="394826"/>
                  </a:lnTo>
                  <a:lnTo>
                    <a:pt x="3924" y="348650"/>
                  </a:lnTo>
                  <a:lnTo>
                    <a:pt x="0" y="299974"/>
                  </a:lnTo>
                  <a:close/>
                </a:path>
              </a:pathLst>
            </a:custGeom>
            <a:ln w="12700">
              <a:solidFill>
                <a:srgbClr val="095C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 descr="Info icon 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62975" y="3533775"/>
              <a:ext cx="295275" cy="295275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9184005" y="3319716"/>
            <a:ext cx="1492250" cy="428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C</a:t>
            </a:r>
            <a:r>
              <a:rPr sz="1200" b="1" spc="-8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O</a:t>
            </a:r>
            <a:r>
              <a:rPr sz="1200" b="1" spc="-3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N</a:t>
            </a:r>
            <a:r>
              <a:rPr sz="1200" b="1" spc="-9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T</a:t>
            </a:r>
            <a:r>
              <a:rPr sz="1200" b="1" spc="-4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B7E3C6"/>
                </a:solidFill>
                <a:latin typeface="Calibri"/>
                <a:cs typeface="Calibri"/>
              </a:rPr>
              <a:t>A</a:t>
            </a:r>
            <a:r>
              <a:rPr sz="1200" b="1" spc="-100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B7E3C6"/>
                </a:solidFill>
                <a:latin typeface="Calibri"/>
                <a:cs typeface="Calibri"/>
              </a:rPr>
              <a:t>C</a:t>
            </a:r>
            <a:r>
              <a:rPr sz="1200" b="1" spc="-85" dirty="0">
                <a:solidFill>
                  <a:srgbClr val="B7E3C6"/>
                </a:solidFill>
                <a:latin typeface="Calibri"/>
                <a:cs typeface="Calibri"/>
              </a:rPr>
              <a:t> </a:t>
            </a:r>
            <a:r>
              <a:rPr sz="1200" b="1" spc="-50" dirty="0">
                <a:solidFill>
                  <a:srgbClr val="B7E3C6"/>
                </a:solidFill>
                <a:latin typeface="Calibri"/>
                <a:cs typeface="Calibri"/>
              </a:rPr>
              <a:t>T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[email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GitHub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link]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50862" y="4665726"/>
            <a:ext cx="11071860" cy="1565275"/>
            <a:chOff x="550862" y="4665726"/>
            <a:chExt cx="11071860" cy="1565275"/>
          </a:xfrm>
        </p:grpSpPr>
        <p:sp>
          <p:nvSpPr>
            <p:cNvPr id="47" name="object 47"/>
            <p:cNvSpPr/>
            <p:nvPr/>
          </p:nvSpPr>
          <p:spPr>
            <a:xfrm>
              <a:off x="557212" y="4672076"/>
              <a:ext cx="11059160" cy="1552575"/>
            </a:xfrm>
            <a:custGeom>
              <a:avLst/>
              <a:gdLst/>
              <a:ahLst/>
              <a:cxnLst/>
              <a:rect l="l" t="t" r="r" b="b"/>
              <a:pathLst>
                <a:path w="11059160" h="1552575">
                  <a:moveTo>
                    <a:pt x="10948987" y="0"/>
                  </a:moveTo>
                  <a:lnTo>
                    <a:pt x="109588" y="0"/>
                  </a:lnTo>
                  <a:lnTo>
                    <a:pt x="66935" y="8604"/>
                  </a:lnTo>
                  <a:lnTo>
                    <a:pt x="32100" y="32067"/>
                  </a:lnTo>
                  <a:lnTo>
                    <a:pt x="8613" y="66865"/>
                  </a:lnTo>
                  <a:lnTo>
                    <a:pt x="0" y="109474"/>
                  </a:lnTo>
                  <a:lnTo>
                    <a:pt x="0" y="1442923"/>
                  </a:lnTo>
                  <a:lnTo>
                    <a:pt x="8613" y="1485576"/>
                  </a:lnTo>
                  <a:lnTo>
                    <a:pt x="32100" y="1520410"/>
                  </a:lnTo>
                  <a:lnTo>
                    <a:pt x="66935" y="1543898"/>
                  </a:lnTo>
                  <a:lnTo>
                    <a:pt x="109588" y="1552511"/>
                  </a:lnTo>
                  <a:lnTo>
                    <a:pt x="10948987" y="1552511"/>
                  </a:lnTo>
                  <a:lnTo>
                    <a:pt x="10991615" y="1543898"/>
                  </a:lnTo>
                  <a:lnTo>
                    <a:pt x="11026457" y="1520410"/>
                  </a:lnTo>
                  <a:lnTo>
                    <a:pt x="11049964" y="1485576"/>
                  </a:lnTo>
                  <a:lnTo>
                    <a:pt x="11058588" y="1442923"/>
                  </a:lnTo>
                  <a:lnTo>
                    <a:pt x="11058588" y="109474"/>
                  </a:lnTo>
                  <a:lnTo>
                    <a:pt x="11049964" y="66865"/>
                  </a:lnTo>
                  <a:lnTo>
                    <a:pt x="11026457" y="32067"/>
                  </a:lnTo>
                  <a:lnTo>
                    <a:pt x="10991615" y="8604"/>
                  </a:lnTo>
                  <a:lnTo>
                    <a:pt x="10948987" y="0"/>
                  </a:lnTo>
                  <a:close/>
                </a:path>
              </a:pathLst>
            </a:custGeom>
            <a:solidFill>
              <a:srgbClr val="F4F8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57212" y="4672076"/>
              <a:ext cx="11059160" cy="1552575"/>
            </a:xfrm>
            <a:custGeom>
              <a:avLst/>
              <a:gdLst/>
              <a:ahLst/>
              <a:cxnLst/>
              <a:rect l="l" t="t" r="r" b="b"/>
              <a:pathLst>
                <a:path w="11059160" h="1552575">
                  <a:moveTo>
                    <a:pt x="0" y="109474"/>
                  </a:moveTo>
                  <a:lnTo>
                    <a:pt x="8613" y="66865"/>
                  </a:lnTo>
                  <a:lnTo>
                    <a:pt x="32100" y="32067"/>
                  </a:lnTo>
                  <a:lnTo>
                    <a:pt x="66935" y="8604"/>
                  </a:lnTo>
                  <a:lnTo>
                    <a:pt x="109588" y="0"/>
                  </a:lnTo>
                  <a:lnTo>
                    <a:pt x="10948987" y="0"/>
                  </a:lnTo>
                  <a:lnTo>
                    <a:pt x="10991615" y="8604"/>
                  </a:lnTo>
                  <a:lnTo>
                    <a:pt x="11026457" y="32067"/>
                  </a:lnTo>
                  <a:lnTo>
                    <a:pt x="11049964" y="66865"/>
                  </a:lnTo>
                  <a:lnTo>
                    <a:pt x="11058588" y="109474"/>
                  </a:lnTo>
                  <a:lnTo>
                    <a:pt x="11058588" y="1442923"/>
                  </a:lnTo>
                  <a:lnTo>
                    <a:pt x="11049964" y="1485576"/>
                  </a:lnTo>
                  <a:lnTo>
                    <a:pt x="11026457" y="1520410"/>
                  </a:lnTo>
                  <a:lnTo>
                    <a:pt x="10991615" y="1543898"/>
                  </a:lnTo>
                  <a:lnTo>
                    <a:pt x="10948987" y="1552511"/>
                  </a:lnTo>
                  <a:lnTo>
                    <a:pt x="109588" y="1552511"/>
                  </a:lnTo>
                  <a:lnTo>
                    <a:pt x="66935" y="1543898"/>
                  </a:lnTo>
                  <a:lnTo>
                    <a:pt x="32100" y="1520410"/>
                  </a:lnTo>
                  <a:lnTo>
                    <a:pt x="8613" y="1485576"/>
                  </a:lnTo>
                  <a:lnTo>
                    <a:pt x="0" y="1442923"/>
                  </a:lnTo>
                  <a:lnTo>
                    <a:pt x="0" y="109474"/>
                  </a:lnTo>
                  <a:close/>
                </a:path>
              </a:pathLst>
            </a:custGeom>
            <a:ln w="12700">
              <a:solidFill>
                <a:srgbClr val="F4F8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488815" y="5031422"/>
            <a:ext cx="319151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dirty="0">
                <a:solidFill>
                  <a:srgbClr val="1B4D3D"/>
                </a:solidFill>
                <a:latin typeface="Cambria"/>
                <a:cs typeface="Cambria"/>
              </a:rPr>
              <a:t>Thank</a:t>
            </a:r>
            <a:r>
              <a:rPr sz="4800" b="1" spc="-55" dirty="0">
                <a:solidFill>
                  <a:srgbClr val="1B4D3D"/>
                </a:solidFill>
                <a:latin typeface="Cambria"/>
                <a:cs typeface="Cambria"/>
              </a:rPr>
              <a:t> </a:t>
            </a:r>
            <a:r>
              <a:rPr sz="4800" b="1" spc="-20" dirty="0">
                <a:solidFill>
                  <a:srgbClr val="1B4D3D"/>
                </a:solidFill>
                <a:latin typeface="Cambria"/>
                <a:cs typeface="Cambria"/>
              </a:rPr>
              <a:t>you!</a:t>
            </a:r>
            <a:endParaRPr sz="4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916</Words>
  <Application>Microsoft Office PowerPoint</Application>
  <PresentationFormat>Widescreen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Cambria</vt:lpstr>
      <vt:lpstr>Times New Roman</vt:lpstr>
      <vt:lpstr>Office Theme</vt:lpstr>
      <vt:lpstr>Heatwave Risk Prediction &amp; Climate Intelligence System</vt:lpstr>
      <vt:lpstr>Problem Statement</vt:lpstr>
      <vt:lpstr>Dataset Declaration</vt:lpstr>
      <vt:lpstr>Pipeline Used</vt:lpstr>
      <vt:lpstr>Pipeline Details &amp; Tools</vt:lpstr>
      <vt:lpstr>Risk &amp; Uncertainty Forecaster</vt:lpstr>
      <vt:lpstr>Climate Intelligence (RAG Agent)</vt:lpstr>
      <vt:lpstr>Model Card &amp; Performance Slices</vt:lpstr>
      <vt:lpstr>Conclusion</vt:lpstr>
      <vt:lpstr>[Aata Jaata koch nhi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Areena Mushtaq</cp:lastModifiedBy>
  <cp:revision>1</cp:revision>
  <dcterms:created xsi:type="dcterms:W3CDTF">2026-10-22T05:31:21Z</dcterms:created>
  <dcterms:modified xsi:type="dcterms:W3CDTF">2026-10-22T05:39:04Z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2026-10-21T00:00:00Z</vt:filetime>
  </property>
  <property fmtid="{D5CDD505-2E9C-101B-9397-08002B2CF9AE}" pid="4" name="LastSaved">
    <vt:filetime>2026-10-22T00:00:00Z</vt:filetime>
  </property>
</Properties>
</file>